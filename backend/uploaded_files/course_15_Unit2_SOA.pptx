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slide" Target="slides/slide88.xml"/><Relationship Id="rId91" Type="http://schemas.openxmlformats.org/officeDocument/2006/relationships/slide" Target="slides/slide89.xml"/><Relationship Id="rId92" Type="http://schemas.openxmlformats.org/officeDocument/2006/relationships/slide" Target="slides/slide90.xml"/><Relationship Id="rId93" Type="http://schemas.openxmlformats.org/officeDocument/2006/relationships/slide" Target="slides/slide91.xml"/><Relationship Id="rId94" Type="http://schemas.openxmlformats.org/officeDocument/2006/relationships/slide" Target="slides/slide92.xml"/><Relationship Id="rId95" Type="http://schemas.openxmlformats.org/officeDocument/2006/relationships/slide" Target="slides/slide93.xml"/><Relationship Id="rId96" Type="http://schemas.openxmlformats.org/officeDocument/2006/relationships/slide" Target="slides/slide94.xml"/><Relationship Id="rId97" Type="http://schemas.openxmlformats.org/officeDocument/2006/relationships/slide" Target="slides/slide95.xml"/><Relationship Id="rId98" Type="http://schemas.openxmlformats.org/officeDocument/2006/relationships/tableStyles" Target="tableStyles.xml"/><Relationship Id="rId99" Type="http://schemas.openxmlformats.org/officeDocument/2006/relationships/presProps" Target="presProps.xml"/><Relationship Id="rId100" Type="http://schemas.openxmlformats.org/officeDocument/2006/relationships/viewProps" Target="viewProps.xml"/><Relationship Id="rId101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9057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E7367C1-8BE2-4853-9FE5-812077DDF8AD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1049058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IN"/>
          </a:p>
        </p:txBody>
      </p:sp>
      <p:sp>
        <p:nvSpPr>
          <p:cNvPr id="104905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906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906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DBEFF285-BE8F-40BB-8440-8C028C2CB9DC}" type="slidenum">
              <a:rPr lang="en-IN" smtClean="0"/>
              <a:t>‹#›</a:t>
            </a:fld>
            <a:endParaRPr lang="en-I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905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90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C6F98F1-9985-4961-BB1C-73A7BC7D2F2D}" type="datetime1">
              <a:rPr lang="en-US" smtClean="0"/>
              <a:t>8/19/2026</a:t>
            </a:fld>
            <a:endParaRPr lang="en-US"/>
          </a:p>
        </p:txBody>
      </p:sp>
      <p:sp>
        <p:nvSpPr>
          <p:cNvPr id="10490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90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7C18DB3-3DEA-4E31-A62C-C21FD5A565E0}" type="datetime1">
              <a:rPr lang="en-US" smtClean="0"/>
              <a:t>8/19/2026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F3F7A-AB26-49A0-AAA6-E67DE33A40C8}" type="datetime1">
              <a:rPr lang="en-US" smtClean="0"/>
              <a:t>8/19/2026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Unit 2 SOA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</p:sldLayoutIdLst>
  <p:hf dt="1" ftr="1" hdr="0" sldNum="1"/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/Relationships>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/Relationships>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/Relationships>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/Relationships>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/Relationships>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</Relationships>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/Relationships>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8252"/>
          </a:xfrm>
          <a:ln>
            <a:solidFill>
              <a:schemeClr val="tx1"/>
            </a:solidFill>
          </a:ln>
        </p:spPr>
        <p:txBody>
          <a:bodyPr>
            <a:noAutofit/>
          </a:bodyPr>
          <a:p>
            <a:r>
              <a:rPr b="1" dirty="0" sz="2800" lang="en-US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21CSE457T</a:t>
            </a:r>
            <a:br>
              <a:rPr b="1" dirty="0" sz="2800" lang="en-US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dirty="0" sz="2800" lang="en-US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SERVICE ORIENTED ARCHITECTURE</a:t>
            </a:r>
            <a:endParaRPr b="1" dirty="0" sz="28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>
          <a:xfrm>
            <a:off x="457200" y="1307690"/>
            <a:ext cx="8229600" cy="4818473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algn="ctr" indent="0" marL="0">
              <a:buNone/>
            </a:pPr>
            <a:endParaRPr b="1" dirty="0" lang="en-US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ctr" indent="0" marL="0">
              <a:buNone/>
            </a:pPr>
            <a:r>
              <a:rPr b="1" dirty="0" lang="en-US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UNIT-2</a:t>
            </a:r>
            <a:br>
              <a:rPr b="1" dirty="0" lang="en-US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dirty="0" lang="en-US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Service-Oriented Applications</a:t>
            </a:r>
            <a:br>
              <a:rPr b="1" dirty="0" lang="en-US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dirty="0" sz="2700" lang="en-IN"/>
              <a:t>(SOA-based software applications)</a:t>
            </a:r>
          </a:p>
          <a:p>
            <a:pPr algn="ctr" indent="0" marL="0">
              <a:buNone/>
            </a:pPr>
            <a:endParaRPr b="1" dirty="0" sz="4400" lang="en-IN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algn="ctr" indent="0" marL="0">
              <a:buNone/>
            </a:pPr>
            <a:br>
              <a:rPr b="1" dirty="0" sz="3000" lang="en-US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dirty="0" sz="3000" lang="en-IN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</a:t>
            </a:r>
            <a:br>
              <a:rPr b="1" dirty="0" sz="3000" lang="en-IN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 sz="3000" lang="en-IN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altLang="en-GB" b="1" dirty="0" sz="3000" lang="en-US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altLang="en-GB" b="1" dirty="0" sz="3000" lang="en-US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altLang="en-GB" b="1" dirty="0" sz="3000" lang="en-US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altLang="en-GB" b="1" dirty="0" sz="3000" lang="en-US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altLang="en-GB" b="1" dirty="0" sz="3000" lang="en-US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altLang="en-GB" b="1" dirty="0" sz="3000" lang="en-US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altLang="en-GB" b="1" dirty="0" sz="3000" lang="en-US" err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Balasubramanian </a:t>
            </a:r>
            <a:endParaRPr dirty="0" sz="3000" lang="en-IN"/>
          </a:p>
        </p:txBody>
      </p:sp>
      <p:sp>
        <p:nvSpPr>
          <p:cNvPr id="104858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94B920D-A42C-4F2A-99FF-9D1A19CE5A2E}" type="datetime1">
              <a:rPr lang="en-US" smtClean="0"/>
              <a:t>9/1/2026</a:t>
            </a:fld>
            <a:endParaRPr lang="en-US"/>
          </a:p>
        </p:txBody>
      </p:sp>
      <p:sp>
        <p:nvSpPr>
          <p:cNvPr id="104858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5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825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i="1" lang="en-US"/>
              <a:t>Service-Oriented Model Considerations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>
          <a:xfrm>
            <a:off x="457200" y="1307690"/>
            <a:ext cx="8229600" cy="4818473"/>
          </a:xfrm>
          <a:ln>
            <a:solidFill>
              <a:schemeClr val="tx1"/>
            </a:solidFill>
          </a:ln>
        </p:spPr>
        <p:txBody>
          <a:bodyPr>
            <a:normAutofit fontScale="90625" lnSpcReduction="10000"/>
          </a:bodyPr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Key factors for designing service-oriented applications</a:t>
            </a:r>
            <a:endParaRPr dirty="0" lang="en-IN">
              <a:solidFill>
                <a:srgbClr val="FF0000"/>
              </a:solidFill>
            </a:endParaRPr>
          </a:p>
          <a:p>
            <a:pPr lvl="0"/>
            <a:r>
              <a:rPr dirty="0" lang="en-IN"/>
              <a:t>Identify the services exposed and consumed </a:t>
            </a:r>
          </a:p>
          <a:p>
            <a:pPr lvl="0"/>
            <a:r>
              <a:rPr dirty="0" lang="en-IN"/>
              <a:t>Determine appropriate service granularity </a:t>
            </a:r>
          </a:p>
          <a:p>
            <a:pPr lvl="0"/>
            <a:r>
              <a:rPr dirty="0" lang="en-IN"/>
              <a:t>Select suitable service integration patterns </a:t>
            </a:r>
          </a:p>
          <a:p>
            <a:pPr lvl="0"/>
            <a:r>
              <a:rPr dirty="0" lang="en-IN"/>
              <a:t>Align with business process models </a:t>
            </a:r>
          </a:p>
          <a:p>
            <a:pPr lvl="0"/>
            <a:r>
              <a:rPr dirty="0" lang="en-IN"/>
              <a:t>Align application data with enterprise data models </a:t>
            </a:r>
          </a:p>
          <a:p>
            <a:pPr lvl="0"/>
            <a:r>
              <a:rPr dirty="0" lang="en-IN"/>
              <a:t>Apply security and governance mechanisms</a:t>
            </a:r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94B920D-A42C-4F2A-99FF-9D1A19CE5A2E}" type="datetime1">
              <a:rPr lang="en-US" smtClean="0"/>
              <a:t>9/1/2026</a:t>
            </a:fld>
            <a:endParaRPr lang="en-US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414"/>
          </a:xfrm>
          <a:ln>
            <a:solidFill>
              <a:schemeClr val="tx1"/>
            </a:solidFill>
          </a:ln>
        </p:spPr>
        <p:txBody>
          <a:bodyPr>
            <a:normAutofit fontScale="97059"/>
          </a:bodyPr>
          <a:p>
            <a:r>
              <a:rPr dirty="0" sz="3400" i="1" lang="en-US"/>
              <a:t>Service-Oriented Model Considerations</a:t>
            </a:r>
            <a:endParaRPr b="1" dirty="0" sz="34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>
          <a:xfrm>
            <a:off x="457200" y="1288026"/>
            <a:ext cx="8229600" cy="4838137"/>
          </a:xfrm>
          <a:ln>
            <a:solidFill>
              <a:schemeClr val="tx1"/>
            </a:solidFill>
          </a:ln>
        </p:spPr>
        <p:txBody>
          <a:bodyPr>
            <a:normAutofit fontScale="62857" lnSpcReduction="20000"/>
          </a:bodyPr>
          <a:p>
            <a:pPr indent="0" marL="0">
              <a:buNone/>
            </a:pPr>
            <a:r>
              <a:rPr b="1" dirty="0" lang="en-IN"/>
              <a:t>1. Services Exposed or Consumed</a:t>
            </a:r>
          </a:p>
          <a:p>
            <a:pPr indent="0" marL="0">
              <a:buNone/>
            </a:pPr>
            <a:r>
              <a:rPr b="1" dirty="0" lang="en-IN"/>
              <a:t>Identify the services involved in the application</a:t>
            </a:r>
            <a:endParaRPr dirty="0" lang="en-IN"/>
          </a:p>
          <a:p>
            <a:pPr lvl="0"/>
            <a:r>
              <a:rPr dirty="0" lang="en-IN"/>
              <a:t>Determine what functionality the application </a:t>
            </a:r>
            <a:r>
              <a:rPr b="1" dirty="0" lang="en-IN"/>
              <a:t>exposes as services</a:t>
            </a:r>
            <a:r>
              <a:rPr dirty="0" lang="en-IN"/>
              <a:t> </a:t>
            </a:r>
          </a:p>
          <a:p>
            <a:pPr lvl="0"/>
            <a:r>
              <a:rPr dirty="0" lang="en-IN"/>
              <a:t>Identify services that the application </a:t>
            </a:r>
            <a:r>
              <a:rPr b="1" dirty="0" lang="en-IN"/>
              <a:t>consumes from other systems</a:t>
            </a:r>
            <a:r>
              <a:rPr dirty="0" lang="en-IN"/>
              <a:t> </a:t>
            </a:r>
          </a:p>
          <a:p>
            <a:pPr lvl="0"/>
            <a:r>
              <a:rPr dirty="0" lang="en-IN"/>
              <a:t>Common service types: </a:t>
            </a:r>
          </a:p>
          <a:p>
            <a:pPr lvl="1"/>
            <a:r>
              <a:rPr b="1" dirty="0" lang="en-IN"/>
              <a:t>Activity Services</a:t>
            </a:r>
            <a:r>
              <a:rPr dirty="0" lang="en-IN"/>
              <a:t> – perform specific business activities </a:t>
            </a:r>
          </a:p>
          <a:p>
            <a:pPr lvl="1"/>
            <a:r>
              <a:rPr b="1" dirty="0" lang="en-IN"/>
              <a:t>Business Services</a:t>
            </a:r>
            <a:r>
              <a:rPr dirty="0" lang="en-IN"/>
              <a:t> – represent reusable business capabilities </a:t>
            </a:r>
          </a:p>
          <a:p>
            <a:pPr lvl="1"/>
            <a:r>
              <a:rPr b="1" dirty="0" lang="en-IN"/>
              <a:t>Business Process Services</a:t>
            </a:r>
            <a:r>
              <a:rPr dirty="0" lang="en-IN"/>
              <a:t> – support end-to-end processes </a:t>
            </a:r>
          </a:p>
          <a:p>
            <a:pPr lvl="1"/>
            <a:r>
              <a:rPr b="1" dirty="0" lang="en-IN"/>
              <a:t>Client Services</a:t>
            </a:r>
            <a:r>
              <a:rPr dirty="0" lang="en-IN"/>
              <a:t> – support interaction with users or client applications </a:t>
            </a:r>
          </a:p>
          <a:p>
            <a:pPr lvl="1"/>
            <a:r>
              <a:rPr b="1" dirty="0" lang="en-IN"/>
              <a:t>Data Services</a:t>
            </a:r>
            <a:r>
              <a:rPr dirty="0" lang="en-IN"/>
              <a:t> – provide controlled access to enterprise data </a:t>
            </a:r>
          </a:p>
          <a:p>
            <a:pPr indent="0" marL="0">
              <a:buNone/>
            </a:pPr>
            <a:r>
              <a:rPr b="1" dirty="0" lang="en-IN"/>
              <a:t>Example:</a:t>
            </a:r>
          </a:p>
          <a:p>
            <a:pPr indent="0" marL="0">
              <a:buNone/>
            </a:pPr>
            <a:br>
              <a:rPr dirty="0" lang="en-IN"/>
            </a:br>
            <a:r>
              <a:rPr dirty="0" lang="en-IN"/>
              <a:t>An e-commerce application may expose </a:t>
            </a:r>
            <a:r>
              <a:rPr b="1" dirty="0" lang="en-IN"/>
              <a:t>Order Service</a:t>
            </a:r>
            <a:r>
              <a:rPr dirty="0" lang="en-IN"/>
              <a:t> and consume </a:t>
            </a:r>
            <a:r>
              <a:rPr b="1" dirty="0" lang="en-IN"/>
              <a:t>Payment Service</a:t>
            </a:r>
            <a:r>
              <a:rPr dirty="0" lang="en-IN"/>
              <a:t> and </a:t>
            </a:r>
            <a:r>
              <a:rPr b="1" dirty="0" lang="en-IN"/>
              <a:t>Inventory Service</a:t>
            </a:r>
            <a:r>
              <a:rPr dirty="0" lang="en-IN"/>
              <a:t>.</a:t>
            </a:r>
          </a:p>
        </p:txBody>
      </p:sp>
      <p:sp>
        <p:nvSpPr>
          <p:cNvPr id="104859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94B920D-A42C-4F2A-99FF-9D1A19CE5A2E}" type="datetime1">
              <a:rPr lang="en-US" smtClean="0"/>
              <a:t>9/1/2026</a:t>
            </a:fld>
            <a:endParaRPr lang="en-US"/>
          </a:p>
        </p:txBody>
      </p:sp>
      <p:sp>
        <p:nvSpPr>
          <p:cNvPr id="104859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00433"/>
          </a:xfrm>
          <a:ln>
            <a:solidFill>
              <a:schemeClr val="tx1"/>
            </a:solidFill>
          </a:ln>
        </p:spPr>
        <p:txBody>
          <a:bodyPr>
            <a:normAutofit fontScale="92941"/>
          </a:bodyPr>
          <a:p>
            <a:r>
              <a:rPr dirty="0" sz="3400" i="1" lang="en-US"/>
              <a:t>Service-Oriented Model Considerations</a:t>
            </a:r>
            <a:endParaRPr b="1" dirty="0" sz="34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2" name="Content Placeholder 2"/>
          <p:cNvSpPr>
            <a:spLocks noGrp="1"/>
          </p:cNvSpPr>
          <p:nvPr>
            <p:ph idx="1"/>
          </p:nvPr>
        </p:nvSpPr>
        <p:spPr>
          <a:xfrm>
            <a:off x="457200" y="1130710"/>
            <a:ext cx="8229600" cy="5061821"/>
          </a:xfrm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p>
            <a:pPr indent="0" marL="0">
              <a:buNone/>
            </a:pPr>
            <a:r>
              <a:rPr b="1" dirty="0" lang="en-IN"/>
              <a:t>2. Granularity of Services Exposed</a:t>
            </a:r>
          </a:p>
          <a:p>
            <a:pPr indent="0" marL="0">
              <a:buNone/>
            </a:pPr>
            <a:r>
              <a:rPr b="1" dirty="0" lang="en-IN"/>
              <a:t>Choosing the right service size</a:t>
            </a:r>
            <a:endParaRPr dirty="0" lang="en-IN"/>
          </a:p>
          <a:p>
            <a:pPr lvl="0"/>
            <a:r>
              <a:rPr dirty="0" lang="en-IN"/>
              <a:t>Service granularity refers to the </a:t>
            </a:r>
            <a:r>
              <a:rPr b="1" dirty="0" lang="en-IN"/>
              <a:t>scope and size of functionality</a:t>
            </a:r>
            <a:r>
              <a:rPr dirty="0" lang="en-IN"/>
              <a:t> provided by a service. </a:t>
            </a:r>
          </a:p>
          <a:p>
            <a:pPr lvl="0"/>
            <a:r>
              <a:rPr dirty="0" lang="en-IN"/>
              <a:t>Services should have an appropriate level of granularity for: </a:t>
            </a:r>
          </a:p>
          <a:p>
            <a:pPr lvl="1"/>
            <a:r>
              <a:rPr dirty="0" lang="en-IN"/>
              <a:t>Reusability , Integration ,</a:t>
            </a:r>
            <a:r>
              <a:rPr dirty="0" lang="en-IN" err="1"/>
              <a:t>Performance,Maintainability</a:t>
            </a:r>
            <a:r>
              <a:rPr dirty="0" lang="en-IN"/>
              <a:t>, Service orchestration </a:t>
            </a:r>
          </a:p>
          <a:p>
            <a:pPr indent="0" marL="0">
              <a:buNone/>
            </a:pPr>
            <a:r>
              <a:rPr b="1" dirty="0" lang="en-IN"/>
              <a:t>Too Fine-Grained</a:t>
            </a:r>
            <a:endParaRPr dirty="0" lang="en-IN"/>
          </a:p>
          <a:p>
            <a:pPr lvl="0"/>
            <a:r>
              <a:rPr dirty="0" lang="en-IN"/>
              <a:t>More network calls </a:t>
            </a:r>
          </a:p>
          <a:p>
            <a:pPr lvl="0"/>
            <a:r>
              <a:rPr dirty="0" lang="en-IN"/>
              <a:t>Higher communication overhead </a:t>
            </a:r>
          </a:p>
          <a:p>
            <a:pPr lvl="0"/>
            <a:r>
              <a:rPr dirty="0" lang="en-IN"/>
              <a:t>Difficult orchestration </a:t>
            </a:r>
          </a:p>
          <a:p>
            <a:pPr indent="0" marL="0">
              <a:buNone/>
            </a:pPr>
            <a:r>
              <a:rPr b="1" dirty="0" lang="en-IN"/>
              <a:t>Too Coarse-Grained</a:t>
            </a:r>
            <a:endParaRPr dirty="0" lang="en-IN"/>
          </a:p>
          <a:p>
            <a:pPr lvl="0"/>
            <a:r>
              <a:rPr dirty="0" lang="en-IN"/>
              <a:t>Less reusable </a:t>
            </a:r>
          </a:p>
          <a:p>
            <a:pPr lvl="0"/>
            <a:r>
              <a:rPr dirty="0" lang="en-IN"/>
              <a:t>Difficult to modify </a:t>
            </a:r>
          </a:p>
          <a:p>
            <a:pPr lvl="0"/>
            <a:r>
              <a:rPr dirty="0" lang="en-IN"/>
              <a:t>May contain excessive functionality</a:t>
            </a:r>
          </a:p>
        </p:txBody>
      </p:sp>
      <p:sp>
        <p:nvSpPr>
          <p:cNvPr id="104860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94B920D-A42C-4F2A-99FF-9D1A19CE5A2E}" type="datetime1">
              <a:rPr lang="en-US" smtClean="0"/>
              <a:t>9/1/2026</a:t>
            </a:fld>
            <a:endParaRPr lang="en-US"/>
          </a:p>
        </p:txBody>
      </p:sp>
      <p:sp>
        <p:nvSpPr>
          <p:cNvPr id="104860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0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90601"/>
          </a:xfrm>
          <a:ln>
            <a:solidFill>
              <a:schemeClr val="tx1"/>
            </a:solidFill>
          </a:ln>
        </p:spPr>
        <p:txBody>
          <a:bodyPr>
            <a:normAutofit fontScale="92941"/>
          </a:bodyPr>
          <a:p>
            <a:r>
              <a:rPr dirty="0" sz="3400" i="1" lang="en-US"/>
              <a:t>Service-Oriented Model Considerations</a:t>
            </a:r>
            <a:endParaRPr b="1" dirty="0" sz="34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7" name="Content Placeholder 2"/>
          <p:cNvSpPr>
            <a:spLocks noGrp="1"/>
          </p:cNvSpPr>
          <p:nvPr>
            <p:ph idx="1"/>
          </p:nvPr>
        </p:nvSpPr>
        <p:spPr>
          <a:xfrm>
            <a:off x="457200" y="1022556"/>
            <a:ext cx="8229600" cy="5103608"/>
          </a:xfrm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p>
            <a:pPr indent="0" marL="0">
              <a:buNone/>
            </a:pPr>
            <a:r>
              <a:rPr b="1" dirty="0" lang="en-IN"/>
              <a:t>3. Integration Model for Services</a:t>
            </a:r>
          </a:p>
          <a:p>
            <a:pPr indent="0" marL="0">
              <a:buNone/>
            </a:pPr>
            <a:r>
              <a:rPr b="1" dirty="0" lang="en-IN"/>
              <a:t>How services communicate and integrate</a:t>
            </a:r>
            <a:endParaRPr dirty="0" lang="en-IN"/>
          </a:p>
          <a:p>
            <a:r>
              <a:rPr dirty="0" lang="en-IN"/>
              <a:t>Important integration patterns include:</a:t>
            </a:r>
          </a:p>
          <a:p>
            <a:pPr indent="0" lvl="0" marL="0">
              <a:buNone/>
            </a:pPr>
            <a:r>
              <a:rPr b="1" dirty="0" lang="en-IN"/>
              <a:t>Enterprise Service Bus (ESB)</a:t>
            </a:r>
            <a:r>
              <a:rPr dirty="0" lang="en-IN"/>
              <a:t> </a:t>
            </a:r>
          </a:p>
          <a:p>
            <a:pPr lvl="1"/>
            <a:r>
              <a:rPr dirty="0" lang="en-IN"/>
              <a:t>Centralized integration infrastructure </a:t>
            </a:r>
          </a:p>
          <a:p>
            <a:pPr lvl="1"/>
            <a:r>
              <a:rPr dirty="0" lang="en-IN"/>
              <a:t>Routing, transformation, mediation and protocol conversion </a:t>
            </a:r>
          </a:p>
          <a:p>
            <a:pPr indent="0" lvl="0" marL="0">
              <a:buNone/>
            </a:pPr>
            <a:r>
              <a:rPr b="1" dirty="0" lang="en-IN"/>
              <a:t>API Gateway</a:t>
            </a:r>
            <a:r>
              <a:rPr dirty="0" lang="en-IN"/>
              <a:t> </a:t>
            </a:r>
          </a:p>
          <a:p>
            <a:pPr lvl="1"/>
            <a:r>
              <a:rPr dirty="0" lang="en-IN"/>
              <a:t>Single entry point for APIs </a:t>
            </a:r>
          </a:p>
          <a:p>
            <a:pPr lvl="1"/>
            <a:r>
              <a:rPr dirty="0" lang="en-IN"/>
              <a:t>Authentication, routing, throttling and monitoring </a:t>
            </a:r>
          </a:p>
          <a:p>
            <a:pPr indent="0" lvl="0" marL="0">
              <a:buNone/>
            </a:pPr>
            <a:r>
              <a:rPr b="1" dirty="0" lang="en-IN"/>
              <a:t>Message Broker</a:t>
            </a:r>
            <a:r>
              <a:rPr dirty="0" lang="en-IN"/>
              <a:t> </a:t>
            </a:r>
          </a:p>
          <a:p>
            <a:pPr lvl="1"/>
            <a:r>
              <a:rPr dirty="0" lang="en-IN"/>
              <a:t>Enables asynchronous communication </a:t>
            </a:r>
          </a:p>
          <a:p>
            <a:pPr indent="0" lvl="0" marL="0">
              <a:buNone/>
            </a:pPr>
            <a:r>
              <a:rPr b="1" dirty="0" lang="en-IN"/>
              <a:t>Direct Service Integration</a:t>
            </a:r>
            <a:r>
              <a:rPr dirty="0" lang="en-IN"/>
              <a:t> </a:t>
            </a:r>
          </a:p>
          <a:p>
            <a:pPr lvl="1"/>
            <a:r>
              <a:rPr dirty="0" lang="en-IN"/>
              <a:t>Services communicate directly using APIs/protocols</a:t>
            </a:r>
          </a:p>
        </p:txBody>
      </p:sp>
      <p:sp>
        <p:nvSpPr>
          <p:cNvPr id="10486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94B920D-A42C-4F2A-99FF-9D1A19CE5A2E}" type="datetime1">
              <a:rPr lang="en-US" smtClean="0"/>
              <a:t>9/1/2026</a:t>
            </a:fld>
            <a:endParaRPr lang="en-US"/>
          </a:p>
        </p:txBody>
      </p:sp>
      <p:sp>
        <p:nvSpPr>
          <p:cNvPr id="10486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sz="3400" i="1" lang="en-US"/>
              <a:t>Service-Oriented Model Considerations</a:t>
            </a:r>
            <a:endParaRPr b="1" dirty="0" sz="34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2" name="Content Placeholder 2"/>
          <p:cNvSpPr>
            <a:spLocks noGrp="1"/>
          </p:cNvSpPr>
          <p:nvPr>
            <p:ph idx="1"/>
          </p:nvPr>
        </p:nvSpPr>
        <p:spPr>
          <a:xfrm>
            <a:off x="457200" y="884904"/>
            <a:ext cx="8229600" cy="5241260"/>
          </a:xfrm>
          <a:ln>
            <a:solidFill>
              <a:schemeClr val="tx1"/>
            </a:solidFill>
          </a:ln>
        </p:spPr>
        <p:txBody>
          <a:bodyPr>
            <a:normAutofit fontScale="78750" lnSpcReduction="20000"/>
          </a:bodyPr>
          <a:p>
            <a:pPr indent="0" marL="0">
              <a:buNone/>
            </a:pPr>
            <a:r>
              <a:rPr b="1" dirty="0" lang="en-IN"/>
              <a:t>4. Business Process Model</a:t>
            </a:r>
          </a:p>
          <a:p>
            <a:pPr indent="0" marL="0">
              <a:buNone/>
            </a:pPr>
            <a:r>
              <a:rPr b="1" dirty="0" lang="en-IN"/>
              <a:t>Align services with business processes</a:t>
            </a:r>
            <a:endParaRPr dirty="0" lang="en-IN"/>
          </a:p>
          <a:p>
            <a:pPr lvl="0"/>
            <a:r>
              <a:rPr dirty="0" lang="en-IN"/>
              <a:t>Understand the organization's </a:t>
            </a:r>
            <a:r>
              <a:rPr b="1" dirty="0" lang="en-IN"/>
              <a:t>business processes</a:t>
            </a:r>
            <a:r>
              <a:rPr dirty="0" lang="en-IN"/>
              <a:t> </a:t>
            </a:r>
          </a:p>
          <a:p>
            <a:pPr lvl="0"/>
            <a:r>
              <a:rPr dirty="0" lang="en-IN"/>
              <a:t>Identify activities and tasks within each process </a:t>
            </a:r>
          </a:p>
          <a:p>
            <a:pPr lvl="0"/>
            <a:r>
              <a:rPr dirty="0" lang="en-IN"/>
              <a:t>Map services to business process activities </a:t>
            </a:r>
          </a:p>
          <a:p>
            <a:pPr lvl="0"/>
            <a:r>
              <a:rPr dirty="0" lang="en-IN"/>
              <a:t>Support </a:t>
            </a:r>
            <a:r>
              <a:rPr b="1" dirty="0" lang="en-IN"/>
              <a:t>service orchestration</a:t>
            </a:r>
            <a:r>
              <a:rPr dirty="0" lang="en-IN"/>
              <a:t> across multiple services </a:t>
            </a:r>
          </a:p>
          <a:p>
            <a:pPr lvl="0"/>
            <a:r>
              <a:rPr dirty="0" lang="en-IN"/>
              <a:t>Ensure services contribute to business objectives </a:t>
            </a:r>
          </a:p>
          <a:p>
            <a:pPr indent="0" marL="0">
              <a:buNone/>
            </a:pPr>
            <a:r>
              <a:rPr b="1" dirty="0" lang="en-IN"/>
              <a:t>Example: Online Order Process</a:t>
            </a:r>
            <a:endParaRPr dirty="0" lang="en-IN"/>
          </a:p>
          <a:p>
            <a:r>
              <a:rPr dirty="0" lang="en-IN"/>
              <a:t>Place Order → Validate Customer → Check Inventory → Process Payment → Ship Order</a:t>
            </a:r>
          </a:p>
          <a:p>
            <a:r>
              <a:rPr dirty="0" lang="en-IN"/>
              <a:t>Each activity may be supported by one or more reusable services.</a:t>
            </a:r>
          </a:p>
        </p:txBody>
      </p:sp>
      <p:sp>
        <p:nvSpPr>
          <p:cNvPr id="10486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94B920D-A42C-4F2A-99FF-9D1A19CE5A2E}" type="datetime1">
              <a:rPr lang="en-US" smtClean="0"/>
              <a:t>9/1/2026</a:t>
            </a:fld>
            <a:endParaRPr lang="en-US"/>
          </a:p>
        </p:txBody>
      </p:sp>
      <p:sp>
        <p:nvSpPr>
          <p:cNvPr id="10486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9930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sz="3400" i="1" lang="en-US"/>
              <a:t>Service-Oriented Model Considerations</a:t>
            </a:r>
            <a:endParaRPr b="1" dirty="0" sz="34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7" name="Content Placeholder 2"/>
          <p:cNvSpPr>
            <a:spLocks noGrp="1"/>
          </p:cNvSpPr>
          <p:nvPr>
            <p:ph idx="1"/>
          </p:nvPr>
        </p:nvSpPr>
        <p:spPr>
          <a:xfrm>
            <a:off x="457200" y="904568"/>
            <a:ext cx="8229600" cy="5221595"/>
          </a:xfrm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p>
            <a:pPr indent="0" marL="0">
              <a:buNone/>
            </a:pPr>
            <a:r>
              <a:rPr b="1" dirty="0" lang="en-IN"/>
              <a:t>5. Enterprise Data Model</a:t>
            </a:r>
          </a:p>
          <a:p>
            <a:pPr indent="0" marL="0">
              <a:buNone/>
            </a:pPr>
            <a:r>
              <a:rPr b="1" dirty="0" lang="en-IN"/>
              <a:t>Align application data with enterprise-wide data definitions</a:t>
            </a:r>
            <a:endParaRPr dirty="0" lang="en-IN"/>
          </a:p>
          <a:p>
            <a:pPr lvl="0"/>
            <a:r>
              <a:rPr dirty="0" lang="en-IN"/>
              <a:t>Applications should follow established </a:t>
            </a:r>
            <a:r>
              <a:rPr b="1" dirty="0" lang="en-IN"/>
              <a:t>enterprise data models</a:t>
            </a:r>
            <a:r>
              <a:rPr dirty="0" lang="en-IN"/>
              <a:t> </a:t>
            </a:r>
          </a:p>
          <a:p>
            <a:pPr lvl="0"/>
            <a:r>
              <a:rPr dirty="0" lang="en-IN"/>
              <a:t>Ensure consistent: </a:t>
            </a:r>
          </a:p>
          <a:p>
            <a:pPr lvl="1"/>
            <a:r>
              <a:rPr dirty="0" lang="en-IN"/>
              <a:t>Data definitions , Data formats , Naming conventions , Relationships, Identifiers </a:t>
            </a:r>
          </a:p>
          <a:p>
            <a:pPr lvl="0"/>
            <a:r>
              <a:rPr dirty="0" lang="en-IN"/>
              <a:t>Avoid duplicate and conflicting data definitions </a:t>
            </a:r>
          </a:p>
          <a:p>
            <a:pPr lvl="0"/>
            <a:r>
              <a:rPr dirty="0" lang="en-IN"/>
              <a:t>Support data interoperability between services </a:t>
            </a:r>
          </a:p>
          <a:p>
            <a:pPr indent="0" marL="0">
              <a:buNone/>
            </a:pPr>
            <a:endParaRPr b="1" dirty="0" lang="en-IN"/>
          </a:p>
          <a:p>
            <a:pPr indent="0" marL="0">
              <a:buNone/>
            </a:pPr>
            <a:r>
              <a:rPr b="1" dirty="0" lang="en-IN"/>
              <a:t>Example:</a:t>
            </a:r>
            <a:endParaRPr dirty="0" lang="en-IN"/>
          </a:p>
          <a:p>
            <a:r>
              <a:rPr dirty="0" lang="en-IN"/>
              <a:t>Customer Service → Customer ID, Name, Address</a:t>
            </a:r>
            <a:br>
              <a:rPr dirty="0" lang="en-IN"/>
            </a:br>
            <a:r>
              <a:rPr dirty="0" lang="en-IN"/>
              <a:t>Order Service → Customer ID, Order ID, Order Date</a:t>
            </a:r>
          </a:p>
          <a:p>
            <a:r>
              <a:rPr dirty="0" lang="en-IN"/>
              <a:t>Both services should use a </a:t>
            </a:r>
            <a:r>
              <a:rPr b="1" dirty="0" lang="en-IN"/>
              <a:t>consistent definition of Customer ID</a:t>
            </a:r>
            <a:r>
              <a:rPr dirty="0" lang="en-IN"/>
              <a:t>.</a:t>
            </a:r>
          </a:p>
          <a:p>
            <a:pPr indent="0" marL="0">
              <a:buNone/>
            </a:pPr>
            <a:endParaRPr b="1" dirty="0" lang="en-IN"/>
          </a:p>
          <a:p>
            <a:pPr indent="0" marL="0">
              <a:buNone/>
            </a:pPr>
            <a:r>
              <a:rPr b="1" dirty="0" lang="en-IN"/>
              <a:t>Benefit:</a:t>
            </a:r>
            <a:r>
              <a:rPr dirty="0" lang="en-IN"/>
              <a:t> Improved </a:t>
            </a:r>
            <a:r>
              <a:rPr b="1" dirty="0" lang="en-IN"/>
              <a:t>data consistency, integration and reuse</a:t>
            </a:r>
            <a:r>
              <a:rPr dirty="0" lang="en-IN"/>
              <a:t>.</a:t>
            </a:r>
          </a:p>
        </p:txBody>
      </p:sp>
      <p:sp>
        <p:nvSpPr>
          <p:cNvPr id="104861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94B920D-A42C-4F2A-99FF-9D1A19CE5A2E}" type="datetime1">
              <a:rPr lang="en-US" smtClean="0"/>
              <a:t>9/1/2026</a:t>
            </a:fld>
            <a:endParaRPr lang="en-US"/>
          </a:p>
        </p:txBody>
      </p:sp>
      <p:sp>
        <p:nvSpPr>
          <p:cNvPr id="104861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2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Title 1"/>
          <p:cNvSpPr>
            <a:spLocks noGrp="1"/>
          </p:cNvSpPr>
          <p:nvPr>
            <p:ph type="title"/>
          </p:nvPr>
        </p:nvSpPr>
        <p:spPr>
          <a:xfrm>
            <a:off x="570271" y="274638"/>
            <a:ext cx="8116529" cy="669259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sz="3400" i="1" lang="en-US"/>
              <a:t>Service-Oriented Model Considerations</a:t>
            </a:r>
            <a:endParaRPr b="1" dirty="0" sz="34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2" name="Content Placeholder 2"/>
          <p:cNvSpPr>
            <a:spLocks noGrp="1"/>
          </p:cNvSpPr>
          <p:nvPr>
            <p:ph idx="1"/>
          </p:nvPr>
        </p:nvSpPr>
        <p:spPr>
          <a:xfrm>
            <a:off x="457200" y="1238866"/>
            <a:ext cx="8229600" cy="4887298"/>
          </a:xfrm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p>
            <a:pPr indent="0" marL="0">
              <a:buNone/>
            </a:pPr>
            <a:r>
              <a:rPr b="1" dirty="0" lang="en-IN"/>
              <a:t>6. Governance</a:t>
            </a:r>
          </a:p>
          <a:p>
            <a:pPr indent="0" marL="0">
              <a:buNone/>
            </a:pPr>
            <a:r>
              <a:rPr b="1" dirty="0" lang="en-IN"/>
              <a:t>Controlling and managing services throughout their lifecycle</a:t>
            </a:r>
            <a:endParaRPr dirty="0" lang="en-IN"/>
          </a:p>
          <a:p>
            <a:r>
              <a:rPr dirty="0" lang="en-IN"/>
              <a:t>Governance addresses:</a:t>
            </a:r>
          </a:p>
          <a:p>
            <a:pPr indent="0" marL="0">
              <a:buNone/>
            </a:pPr>
            <a:r>
              <a:rPr b="1" dirty="0" lang="en-IN"/>
              <a:t>Security</a:t>
            </a:r>
            <a:endParaRPr dirty="0" lang="en-IN"/>
          </a:p>
          <a:p>
            <a:pPr lvl="0"/>
            <a:r>
              <a:rPr dirty="0" lang="en-IN"/>
              <a:t>Authentication, Authorization , Identity management , Access control </a:t>
            </a:r>
          </a:p>
          <a:p>
            <a:pPr indent="0" marL="0">
              <a:buNone/>
            </a:pPr>
            <a:r>
              <a:rPr b="1" dirty="0" lang="en-IN"/>
              <a:t>Design-Time Governance</a:t>
            </a:r>
            <a:endParaRPr dirty="0" lang="en-IN"/>
          </a:p>
          <a:p>
            <a:pPr lvl="0"/>
            <a:r>
              <a:rPr dirty="0" lang="en-IN"/>
              <a:t>Service standards , Service contracts </a:t>
            </a:r>
          </a:p>
          <a:p>
            <a:pPr lvl="0"/>
            <a:r>
              <a:rPr dirty="0" lang="en-IN"/>
              <a:t>Versioning , Service registry/repository </a:t>
            </a:r>
          </a:p>
          <a:p>
            <a:pPr lvl="0"/>
            <a:r>
              <a:rPr dirty="0" lang="en-IN"/>
              <a:t>Design and approval policies </a:t>
            </a:r>
          </a:p>
          <a:p>
            <a:pPr indent="0" marL="0">
              <a:buNone/>
            </a:pPr>
            <a:r>
              <a:rPr b="1" dirty="0" lang="en-IN"/>
              <a:t>Run-Time Governance</a:t>
            </a:r>
            <a:endParaRPr dirty="0" lang="en-IN"/>
          </a:p>
          <a:p>
            <a:pPr lvl="0"/>
            <a:r>
              <a:rPr dirty="0" lang="en-IN"/>
              <a:t>Monitoring , Policy enforcement ,</a:t>
            </a:r>
          </a:p>
          <a:p>
            <a:pPr lvl="0"/>
            <a:r>
              <a:rPr dirty="0" lang="en-IN"/>
              <a:t>SLA management , Performance tracking , </a:t>
            </a:r>
          </a:p>
          <a:p>
            <a:pPr lvl="0"/>
            <a:r>
              <a:rPr dirty="0" lang="en-IN"/>
              <a:t>Fault management</a:t>
            </a:r>
          </a:p>
        </p:txBody>
      </p:sp>
      <p:sp>
        <p:nvSpPr>
          <p:cNvPr id="104862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94B920D-A42C-4F2A-99FF-9D1A19CE5A2E}" type="datetime1">
              <a:rPr lang="en-US" smtClean="0"/>
              <a:t>9/1/2026</a:t>
            </a:fld>
            <a:endParaRPr lang="en-US"/>
          </a:p>
        </p:txBody>
      </p:sp>
      <p:sp>
        <p:nvSpPr>
          <p:cNvPr id="104862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2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1104"/>
          </a:xfrm>
          <a:ln>
            <a:solidFill>
              <a:schemeClr val="tx1"/>
            </a:solidFill>
          </a:ln>
        </p:spPr>
        <p:txBody>
          <a:bodyPr>
            <a:noAutofit/>
          </a:bodyPr>
          <a:p>
            <a:r>
              <a:rPr dirty="0" sz="3400" i="1" lang="en-US"/>
              <a:t>Service-Oriented Model Considerations</a:t>
            </a:r>
            <a:endParaRPr b="1" dirty="0" sz="34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7" name="Content Placeholder 2"/>
          <p:cNvSpPr>
            <a:spLocks noGrp="1"/>
          </p:cNvSpPr>
          <p:nvPr>
            <p:ph idx="1"/>
          </p:nvPr>
        </p:nvSpPr>
        <p:spPr>
          <a:xfrm>
            <a:off x="457200" y="1130710"/>
            <a:ext cx="8229600" cy="4995453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indent="0" marL="0">
              <a:buNone/>
            </a:pPr>
            <a:r>
              <a:rPr dirty="0" lang="en-IN"/>
              <a:t>These 6 considerations grouped under four categories: </a:t>
            </a:r>
          </a:p>
          <a:p>
            <a:pPr indent="-514350" marL="514350">
              <a:buAutoNum type="arabicPeriod"/>
            </a:pPr>
            <a:r>
              <a:rPr dirty="0" lang="en-IN"/>
              <a:t>service enablement; </a:t>
            </a:r>
          </a:p>
          <a:p>
            <a:pPr indent="-514350" marL="514350">
              <a:buAutoNum type="arabicPeriod"/>
            </a:pPr>
            <a:r>
              <a:rPr dirty="0" lang="en-IN"/>
              <a:t>service integration; </a:t>
            </a:r>
          </a:p>
          <a:p>
            <a:pPr indent="-514350" marL="514350">
              <a:buAutoNum type="arabicPeriod"/>
            </a:pPr>
            <a:r>
              <a:rPr dirty="0" lang="en-IN"/>
              <a:t>service orchestration &amp; choreography; </a:t>
            </a:r>
          </a:p>
          <a:p>
            <a:pPr indent="-514350" marL="514350">
              <a:buAutoNum type="arabicPeriod"/>
            </a:pPr>
            <a:r>
              <a:rPr dirty="0" lang="en-IN"/>
              <a:t>service governance.</a:t>
            </a:r>
          </a:p>
        </p:txBody>
      </p:sp>
      <p:sp>
        <p:nvSpPr>
          <p:cNvPr id="10486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94B920D-A42C-4F2A-99FF-9D1A19CE5A2E}" type="datetime1">
              <a:rPr lang="en-US" smtClean="0"/>
              <a:t>9/1/2026</a:t>
            </a:fld>
            <a:endParaRPr lang="en-US"/>
          </a:p>
        </p:txBody>
      </p:sp>
      <p:sp>
        <p:nvSpPr>
          <p:cNvPr id="10486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>
          <a:xfrm>
            <a:off x="570270" y="274638"/>
            <a:ext cx="8116529" cy="649594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sz="3400" i="1" lang="en-US"/>
              <a:t>Service-Oriented Model Considerations</a:t>
            </a:r>
            <a:endParaRPr b="1" dirty="0" sz="34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2" name="Content Placeholder 2"/>
          <p:cNvSpPr>
            <a:spLocks noGrp="1"/>
          </p:cNvSpPr>
          <p:nvPr>
            <p:ph idx="1"/>
          </p:nvPr>
        </p:nvSpPr>
        <p:spPr>
          <a:xfrm>
            <a:off x="457200" y="1179872"/>
            <a:ext cx="8229600" cy="4946292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p>
            <a:pPr indent="0" marL="0">
              <a:buNone/>
            </a:pPr>
            <a:r>
              <a:rPr dirty="0" lang="en-IN">
                <a:solidFill>
                  <a:srgbClr val="FF0000"/>
                </a:solidFill>
              </a:rPr>
              <a:t>Service Enablement</a:t>
            </a:r>
          </a:p>
          <a:p>
            <a:r>
              <a:rPr dirty="0" lang="en-US"/>
              <a:t>Identify services exposed or consumed</a:t>
            </a:r>
          </a:p>
          <a:p>
            <a:r>
              <a:rPr dirty="0" lang="en-US"/>
              <a:t>Ensure appropriate granularity of services</a:t>
            </a:r>
          </a:p>
          <a:p>
            <a:r>
              <a:rPr dirty="0" lang="en-US"/>
              <a:t>Choose technologies for service enablement</a:t>
            </a:r>
          </a:p>
          <a:p>
            <a:pPr indent="0" marL="0">
              <a:buNone/>
            </a:pPr>
            <a:r>
              <a:rPr dirty="0" lang="en-IN">
                <a:solidFill>
                  <a:srgbClr val="FF0000"/>
                </a:solidFill>
              </a:rPr>
              <a:t>Service Integration</a:t>
            </a:r>
          </a:p>
          <a:p>
            <a:r>
              <a:rPr dirty="0" lang="en-US"/>
              <a:t>Identify integration patterns</a:t>
            </a:r>
          </a:p>
          <a:p>
            <a:r>
              <a:rPr dirty="0" lang="en-US"/>
              <a:t>Select appropriate integration technologies</a:t>
            </a:r>
          </a:p>
          <a:p>
            <a:r>
              <a:rPr dirty="0" lang="en-US"/>
              <a:t>Goal: Ensure trade-offs are addressed appropriately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EFD47DB-5FC7-44C2-8201-DCD7A00A50FF}" type="datetime1">
              <a:rPr lang="en-US" smtClean="0"/>
              <a:t>9/1/2026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Title 1"/>
          <p:cNvSpPr>
            <a:spLocks noGrp="1"/>
          </p:cNvSpPr>
          <p:nvPr>
            <p:ph type="title"/>
          </p:nvPr>
        </p:nvSpPr>
        <p:spPr>
          <a:xfrm>
            <a:off x="619432" y="274638"/>
            <a:ext cx="8067368" cy="620097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sz="3400" i="1" lang="en-US"/>
              <a:t>Service-Oriented Model Considerations</a:t>
            </a:r>
            <a:endParaRPr b="1" dirty="0" sz="34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7" name="Content Placeholder 2"/>
          <p:cNvSpPr>
            <a:spLocks noGrp="1"/>
          </p:cNvSpPr>
          <p:nvPr>
            <p:ph idx="1"/>
          </p:nvPr>
        </p:nvSpPr>
        <p:spPr>
          <a:xfrm>
            <a:off x="457200" y="1061884"/>
            <a:ext cx="8229600" cy="5064279"/>
          </a:xfrm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p>
            <a:pPr indent="0" marL="0">
              <a:buNone/>
            </a:pPr>
            <a:r>
              <a:rPr dirty="0" lang="en-IN">
                <a:solidFill>
                  <a:srgbClr val="FF0000"/>
                </a:solidFill>
              </a:rPr>
              <a:t>Service Orchestration &amp; Choreography</a:t>
            </a:r>
          </a:p>
          <a:p>
            <a:r>
              <a:rPr dirty="0" lang="en-US"/>
              <a:t>Define business process models</a:t>
            </a:r>
          </a:p>
          <a:p>
            <a:r>
              <a:rPr dirty="0" lang="en-US"/>
              <a:t>Implement workflows (manual or automated)</a:t>
            </a:r>
          </a:p>
          <a:p>
            <a:r>
              <a:rPr dirty="0" lang="en-US"/>
              <a:t>Align with enterprise data models</a:t>
            </a:r>
          </a:p>
          <a:p>
            <a:pPr indent="0" marL="0">
              <a:buNone/>
            </a:pPr>
            <a:r>
              <a:rPr dirty="0" lang="en-US"/>
              <a:t>- Orchestration: Central coordinator</a:t>
            </a:r>
            <a:br>
              <a:rPr dirty="0" lang="en-US"/>
            </a:br>
            <a:r>
              <a:rPr dirty="0" lang="en-US"/>
              <a:t>- Choreography: Distributed decision logic in services</a:t>
            </a:r>
          </a:p>
          <a:p>
            <a:pPr indent="0" marL="0">
              <a:buNone/>
            </a:pPr>
            <a:endParaRPr dirty="0" lang="en-IN">
              <a:solidFill>
                <a:srgbClr val="FF0000"/>
              </a:solidFill>
            </a:endParaRPr>
          </a:p>
          <a:p>
            <a:pPr indent="0" marL="0">
              <a:buNone/>
            </a:pPr>
            <a:r>
              <a:rPr dirty="0" lang="en-IN">
                <a:solidFill>
                  <a:srgbClr val="FF0000"/>
                </a:solidFill>
              </a:rPr>
              <a:t>Service Governance</a:t>
            </a:r>
          </a:p>
          <a:p>
            <a:r>
              <a:rPr dirty="0" lang="en-US"/>
              <a:t>1. Design-time governance (e.g., service registry and repository)</a:t>
            </a:r>
            <a:br>
              <a:rPr dirty="0" lang="en-US"/>
            </a:br>
            <a:r>
              <a:rPr dirty="0" lang="en-US"/>
              <a:t>2. Run-time governance (e.g., monitoring, policy enforcement)</a:t>
            </a:r>
          </a:p>
          <a:p>
            <a:pPr indent="0" marL="0">
              <a:buNone/>
            </a:pPr>
            <a:br>
              <a:rPr dirty="0" lang="en-US"/>
            </a:br>
            <a:r>
              <a:rPr dirty="0" lang="en-US"/>
              <a:t>Security considerations:</a:t>
            </a:r>
            <a:br>
              <a:rPr dirty="0" lang="en-US"/>
            </a:br>
            <a:r>
              <a:rPr dirty="0" lang="en-US"/>
              <a:t> - Authentication and authorization</a:t>
            </a:r>
            <a:br>
              <a:rPr dirty="0" lang="en-US"/>
            </a:br>
            <a:r>
              <a:rPr dirty="0" lang="en-US"/>
              <a:t> - Implementation of security products and solutions</a:t>
            </a:r>
            <a:endParaRPr dirty="0" lang="en-IN"/>
          </a:p>
          <a:p>
            <a:pPr indent="0" marL="0">
              <a:buNone/>
            </a:pPr>
            <a:endParaRPr dirty="0" lang="en-IN"/>
          </a:p>
          <a:p>
            <a:pPr indent="0" marL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75D3AB3-E8C6-4D33-A975-4EC81DD5201B}" type="datetime1">
              <a:rPr lang="en-US" smtClean="0"/>
              <a:t>9/1/2026</a:t>
            </a:fld>
            <a:endParaRPr lang="en-US"/>
          </a:p>
        </p:txBody>
      </p:sp>
      <p:sp>
        <p:nvSpPr>
          <p:cNvPr id="10486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sz="3400" lang="en-IN"/>
              <a:t>SOA Patterns</a:t>
            </a:r>
            <a:endParaRPr b="1" dirty="0" sz="34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2" name="Content Placeholder 2"/>
          <p:cNvSpPr>
            <a:spLocks noGrp="1"/>
          </p:cNvSpPr>
          <p:nvPr>
            <p:ph idx="1"/>
          </p:nvPr>
        </p:nvSpPr>
        <p:spPr>
          <a:xfrm>
            <a:off x="457200" y="904568"/>
            <a:ext cx="8229600" cy="5221595"/>
          </a:xfrm>
          <a:ln>
            <a:solidFill>
              <a:schemeClr val="tx1"/>
            </a:solidFill>
          </a:ln>
        </p:spPr>
        <p:txBody>
          <a:bodyPr>
            <a:normAutofit fontScale="47500" lnSpcReduction="20000"/>
          </a:bodyPr>
          <a:p>
            <a:pPr indent="0" marL="0">
              <a:buNone/>
            </a:pPr>
            <a:r>
              <a:rPr dirty="0" sz="4000" lang="en-IN">
                <a:solidFill>
                  <a:srgbClr val="FF0000"/>
                </a:solidFill>
              </a:rPr>
              <a:t>Patterns for Service Enablement</a:t>
            </a:r>
          </a:p>
          <a:p>
            <a:pPr indent="0" marL="0">
              <a:buNone/>
            </a:pPr>
            <a:endParaRPr dirty="0" sz="4000" lang="en-IN">
              <a:solidFill>
                <a:srgbClr val="FF0000"/>
              </a:solidFill>
            </a:endParaRPr>
          </a:p>
          <a:p>
            <a:pPr indent="0" marL="0">
              <a:buNone/>
            </a:pPr>
            <a:r>
              <a:rPr dirty="0" sz="4000" lang="en-IN"/>
              <a:t>Patterns for service enablement applied to expose the functionality as a service and also to consume remote services.</a:t>
            </a:r>
          </a:p>
          <a:p>
            <a:pPr indent="0" marL="0">
              <a:buNone/>
            </a:pPr>
            <a:endParaRPr dirty="0" sz="4000" lang="en-IN">
              <a:solidFill>
                <a:srgbClr val="FF0000"/>
              </a:solidFill>
            </a:endParaRPr>
          </a:p>
          <a:p>
            <a:pPr indent="0" marL="0">
              <a:buNone/>
            </a:pPr>
            <a:r>
              <a:rPr dirty="0" sz="4000" lang="en-US"/>
              <a:t>1. </a:t>
            </a:r>
            <a:r>
              <a:rPr b="1" dirty="0" sz="4000" lang="en-US"/>
              <a:t>Services Layer: </a:t>
            </a:r>
            <a:r>
              <a:rPr dirty="0" sz="4000" lang="en-US"/>
              <a:t>Encapsulates business logic and coordinates interactions.</a:t>
            </a:r>
          </a:p>
          <a:p>
            <a:pPr indent="0" marL="0">
              <a:buNone/>
            </a:pPr>
            <a:r>
              <a:rPr dirty="0" sz="4000" lang="en-US"/>
              <a:t>2. </a:t>
            </a:r>
            <a:r>
              <a:rPr b="1" dirty="0" sz="4000" lang="en-US"/>
              <a:t>Service Proxy: </a:t>
            </a:r>
            <a:r>
              <a:rPr dirty="0" sz="4000" lang="en-US"/>
              <a:t>Interface for calling remote services.</a:t>
            </a:r>
          </a:p>
          <a:p>
            <a:pPr indent="0" marL="0">
              <a:buNone/>
            </a:pPr>
            <a:r>
              <a:rPr dirty="0" sz="4000" lang="en-US"/>
              <a:t>3. </a:t>
            </a:r>
            <a:r>
              <a:rPr b="1" dirty="0" sz="4000" lang="en-US"/>
              <a:t>Service Gateway: </a:t>
            </a:r>
            <a:r>
              <a:rPr dirty="0" sz="4000" lang="en-US"/>
              <a:t>Hides complexity and provides a unified access point.</a:t>
            </a:r>
          </a:p>
          <a:p>
            <a:pPr indent="0" marL="0">
              <a:buNone/>
            </a:pPr>
            <a:endParaRPr dirty="0" sz="4000" lang="en-IN">
              <a:solidFill>
                <a:srgbClr val="FF0000"/>
              </a:solidFill>
            </a:endParaRPr>
          </a:p>
          <a:p>
            <a:pPr indent="0" marL="0">
              <a:buNone/>
            </a:pPr>
            <a:r>
              <a:rPr dirty="0" sz="4000" lang="en-IN">
                <a:solidFill>
                  <a:srgbClr val="FF0000"/>
                </a:solidFill>
              </a:rPr>
              <a:t>Patterns for Service Integration</a:t>
            </a:r>
          </a:p>
          <a:p>
            <a:pPr indent="0" marL="0">
              <a:buNone/>
            </a:pPr>
            <a:endParaRPr dirty="0" sz="4000" lang="en-IN">
              <a:solidFill>
                <a:srgbClr val="FF0000"/>
              </a:solidFill>
            </a:endParaRPr>
          </a:p>
          <a:p>
            <a:pPr indent="0" marL="0">
              <a:buNone/>
            </a:pPr>
            <a:r>
              <a:rPr dirty="0" sz="4000" lang="en-IN"/>
              <a:t>Service integration patterns constitute the solution for the problem of integrating service providers and service consumers.</a:t>
            </a:r>
          </a:p>
          <a:p>
            <a:pPr indent="0" marL="0">
              <a:buNone/>
            </a:pPr>
            <a:endParaRPr dirty="0" sz="4000" lang="en-IN">
              <a:solidFill>
                <a:srgbClr val="FF0000"/>
              </a:solidFill>
            </a:endParaRPr>
          </a:p>
          <a:p>
            <a:pPr indent="0" marL="0">
              <a:buNone/>
            </a:pPr>
            <a:r>
              <a:rPr b="1" dirty="0" sz="4000" lang="en-US"/>
              <a:t>1.Enterprise Service Bus: </a:t>
            </a:r>
            <a:r>
              <a:rPr dirty="0" sz="4000" lang="en-US"/>
              <a:t>Mediates service communication and transformation.</a:t>
            </a:r>
          </a:p>
          <a:p>
            <a:pPr indent="0" marL="0">
              <a:buNone/>
            </a:pPr>
            <a:r>
              <a:rPr b="1" dirty="0" sz="4000" lang="en-US"/>
              <a:t>2.Service Adapter: </a:t>
            </a:r>
            <a:r>
              <a:rPr dirty="0" sz="4000" lang="en-US"/>
              <a:t>Enables legacy or non-service systems to participate.</a:t>
            </a:r>
          </a:p>
          <a:p>
            <a:pPr indent="0" marL="0">
              <a:buNone/>
            </a:pPr>
            <a:r>
              <a:rPr b="1" dirty="0" sz="4000" lang="en-US"/>
              <a:t>3.API Gateway: </a:t>
            </a:r>
            <a:r>
              <a:rPr dirty="0" sz="4000" lang="en-US"/>
              <a:t>Single entry point to route requests to appropriate services.</a:t>
            </a:r>
          </a:p>
          <a:p>
            <a:pPr indent="0" marL="0">
              <a:buNone/>
            </a:pPr>
            <a:endParaRPr dirty="0" lang="en-IN"/>
          </a:p>
          <a:p>
            <a:pPr indent="0" marL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7C480AA-91AE-422B-9F73-D66AA08844EF}" type="datetime1">
              <a:rPr lang="en-US" smtClean="0"/>
              <a:t>9/1/2026</a:t>
            </a:fld>
            <a:endParaRPr lang="en-US"/>
          </a:p>
        </p:txBody>
      </p:sp>
      <p:sp>
        <p:nvSpPr>
          <p:cNvPr id="10486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7246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sz="3200" lang="en-IN"/>
              <a:t>SOA Patterns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7" name="Content Placeholder 2"/>
          <p:cNvSpPr>
            <a:spLocks noGrp="1"/>
          </p:cNvSpPr>
          <p:nvPr>
            <p:ph idx="1"/>
          </p:nvPr>
        </p:nvSpPr>
        <p:spPr>
          <a:xfrm>
            <a:off x="457200" y="1061884"/>
            <a:ext cx="8229600" cy="5064279"/>
          </a:xfrm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p>
            <a:pPr indent="0" marL="0">
              <a:buNone/>
            </a:pPr>
            <a:r>
              <a:rPr dirty="0" lang="en-IN">
                <a:solidFill>
                  <a:srgbClr val="FF0000"/>
                </a:solidFill>
              </a:rPr>
              <a:t>Patterns for Orchestration &amp; Choreography</a:t>
            </a:r>
          </a:p>
          <a:p>
            <a:pPr indent="0" marL="0">
              <a:buNone/>
            </a:pPr>
            <a:r>
              <a:rPr dirty="0" lang="en-IN"/>
              <a:t>employed to orchestrate services exposed within an application context or across applications.</a:t>
            </a:r>
            <a:endParaRPr dirty="0" lang="en-IN">
              <a:solidFill>
                <a:srgbClr val="FF0000"/>
              </a:solidFill>
            </a:endParaRPr>
          </a:p>
          <a:p>
            <a:pPr indent="0" marL="0">
              <a:buNone/>
            </a:pPr>
            <a:r>
              <a:rPr b="1" dirty="0" lang="en-US"/>
              <a:t>1.Orchestration Language: </a:t>
            </a:r>
            <a:r>
              <a:rPr dirty="0" lang="en-US"/>
              <a:t>Defines activities of business processes.</a:t>
            </a:r>
          </a:p>
          <a:p>
            <a:pPr indent="0" marL="0">
              <a:buNone/>
            </a:pPr>
            <a:r>
              <a:rPr b="1" dirty="0" lang="en-US"/>
              <a:t>2.Orchestration Engine: </a:t>
            </a:r>
            <a:r>
              <a:rPr dirty="0" lang="en-US"/>
              <a:t>Coordinates sequence of service invocations.</a:t>
            </a:r>
          </a:p>
          <a:p>
            <a:pPr indent="0" marL="0">
              <a:buNone/>
            </a:pPr>
            <a:r>
              <a:rPr b="1" dirty="0" lang="en-US"/>
              <a:t>3.Choreography Language: </a:t>
            </a:r>
            <a:r>
              <a:rPr dirty="0" lang="en-US"/>
              <a:t>Specifies global interaction logic across services.</a:t>
            </a:r>
          </a:p>
          <a:p>
            <a:pPr indent="0" marL="0">
              <a:buNone/>
            </a:pPr>
            <a:r>
              <a:rPr b="1" dirty="0" lang="en-US"/>
              <a:t>4.Compensating Action: </a:t>
            </a:r>
            <a:r>
              <a:rPr dirty="0" lang="en-US"/>
              <a:t>Cancels effects of selected actions when needed.</a:t>
            </a:r>
          </a:p>
          <a:p>
            <a:pPr indent="0" marL="0">
              <a:buNone/>
            </a:pPr>
            <a:endParaRPr dirty="0" lang="en-IN"/>
          </a:p>
          <a:p>
            <a:pPr indent="0" marL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4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49C9528-C708-42C5-B6E5-29561B417C9C}" type="datetime1">
              <a:rPr lang="en-US" smtClean="0"/>
              <a:t>9/1/2026</a:t>
            </a:fld>
            <a:endParaRPr lang="en-US"/>
          </a:p>
        </p:txBody>
      </p:sp>
      <p:sp>
        <p:nvSpPr>
          <p:cNvPr id="10486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344129" y="274638"/>
            <a:ext cx="8342671" cy="527564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sz="3200" lang="en-IN"/>
              <a:t>SOA Patterns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2" name="Content Placeholder 2"/>
          <p:cNvSpPr>
            <a:spLocks noGrp="1"/>
          </p:cNvSpPr>
          <p:nvPr>
            <p:ph idx="1"/>
          </p:nvPr>
        </p:nvSpPr>
        <p:spPr>
          <a:xfrm>
            <a:off x="457200" y="1032388"/>
            <a:ext cx="8229600" cy="5093776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Patterns for Service Governance</a:t>
            </a:r>
          </a:p>
          <a:p>
            <a:r>
              <a:rPr dirty="0" lang="en-IN"/>
              <a:t>Service governance ensures that services are:</a:t>
            </a:r>
          </a:p>
          <a:p>
            <a:pPr lvl="0"/>
            <a:r>
              <a:rPr dirty="0" lang="en-IN"/>
              <a:t>Designed according to enterprise standards </a:t>
            </a:r>
          </a:p>
          <a:p>
            <a:pPr lvl="0"/>
            <a:r>
              <a:rPr dirty="0" lang="en-IN"/>
              <a:t>Properly registered and managed </a:t>
            </a:r>
          </a:p>
          <a:p>
            <a:pPr lvl="0"/>
            <a:r>
              <a:rPr dirty="0" lang="en-IN"/>
              <a:t>Compliant with organizational policies </a:t>
            </a:r>
          </a:p>
          <a:p>
            <a:pPr lvl="0"/>
            <a:r>
              <a:rPr dirty="0" lang="en-IN"/>
              <a:t>Monitored during execution </a:t>
            </a:r>
          </a:p>
          <a:p>
            <a:pPr lvl="0"/>
            <a:r>
              <a:rPr dirty="0" lang="en-IN"/>
              <a:t>Secure, available, and performant </a:t>
            </a:r>
          </a:p>
          <a:p>
            <a:pPr indent="0" marL="0">
              <a:buNone/>
            </a:pPr>
            <a:r>
              <a:rPr b="1" dirty="0" lang="en-IN"/>
              <a:t>Two Key Governance Patterns</a:t>
            </a:r>
          </a:p>
          <a:p>
            <a:pPr lvl="0"/>
            <a:r>
              <a:rPr b="1" dirty="0" lang="en-IN"/>
              <a:t>Validation Pattern</a:t>
            </a:r>
            <a:r>
              <a:rPr dirty="0" lang="en-IN"/>
              <a:t> – Design-Time Governance </a:t>
            </a:r>
          </a:p>
          <a:p>
            <a:pPr lvl="0"/>
            <a:r>
              <a:rPr b="1" dirty="0" lang="en-IN"/>
              <a:t>Management Pattern</a:t>
            </a:r>
            <a:r>
              <a:rPr dirty="0" lang="en-IN"/>
              <a:t> – Run-Time Governance</a:t>
            </a:r>
          </a:p>
          <a:p>
            <a:pPr indent="0" marL="0">
              <a:buNone/>
            </a:pPr>
            <a:endParaRPr dirty="0" lang="en-IN"/>
          </a:p>
          <a:p>
            <a:pPr indent="0" marL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49C9528-C708-42C5-B6E5-29561B417C9C}" type="datetime1">
              <a:rPr lang="en-US" smtClean="0"/>
              <a:t>9/1/2026</a:t>
            </a:fld>
            <a:endParaRPr lang="en-US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sz="3200" lang="en-IN"/>
              <a:t>SOA Patterns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7" name="Content Placeholder 2"/>
          <p:cNvSpPr>
            <a:spLocks noGrp="1"/>
          </p:cNvSpPr>
          <p:nvPr>
            <p:ph idx="1"/>
          </p:nvPr>
        </p:nvSpPr>
        <p:spPr>
          <a:xfrm>
            <a:off x="457200" y="865240"/>
            <a:ext cx="8229600" cy="5260924"/>
          </a:xfrm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p>
            <a:pPr indent="0" marL="0">
              <a:buNone/>
            </a:pPr>
            <a:r>
              <a:rPr b="1" dirty="0" lang="en-IN"/>
              <a:t>1. Validation Pattern</a:t>
            </a:r>
          </a:p>
          <a:p>
            <a:pPr indent="0" marL="0">
              <a:buNone/>
            </a:pPr>
            <a:r>
              <a:rPr b="1" dirty="0" lang="en-IN"/>
              <a:t>Design-Time Governance Pattern</a:t>
            </a:r>
            <a:endParaRPr dirty="0" lang="en-IN"/>
          </a:p>
          <a:p>
            <a:r>
              <a:rPr dirty="0" lang="en-IN"/>
              <a:t>The Validation Pattern ensures that services conform to </a:t>
            </a:r>
            <a:r>
              <a:rPr b="1" dirty="0" lang="en-IN"/>
              <a:t>established enterprise guidelines and policies</a:t>
            </a:r>
            <a:r>
              <a:rPr dirty="0" lang="en-IN"/>
              <a:t> before and during their lifecycle.</a:t>
            </a:r>
          </a:p>
          <a:p>
            <a:pPr indent="0" marL="0">
              <a:buNone/>
            </a:pPr>
            <a:r>
              <a:rPr b="1" dirty="0" lang="en-IN"/>
              <a:t>Key responsibilities:</a:t>
            </a:r>
            <a:endParaRPr dirty="0" lang="en-IN"/>
          </a:p>
          <a:p>
            <a:pPr lvl="0"/>
            <a:r>
              <a:rPr dirty="0" lang="en-IN"/>
              <a:t>Validate newly developed services </a:t>
            </a:r>
          </a:p>
          <a:p>
            <a:pPr lvl="0"/>
            <a:r>
              <a:rPr dirty="0" lang="en-IN"/>
              <a:t>Ensure compliance with enterprise standards </a:t>
            </a:r>
          </a:p>
          <a:p>
            <a:pPr lvl="0"/>
            <a:r>
              <a:rPr dirty="0" lang="en-IN"/>
              <a:t>Control service modifications </a:t>
            </a:r>
          </a:p>
          <a:p>
            <a:pPr lvl="0"/>
            <a:r>
              <a:rPr dirty="0" lang="en-IN"/>
              <a:t>Manage service lifecycle </a:t>
            </a:r>
          </a:p>
          <a:p>
            <a:pPr lvl="0"/>
            <a:r>
              <a:rPr dirty="0" lang="en-IN"/>
              <a:t>Ensure proper service documentation </a:t>
            </a:r>
          </a:p>
          <a:p>
            <a:pPr lvl="0"/>
            <a:r>
              <a:rPr dirty="0" lang="en-IN"/>
              <a:t>Govern service retirement</a:t>
            </a:r>
          </a:p>
          <a:p>
            <a:pPr indent="0" marL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49C9528-C708-42C5-B6E5-29561B417C9C}" type="datetime1">
              <a:rPr lang="en-US" smtClean="0"/>
              <a:t>9/1/2026</a:t>
            </a:fld>
            <a:endParaRPr lang="en-US"/>
          </a:p>
        </p:txBody>
      </p:sp>
      <p:sp>
        <p:nvSpPr>
          <p:cNvPr id="10486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5127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sz="3200" lang="en-IN"/>
              <a:t>SOA Patterns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2" name="Content Placeholder 2"/>
          <p:cNvSpPr>
            <a:spLocks noGrp="1"/>
          </p:cNvSpPr>
          <p:nvPr>
            <p:ph idx="1"/>
          </p:nvPr>
        </p:nvSpPr>
        <p:spPr>
          <a:xfrm>
            <a:off x="457200" y="953730"/>
            <a:ext cx="8229600" cy="5172434"/>
          </a:xfrm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p>
            <a:pPr indent="0" marL="0">
              <a:buNone/>
            </a:pPr>
            <a:r>
              <a:rPr b="1" dirty="0" lang="en-IN"/>
              <a:t>2. Management Pattern</a:t>
            </a:r>
          </a:p>
          <a:p>
            <a:pPr indent="0" marL="0">
              <a:buNone/>
            </a:pPr>
            <a:r>
              <a:rPr b="1" dirty="0" lang="en-IN"/>
              <a:t>Run-Time Monitoring &amp; Policy Enforcement Pattern</a:t>
            </a:r>
            <a:endParaRPr dirty="0" lang="en-IN"/>
          </a:p>
          <a:p>
            <a:r>
              <a:rPr dirty="0" lang="en-IN"/>
              <a:t>The Management Pattern addresses governance </a:t>
            </a:r>
            <a:r>
              <a:rPr b="1" dirty="0" lang="en-IN"/>
              <a:t>while services are executing</a:t>
            </a:r>
            <a:r>
              <a:rPr dirty="0" lang="en-IN"/>
              <a:t>.</a:t>
            </a:r>
          </a:p>
          <a:p>
            <a:pPr indent="0" marL="0">
              <a:buNone/>
            </a:pPr>
            <a:r>
              <a:rPr b="1" dirty="0" lang="en-IN"/>
              <a:t>Key responsibilities</a:t>
            </a:r>
          </a:p>
          <a:p>
            <a:pPr lvl="0"/>
            <a:r>
              <a:rPr dirty="0" lang="en-IN"/>
              <a:t>Monitor service execution </a:t>
            </a:r>
          </a:p>
          <a:p>
            <a:pPr lvl="0"/>
            <a:r>
              <a:rPr dirty="0" lang="en-IN"/>
              <a:t>Enforce runtime policies </a:t>
            </a:r>
          </a:p>
          <a:p>
            <a:pPr lvl="0"/>
            <a:r>
              <a:rPr dirty="0" lang="en-IN"/>
              <a:t>Monitor security </a:t>
            </a:r>
          </a:p>
          <a:p>
            <a:pPr lvl="0"/>
            <a:r>
              <a:rPr dirty="0" lang="en-IN"/>
              <a:t>Track performance </a:t>
            </a:r>
          </a:p>
          <a:p>
            <a:pPr lvl="0"/>
            <a:r>
              <a:rPr dirty="0" lang="en-IN"/>
              <a:t>Monitor throughput </a:t>
            </a:r>
          </a:p>
          <a:p>
            <a:pPr lvl="0"/>
            <a:r>
              <a:rPr dirty="0" lang="en-IN"/>
              <a:t>Check availability </a:t>
            </a:r>
          </a:p>
          <a:p>
            <a:pPr lvl="0"/>
            <a:r>
              <a:rPr dirty="0" lang="en-IN"/>
              <a:t>Detect violations and failures </a:t>
            </a:r>
          </a:p>
          <a:p>
            <a:pPr lvl="0"/>
            <a:r>
              <a:rPr dirty="0" lang="en-IN"/>
              <a:t>Ensure service-level requirements are met </a:t>
            </a:r>
          </a:p>
          <a:p>
            <a:pPr indent="0" marL="0">
              <a:buNone/>
            </a:pPr>
            <a:r>
              <a:rPr dirty="0" lang="en-IN"/>
              <a:t>The Management Pattern monitors important </a:t>
            </a:r>
            <a:r>
              <a:rPr b="1" dirty="0" lang="en-IN"/>
              <a:t>Quality of Service (QoS)</a:t>
            </a:r>
            <a:r>
              <a:rPr dirty="0" lang="en-IN"/>
              <a:t> </a:t>
            </a:r>
            <a:r>
              <a:rPr dirty="0" lang="en-IN" err="1"/>
              <a:t>requirements:Security</a:t>
            </a:r>
            <a:r>
              <a:rPr dirty="0" lang="en-IN"/>
              <a:t>, Performance, Throughput, Availability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49C9528-C708-42C5-B6E5-29561B417C9C}" type="datetime1">
              <a:rPr lang="en-US" smtClean="0"/>
              <a:t>9/1/2026</a:t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sz="3200" lang="en-US"/>
              <a:t>PATTERN-BASED Architecture For Service-Oriented Applications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7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p>
            <a:pPr indent="0" marL="0">
              <a:buNone/>
            </a:pPr>
            <a:r>
              <a:rPr dirty="0" lang="en-IN">
                <a:solidFill>
                  <a:srgbClr val="FF0000"/>
                </a:solidFill>
              </a:rPr>
              <a:t>Java EE Architecture – Overview</a:t>
            </a:r>
          </a:p>
          <a:p>
            <a:r>
              <a:rPr dirty="0" lang="en-IN"/>
              <a:t>Presentation Layer: Uses MVC or MVVM (e.g., JSP, HTML, JavaScript)</a:t>
            </a:r>
          </a:p>
          <a:p>
            <a:r>
              <a:rPr dirty="0" lang="en-IN"/>
              <a:t>Business Layer: Uses Session Facade and Business Components</a:t>
            </a:r>
          </a:p>
          <a:p>
            <a:r>
              <a:rPr dirty="0" lang="en-IN"/>
              <a:t>Data Access Layer: Implements persistence with JDBC, ORM (Hibernate), JPA</a:t>
            </a:r>
          </a:p>
          <a:p>
            <a:r>
              <a:rPr dirty="0" lang="en-IN"/>
              <a:t>Integration Layer: Uses ESB (Enterprise Service Bus)</a:t>
            </a:r>
          </a:p>
          <a:p>
            <a:r>
              <a:rPr dirty="0" lang="en-IN"/>
              <a:t>Governance Layer: Validation &amp; Management patterns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6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1C4DA3-5308-436B-A06E-45E6770F8B1F}" type="datetime1">
              <a:rPr lang="en-US" smtClean="0"/>
              <a:t>9/1/2026</a:t>
            </a:fld>
            <a:endParaRPr lang="en-US"/>
          </a:p>
        </p:txBody>
      </p:sp>
      <p:sp>
        <p:nvSpPr>
          <p:cNvPr id="104866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7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Title 1"/>
          <p:cNvSpPr>
            <a:spLocks noGrp="1"/>
          </p:cNvSpPr>
          <p:nvPr>
            <p:ph type="title"/>
          </p:nvPr>
        </p:nvSpPr>
        <p:spPr>
          <a:xfrm>
            <a:off x="580102" y="274638"/>
            <a:ext cx="8106697" cy="777414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sz="3200" lang="en-US"/>
              <a:t>PATTERN-BASED Architecture For Service-Oriented Applications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2" name="Content Placeholder 2"/>
          <p:cNvSpPr>
            <a:spLocks noGrp="1"/>
          </p:cNvSpPr>
          <p:nvPr>
            <p:ph idx="1"/>
          </p:nvPr>
        </p:nvSpPr>
        <p:spPr>
          <a:xfrm>
            <a:off x="457200" y="1288026"/>
            <a:ext cx="8229600" cy="4838137"/>
          </a:xfrm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Layered Architecture of a Java EE Application</a:t>
            </a:r>
          </a:p>
          <a:p>
            <a:pPr indent="0" marL="0">
              <a:buNone/>
            </a:pPr>
            <a:r>
              <a:rPr b="1" dirty="0" lang="en-IN"/>
              <a:t>Key Architectural Layers</a:t>
            </a:r>
            <a:endParaRPr dirty="0" lang="en-IN"/>
          </a:p>
          <a:p>
            <a:r>
              <a:rPr dirty="0" lang="en-IN"/>
              <a:t>A thin-client Java EE application can be organized into three major layers:</a:t>
            </a:r>
          </a:p>
          <a:p>
            <a:pPr indent="0" lvl="0" marL="0">
              <a:buNone/>
            </a:pPr>
            <a:r>
              <a:rPr b="1" dirty="0" lang="en-IN"/>
              <a:t>	-Presentation Layer</a:t>
            </a:r>
            <a:r>
              <a:rPr dirty="0" lang="en-IN"/>
              <a:t> </a:t>
            </a:r>
          </a:p>
          <a:p>
            <a:pPr indent="0" lvl="0" marL="0">
              <a:buNone/>
            </a:pPr>
            <a:r>
              <a:rPr b="1" dirty="0" lang="en-IN"/>
              <a:t>	-Business Layer</a:t>
            </a:r>
            <a:r>
              <a:rPr dirty="0" lang="en-IN"/>
              <a:t> </a:t>
            </a:r>
          </a:p>
          <a:p>
            <a:pPr indent="0" lvl="0" marL="0">
              <a:buNone/>
            </a:pPr>
            <a:r>
              <a:rPr b="1" dirty="0" lang="en-IN"/>
              <a:t>	-Data Access Layer</a:t>
            </a:r>
            <a:r>
              <a:rPr dirty="0" lang="en-IN"/>
              <a:t> </a:t>
            </a:r>
          </a:p>
          <a:p>
            <a:pPr indent="0" marL="0">
              <a:buNone/>
            </a:pPr>
            <a:r>
              <a:rPr b="1" dirty="0" lang="en-IN"/>
              <a:t>Primary Design Patterns:</a:t>
            </a:r>
            <a:endParaRPr dirty="0" lang="en-IN"/>
          </a:p>
          <a:p>
            <a:pPr lvl="0"/>
            <a:r>
              <a:rPr dirty="0" lang="en-IN"/>
              <a:t>MVC / MVVM → Presentation </a:t>
            </a:r>
          </a:p>
          <a:p>
            <a:pPr lvl="0"/>
            <a:r>
              <a:rPr dirty="0" lang="en-IN"/>
              <a:t>Session Façade → Business Logic </a:t>
            </a:r>
          </a:p>
          <a:p>
            <a:pPr lvl="0"/>
            <a:r>
              <a:rPr dirty="0" lang="en-IN"/>
              <a:t>DAO → Data Access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1C4DA3-5308-436B-A06E-45E6770F8B1F}" type="datetime1">
              <a:rPr lang="en-US" smtClean="0"/>
              <a:t>9/1/2026</a:t>
            </a:fld>
            <a:endParaRPr lang="en-US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7917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sz="3200" lang="en-US"/>
              <a:t>Reference Model Service-Oriented -Java EE Applications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A6F824A-5F99-4E01-96C8-1D0C6B4B1F0D}" type="datetime1">
              <a:rPr lang="en-US" smtClean="0"/>
              <a:t>9/1/2026</a:t>
            </a:fld>
            <a:endParaRPr lang="en-US"/>
          </a:p>
        </p:txBody>
      </p:sp>
      <p:sp>
        <p:nvSpPr>
          <p:cNvPr id="104867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7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2097152" name="Content Placeholder 9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457200" y="1209368"/>
            <a:ext cx="8229600" cy="4916795"/>
          </a:xfrm>
          <a:prstGeom prst="rect"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5904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sz="3200" lang="en-US"/>
              <a:t>PATTERN-BASED Architecture For Service-Oriented Applications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1" name="Content Placeholder 2"/>
          <p:cNvSpPr>
            <a:spLocks noGrp="1"/>
          </p:cNvSpPr>
          <p:nvPr>
            <p:ph idx="1"/>
          </p:nvPr>
        </p:nvSpPr>
        <p:spPr>
          <a:xfrm>
            <a:off x="457200" y="1366684"/>
            <a:ext cx="8229600" cy="4759479"/>
          </a:xfrm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Presentation Layer: MVC Pattern</a:t>
            </a:r>
          </a:p>
          <a:p>
            <a:pPr indent="0" marL="0">
              <a:buNone/>
            </a:pPr>
            <a:r>
              <a:rPr b="1" dirty="0" lang="en-IN"/>
              <a:t>Model–View–Controller (MVC)</a:t>
            </a:r>
            <a:endParaRPr dirty="0" lang="en-IN"/>
          </a:p>
          <a:p>
            <a:r>
              <a:rPr dirty="0" lang="en-IN"/>
              <a:t>The MVC pattern separates the presentation responsibilities into:</a:t>
            </a:r>
          </a:p>
          <a:p>
            <a:pPr indent="0" lvl="0" marL="0">
              <a:buNone/>
            </a:pPr>
            <a:r>
              <a:rPr b="1" dirty="0" lang="en-IN"/>
              <a:t>Model</a:t>
            </a:r>
            <a:r>
              <a:rPr dirty="0" lang="en-IN"/>
              <a:t> </a:t>
            </a:r>
          </a:p>
          <a:p>
            <a:pPr lvl="1"/>
            <a:r>
              <a:rPr dirty="0" lang="en-IN"/>
              <a:t>Represents application data and business-related operations </a:t>
            </a:r>
          </a:p>
          <a:p>
            <a:pPr indent="0" lvl="0" marL="0">
              <a:buNone/>
            </a:pPr>
            <a:r>
              <a:rPr b="1" dirty="0" lang="en-IN"/>
              <a:t>View</a:t>
            </a:r>
            <a:r>
              <a:rPr dirty="0" lang="en-IN"/>
              <a:t> </a:t>
            </a:r>
          </a:p>
          <a:p>
            <a:pPr lvl="1"/>
            <a:r>
              <a:rPr dirty="0" lang="en-IN"/>
              <a:t>Presents information to the user </a:t>
            </a:r>
          </a:p>
          <a:p>
            <a:pPr indent="0" lvl="0" marL="0">
              <a:buNone/>
            </a:pPr>
            <a:r>
              <a:rPr b="1" dirty="0" lang="en-IN"/>
              <a:t>Controller</a:t>
            </a:r>
            <a:r>
              <a:rPr dirty="0" lang="en-IN"/>
              <a:t> </a:t>
            </a:r>
          </a:p>
          <a:p>
            <a:pPr lvl="1"/>
            <a:r>
              <a:rPr dirty="0" lang="en-IN"/>
              <a:t>Receives and processes user requests </a:t>
            </a:r>
          </a:p>
          <a:p>
            <a:pPr lvl="1"/>
            <a:r>
              <a:rPr dirty="0" lang="en-IN"/>
              <a:t>Coordinates interaction between View and Model </a:t>
            </a:r>
          </a:p>
          <a:p>
            <a:pPr indent="0" marL="0">
              <a:buNone/>
            </a:pPr>
            <a:r>
              <a:rPr b="1" dirty="0" lang="en-IN"/>
              <a:t>Typical Java EE technologies:</a:t>
            </a:r>
            <a:endParaRPr dirty="0" lang="en-IN"/>
          </a:p>
          <a:p>
            <a:pPr lvl="0"/>
            <a:r>
              <a:rPr dirty="0" lang="en-IN"/>
              <a:t>JSP → View </a:t>
            </a:r>
          </a:p>
          <a:p>
            <a:pPr lvl="0"/>
            <a:r>
              <a:rPr dirty="0" lang="en-IN"/>
              <a:t>Servlets → Controller </a:t>
            </a:r>
          </a:p>
          <a:p>
            <a:pPr lvl="0"/>
            <a:r>
              <a:rPr dirty="0" lang="en-IN"/>
              <a:t>JavaBeans → Model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1C4DA3-5308-436B-A06E-45E6770F8B1F}" type="datetime1">
              <a:rPr lang="en-US" smtClean="0"/>
              <a:t>9/1/2026</a:t>
            </a:fld>
            <a:endParaRPr lang="en-US"/>
          </a:p>
        </p:txBody>
      </p:sp>
      <p:sp>
        <p:nvSpPr>
          <p:cNvPr id="104868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8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5904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sz="3200" lang="en-US"/>
              <a:t>PATTERN-BASED Architecture For Service-Oriented Applications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6" name="Content Placeholder 2"/>
          <p:cNvSpPr>
            <a:spLocks noGrp="1"/>
          </p:cNvSpPr>
          <p:nvPr>
            <p:ph idx="1"/>
          </p:nvPr>
        </p:nvSpPr>
        <p:spPr>
          <a:xfrm>
            <a:off x="457200" y="1366684"/>
            <a:ext cx="8229600" cy="4759479"/>
          </a:xfrm>
          <a:ln>
            <a:solidFill>
              <a:schemeClr val="tx1"/>
            </a:solidFill>
          </a:ln>
        </p:spPr>
        <p:txBody>
          <a:bodyPr>
            <a:normAutofit fontScale="62500" lnSpcReduction="20000"/>
          </a:bodyPr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Alternative: MVVM Pattern - Model–View–</a:t>
            </a:r>
            <a:r>
              <a:rPr b="1" dirty="0" lang="en-IN" err="1">
                <a:solidFill>
                  <a:srgbClr val="FF0000"/>
                </a:solidFill>
              </a:rPr>
              <a:t>ViewModel</a:t>
            </a:r>
            <a:r>
              <a:rPr b="1" dirty="0" lang="en-IN">
                <a:solidFill>
                  <a:srgbClr val="FF0000"/>
                </a:solidFill>
              </a:rPr>
              <a:t> (MVVM)</a:t>
            </a:r>
            <a:endParaRPr dirty="0" lang="en-IN">
              <a:solidFill>
                <a:srgbClr val="FF0000"/>
              </a:solidFill>
            </a:endParaRPr>
          </a:p>
          <a:p>
            <a:r>
              <a:rPr dirty="0" lang="en-IN"/>
              <a:t>MVVM is another pattern that can be used for the presentation layer.</a:t>
            </a:r>
          </a:p>
          <a:p>
            <a:pPr indent="0" marL="0">
              <a:buNone/>
            </a:pPr>
            <a:r>
              <a:rPr b="1" dirty="0" lang="en-IN"/>
              <a:t>Components</a:t>
            </a:r>
          </a:p>
          <a:p>
            <a:pPr indent="0" lvl="0" marL="0">
              <a:buNone/>
            </a:pPr>
            <a:r>
              <a:rPr b="1" dirty="0" lang="en-IN">
                <a:solidFill>
                  <a:srgbClr val="FF0000"/>
                </a:solidFill>
              </a:rPr>
              <a:t>Model</a:t>
            </a:r>
            <a:r>
              <a:rPr dirty="0" lang="en-IN">
                <a:solidFill>
                  <a:srgbClr val="FF0000"/>
                </a:solidFill>
              </a:rPr>
              <a:t> </a:t>
            </a:r>
          </a:p>
          <a:p>
            <a:pPr lvl="1"/>
            <a:r>
              <a:rPr dirty="0" lang="en-IN"/>
              <a:t>Application data and business logic </a:t>
            </a:r>
          </a:p>
          <a:p>
            <a:pPr indent="0" lvl="0" marL="0">
              <a:buNone/>
            </a:pPr>
            <a:r>
              <a:rPr b="1" dirty="0" lang="en-IN">
                <a:solidFill>
                  <a:srgbClr val="FF0000"/>
                </a:solidFill>
              </a:rPr>
              <a:t>View</a:t>
            </a:r>
            <a:r>
              <a:rPr dirty="0" lang="en-IN">
                <a:solidFill>
                  <a:srgbClr val="FF0000"/>
                </a:solidFill>
              </a:rPr>
              <a:t> </a:t>
            </a:r>
          </a:p>
          <a:p>
            <a:pPr lvl="1"/>
            <a:r>
              <a:rPr dirty="0" lang="en-IN"/>
              <a:t>User interface </a:t>
            </a:r>
          </a:p>
          <a:p>
            <a:pPr indent="0" lvl="0" marL="0">
              <a:buNone/>
            </a:pPr>
            <a:r>
              <a:rPr b="1" dirty="0" lang="en-IN" err="1">
                <a:solidFill>
                  <a:srgbClr val="FF0000"/>
                </a:solidFill>
              </a:rPr>
              <a:t>ViewModel</a:t>
            </a:r>
            <a:r>
              <a:rPr dirty="0" lang="en-IN">
                <a:solidFill>
                  <a:srgbClr val="FF0000"/>
                </a:solidFill>
              </a:rPr>
              <a:t> </a:t>
            </a:r>
          </a:p>
          <a:p>
            <a:pPr lvl="1"/>
            <a:r>
              <a:rPr dirty="0" lang="en-IN"/>
              <a:t>Provides presentation-specific data and state </a:t>
            </a:r>
          </a:p>
          <a:p>
            <a:pPr lvl="1"/>
            <a:r>
              <a:rPr dirty="0" lang="en-IN"/>
              <a:t>Acts as an intermediary between View and Model </a:t>
            </a:r>
          </a:p>
          <a:p>
            <a:pPr indent="0" marL="0">
              <a:buNone/>
            </a:pPr>
            <a:r>
              <a:rPr b="1" dirty="0" lang="en-IN"/>
              <a:t>Common technologies:</a:t>
            </a:r>
            <a:endParaRPr dirty="0" lang="en-IN"/>
          </a:p>
          <a:p>
            <a:pPr lvl="0"/>
            <a:r>
              <a:rPr dirty="0" lang="en-IN"/>
              <a:t>HTML </a:t>
            </a:r>
          </a:p>
          <a:p>
            <a:pPr lvl="0"/>
            <a:r>
              <a:rPr dirty="0" lang="en-IN"/>
              <a:t>CSS </a:t>
            </a:r>
          </a:p>
          <a:p>
            <a:pPr lvl="0"/>
            <a:r>
              <a:rPr dirty="0" lang="en-IN"/>
              <a:t>JavaScript </a:t>
            </a:r>
          </a:p>
          <a:p>
            <a:pPr indent="0" marL="0">
              <a:buNone/>
            </a:pPr>
            <a:r>
              <a:rPr b="1" dirty="0" lang="en-IN"/>
              <a:t>Suitable for: </a:t>
            </a:r>
            <a:r>
              <a:rPr dirty="0" lang="en-IN"/>
              <a:t>Rich and interactive web interfaces.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1C4DA3-5308-436B-A06E-45E6770F8B1F}" type="datetime1">
              <a:rPr lang="en-US" smtClean="0"/>
              <a:t>9/1/2026</a:t>
            </a:fld>
            <a:endParaRPr lang="en-US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8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5904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sz="3200" lang="en-US"/>
              <a:t>PATTERN-BASED Architecture For Service-Oriented Applications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91" name="Content Placeholder 2"/>
          <p:cNvSpPr>
            <a:spLocks noGrp="1"/>
          </p:cNvSpPr>
          <p:nvPr>
            <p:ph idx="1"/>
          </p:nvPr>
        </p:nvSpPr>
        <p:spPr>
          <a:xfrm>
            <a:off x="457200" y="1366684"/>
            <a:ext cx="8229600" cy="4759479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Business Layer: Session Façade Pattern</a:t>
            </a:r>
          </a:p>
          <a:p>
            <a:pPr indent="0" marL="0">
              <a:buNone/>
            </a:pPr>
            <a:r>
              <a:rPr b="1" dirty="0" lang="en-IN"/>
              <a:t>Session Façade Pattern</a:t>
            </a:r>
            <a:endParaRPr dirty="0" lang="en-IN"/>
          </a:p>
          <a:p>
            <a:r>
              <a:rPr dirty="0" lang="en-IN"/>
              <a:t>The </a:t>
            </a:r>
            <a:r>
              <a:rPr b="1" dirty="0" lang="en-IN"/>
              <a:t>Session Façade</a:t>
            </a:r>
            <a:r>
              <a:rPr dirty="0" lang="en-IN"/>
              <a:t> is retained to encapsulate business logic and decouple it from the presentation layer.</a:t>
            </a:r>
          </a:p>
          <a:p>
            <a:pPr indent="0" marL="0">
              <a:buNone/>
            </a:pPr>
            <a:r>
              <a:rPr b="1" dirty="0" lang="en-IN"/>
              <a:t>Responsibilities</a:t>
            </a:r>
          </a:p>
          <a:p>
            <a:pPr lvl="0"/>
            <a:r>
              <a:rPr dirty="0" lang="en-IN"/>
              <a:t>Provides a simplified interface to business operations </a:t>
            </a:r>
          </a:p>
          <a:p>
            <a:pPr lvl="0"/>
            <a:r>
              <a:rPr dirty="0" lang="en-IN"/>
              <a:t>Encapsulates complex business logic </a:t>
            </a:r>
          </a:p>
          <a:p>
            <a:pPr lvl="0"/>
            <a:r>
              <a:rPr dirty="0" lang="en-IN"/>
              <a:t>Coordinates multiple business components </a:t>
            </a:r>
          </a:p>
          <a:p>
            <a:pPr lvl="0"/>
            <a:r>
              <a:rPr dirty="0" lang="en-IN"/>
              <a:t>Reduces coupling between presentation and business layers </a:t>
            </a:r>
          </a:p>
          <a:p>
            <a:pPr lvl="0"/>
            <a:r>
              <a:rPr dirty="0" lang="en-IN"/>
              <a:t>Helps optimize application performance</a:t>
            </a:r>
          </a:p>
          <a:p>
            <a:pPr indent="0" marL="0">
              <a:buNone/>
            </a:pPr>
            <a:r>
              <a:rPr b="1" dirty="0" lang="en-IN"/>
              <a:t>Business Layer Implementation</a:t>
            </a:r>
          </a:p>
          <a:p>
            <a:r>
              <a:rPr dirty="0" lang="en-IN"/>
              <a:t>The business layer implements </a:t>
            </a:r>
            <a:r>
              <a:rPr b="1" dirty="0" lang="en-IN"/>
              <a:t>business processes</a:t>
            </a:r>
            <a:r>
              <a:rPr dirty="0" lang="en-IN"/>
              <a:t> through business components.</a:t>
            </a:r>
          </a:p>
          <a:p>
            <a:pPr indent="0" marL="0">
              <a:buNone/>
            </a:pPr>
            <a:r>
              <a:rPr dirty="0" lang="en-IN"/>
              <a:t>Possible implementation technologies:</a:t>
            </a:r>
          </a:p>
          <a:p>
            <a:pPr lvl="0"/>
            <a:r>
              <a:rPr b="1" dirty="0" lang="en-IN"/>
              <a:t>Java Objects</a:t>
            </a:r>
            <a:r>
              <a:rPr dirty="0" lang="en-IN"/>
              <a:t>  </a:t>
            </a:r>
          </a:p>
          <a:p>
            <a:pPr lvl="0"/>
            <a:r>
              <a:rPr b="1" dirty="0" lang="en-IN"/>
              <a:t>Enterprise JavaBeans (EJBs)</a:t>
            </a:r>
            <a:r>
              <a:rPr dirty="0" lang="en-IN"/>
              <a:t> </a:t>
            </a:r>
          </a:p>
          <a:p>
            <a:pPr lvl="0"/>
            <a:r>
              <a:rPr b="1" dirty="0" lang="en-IN"/>
              <a:t>Workflow Engines</a:t>
            </a:r>
            <a:r>
              <a:rPr dirty="0" lang="en-IN"/>
              <a:t> </a:t>
            </a:r>
          </a:p>
          <a:p>
            <a:pPr lvl="0"/>
            <a:r>
              <a:rPr b="1" dirty="0" lang="en-IN"/>
              <a:t>Rule Engines</a:t>
            </a:r>
            <a:endParaRPr dirty="0" lang="en-IN"/>
          </a:p>
          <a:p>
            <a:pPr indent="0" lvl="0" marL="0">
              <a:buNone/>
            </a:pPr>
            <a:endParaRPr dirty="0" lang="en-IN"/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9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1C4DA3-5308-436B-A06E-45E6770F8B1F}" type="datetime1">
              <a:rPr lang="en-US" smtClean="0"/>
              <a:t>9/1/2026</a:t>
            </a:fld>
            <a:endParaRPr lang="en-US"/>
          </a:p>
        </p:txBody>
      </p:sp>
      <p:sp>
        <p:nvSpPr>
          <p:cNvPr id="104869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9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5904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sz="3200" lang="en-US"/>
              <a:t>PATTERN-BASED Architecture For Service-Oriented Applications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96" name="Content Placeholder 2"/>
          <p:cNvSpPr>
            <a:spLocks noGrp="1"/>
          </p:cNvSpPr>
          <p:nvPr>
            <p:ph idx="1"/>
          </p:nvPr>
        </p:nvSpPr>
        <p:spPr>
          <a:xfrm>
            <a:off x="457200" y="1366684"/>
            <a:ext cx="8229600" cy="4759479"/>
          </a:xfrm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Data Access Layer</a:t>
            </a:r>
          </a:p>
          <a:p>
            <a:pPr indent="0" marL="0">
              <a:buNone/>
            </a:pPr>
            <a:r>
              <a:rPr b="1" dirty="0" lang="en-IN"/>
              <a:t>Purpose:</a:t>
            </a:r>
            <a:br>
              <a:rPr dirty="0" lang="en-IN"/>
            </a:br>
            <a:r>
              <a:rPr dirty="0" lang="en-IN"/>
              <a:t>The Data Access Layer provides controlled access to the database.</a:t>
            </a:r>
          </a:p>
          <a:p>
            <a:pPr indent="0" marL="0">
              <a:buNone/>
            </a:pPr>
            <a:r>
              <a:rPr b="1" dirty="0" lang="en-IN"/>
              <a:t>Key Responsibilities</a:t>
            </a:r>
          </a:p>
          <a:p>
            <a:pPr lvl="0"/>
            <a:r>
              <a:rPr dirty="0" lang="en-IN"/>
              <a:t>Connect to databases </a:t>
            </a:r>
          </a:p>
          <a:p>
            <a:pPr lvl="0"/>
            <a:r>
              <a:rPr dirty="0" lang="en-IN"/>
              <a:t>Execute data operations </a:t>
            </a:r>
          </a:p>
          <a:p>
            <a:pPr lvl="0"/>
            <a:r>
              <a:rPr dirty="0" lang="en-IN"/>
              <a:t>Manage persistence </a:t>
            </a:r>
          </a:p>
          <a:p>
            <a:pPr lvl="0"/>
            <a:r>
              <a:rPr dirty="0" lang="en-IN"/>
              <a:t>Isolate database-specific implementation </a:t>
            </a:r>
          </a:p>
          <a:p>
            <a:pPr lvl="0"/>
            <a:r>
              <a:rPr dirty="0" lang="en-IN"/>
              <a:t>Provide reusable data access operations </a:t>
            </a:r>
          </a:p>
          <a:p>
            <a:pPr indent="0" marL="0">
              <a:buNone/>
            </a:pPr>
            <a:r>
              <a:rPr b="1" dirty="0" lang="en-IN"/>
              <a:t>Data Access Object (DAO)</a:t>
            </a:r>
          </a:p>
          <a:p>
            <a:r>
              <a:rPr dirty="0" lang="en-IN"/>
              <a:t>The </a:t>
            </a:r>
            <a:r>
              <a:rPr b="1" dirty="0" lang="en-IN"/>
              <a:t>DAO pattern</a:t>
            </a:r>
            <a:r>
              <a:rPr dirty="0" lang="en-IN"/>
              <a:t> wraps access to persistence objects.</a:t>
            </a:r>
          </a:p>
          <a:p>
            <a:pPr indent="0" lvl="0" marL="0">
              <a:buNone/>
            </a:pPr>
            <a:endParaRPr dirty="0" lang="en-IN"/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9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1C4DA3-5308-436B-A06E-45E6770F8B1F}" type="datetime1">
              <a:rPr lang="en-US" smtClean="0"/>
              <a:t>9/1/2026</a:t>
            </a:fld>
            <a:endParaRPr lang="en-US"/>
          </a:p>
        </p:txBody>
      </p:sp>
      <p:sp>
        <p:nvSpPr>
          <p:cNvPr id="104869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69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5904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sz="3200" lang="en-US"/>
              <a:t>PATTERN-BASED Architecture For Service-Oriented Applications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01" name="Content Placeholder 2"/>
          <p:cNvSpPr>
            <a:spLocks noGrp="1"/>
          </p:cNvSpPr>
          <p:nvPr>
            <p:ph idx="1"/>
          </p:nvPr>
        </p:nvSpPr>
        <p:spPr>
          <a:xfrm>
            <a:off x="457200" y="1140542"/>
            <a:ext cx="8229600" cy="5073445"/>
          </a:xfrm>
          <a:ln>
            <a:solidFill>
              <a:schemeClr val="tx1"/>
            </a:solidFill>
          </a:ln>
        </p:spPr>
        <p:txBody>
          <a:bodyPr>
            <a:normAutofit fontScale="40000" lnSpcReduction="20000"/>
          </a:bodyPr>
          <a:p>
            <a:pPr indent="0" marL="0">
              <a:buNone/>
            </a:pPr>
            <a:r>
              <a:rPr b="1" dirty="0" sz="4500" lang="en-IN">
                <a:solidFill>
                  <a:srgbClr val="FF0000"/>
                </a:solidFill>
              </a:rPr>
              <a:t>Data Access Layer</a:t>
            </a:r>
          </a:p>
          <a:p>
            <a:pPr indent="0" marL="0">
              <a:buNone/>
            </a:pPr>
            <a:r>
              <a:rPr b="1" dirty="0" sz="4500" lang="en-IN"/>
              <a:t>Data Access Technology Options</a:t>
            </a:r>
          </a:p>
          <a:p>
            <a:r>
              <a:rPr dirty="0" sz="4500" lang="en-IN"/>
              <a:t>Three major technology options can be used:</a:t>
            </a:r>
          </a:p>
          <a:p>
            <a:pPr indent="0" marL="0">
              <a:buNone/>
            </a:pPr>
            <a:r>
              <a:rPr b="1" dirty="0" sz="4500" lang="en-IN"/>
              <a:t>1. JDBC - Java Database Connectivity</a:t>
            </a:r>
            <a:endParaRPr dirty="0" sz="4500" lang="en-IN"/>
          </a:p>
          <a:p>
            <a:pPr lvl="0"/>
            <a:r>
              <a:rPr dirty="0" sz="4500" lang="en-IN"/>
              <a:t>Direct database connectivity </a:t>
            </a:r>
          </a:p>
          <a:p>
            <a:pPr lvl="0"/>
            <a:r>
              <a:rPr dirty="0" sz="4500" lang="en-IN"/>
              <a:t>SQL-based operations </a:t>
            </a:r>
          </a:p>
          <a:p>
            <a:pPr lvl="0"/>
            <a:r>
              <a:rPr dirty="0" sz="4500" lang="en-IN"/>
              <a:t>Provides fine-grained control and Requires more manual database interaction </a:t>
            </a:r>
          </a:p>
          <a:p>
            <a:pPr indent="0" marL="0">
              <a:buNone/>
            </a:pPr>
            <a:r>
              <a:rPr b="1" dirty="0" sz="4500" lang="en-IN"/>
              <a:t>2. ORM</a:t>
            </a:r>
          </a:p>
          <a:p>
            <a:r>
              <a:rPr b="1" dirty="0" sz="4500" lang="en-IN"/>
              <a:t>Object-Relational Mapping , </a:t>
            </a:r>
            <a:r>
              <a:rPr dirty="0" sz="4500" lang="en-IN"/>
              <a:t>Example: </a:t>
            </a:r>
            <a:r>
              <a:rPr b="1" dirty="0" sz="4500" lang="en-IN"/>
              <a:t>Hibernate</a:t>
            </a:r>
            <a:endParaRPr dirty="0" sz="4500" lang="en-IN"/>
          </a:p>
          <a:p>
            <a:pPr lvl="0"/>
            <a:r>
              <a:rPr dirty="0" sz="4500" lang="en-IN"/>
              <a:t>Maps Java objects to relational database tables </a:t>
            </a:r>
          </a:p>
          <a:p>
            <a:pPr lvl="0"/>
            <a:r>
              <a:rPr dirty="0" sz="4500" lang="en-IN"/>
              <a:t>Reduces manual SQL coding </a:t>
            </a:r>
          </a:p>
          <a:p>
            <a:pPr lvl="0"/>
            <a:r>
              <a:rPr dirty="0" sz="4500" lang="en-IN"/>
              <a:t>Supports object-oriented data access </a:t>
            </a:r>
          </a:p>
          <a:p>
            <a:pPr indent="0" marL="0">
              <a:buNone/>
            </a:pPr>
            <a:r>
              <a:rPr b="1" dirty="0" sz="4500" lang="en-IN"/>
              <a:t>3. JPA - Java Persistence API</a:t>
            </a:r>
            <a:endParaRPr dirty="0" sz="4500" lang="en-IN"/>
          </a:p>
          <a:p>
            <a:pPr lvl="0"/>
            <a:r>
              <a:rPr dirty="0" sz="4500" lang="en-IN"/>
              <a:t>Standard Java persistence specification </a:t>
            </a:r>
          </a:p>
          <a:p>
            <a:pPr lvl="0"/>
            <a:r>
              <a:rPr dirty="0" sz="4500" lang="en-IN"/>
              <a:t>Provides object-relational persistence </a:t>
            </a:r>
          </a:p>
          <a:p>
            <a:pPr lvl="0"/>
            <a:r>
              <a:rPr dirty="0" sz="4500" lang="en-IN"/>
              <a:t>Can work with different persistence providers</a:t>
            </a:r>
          </a:p>
          <a:p>
            <a:pPr indent="0" lvl="0" marL="0">
              <a:buNone/>
            </a:pPr>
            <a:endParaRPr dirty="0" lang="en-IN"/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81C4DA3-5308-436B-A06E-45E6770F8B1F}" type="datetime1">
              <a:rPr lang="en-US" smtClean="0"/>
              <a:t>9/1/2026</a:t>
            </a:fld>
            <a:endParaRPr lang="en-US"/>
          </a:p>
        </p:txBody>
      </p:sp>
      <p:sp>
        <p:nvSpPr>
          <p:cNvPr id="10487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Title 1"/>
          <p:cNvSpPr>
            <a:spLocks noGrp="1"/>
          </p:cNvSpPr>
          <p:nvPr>
            <p:ph type="title"/>
          </p:nvPr>
        </p:nvSpPr>
        <p:spPr>
          <a:xfrm>
            <a:off x="560438" y="274638"/>
            <a:ext cx="8126361" cy="531607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lang="en-IN"/>
              <a:t>Java EE Architecture - Services Layer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06" name="Content Placeholder 2"/>
          <p:cNvSpPr>
            <a:spLocks noGrp="1"/>
          </p:cNvSpPr>
          <p:nvPr>
            <p:ph idx="1"/>
          </p:nvPr>
        </p:nvSpPr>
        <p:spPr>
          <a:xfrm>
            <a:off x="457200" y="1071716"/>
            <a:ext cx="8229600" cy="5054447"/>
          </a:xfrm>
          <a:ln>
            <a:solidFill>
              <a:schemeClr val="tx1"/>
            </a:solidFill>
          </a:ln>
        </p:spPr>
        <p:txBody>
          <a:bodyPr/>
          <a:p>
            <a:r>
              <a:rPr dirty="0" lang="en-US"/>
              <a:t>Service Proxy: Interface to external services</a:t>
            </a:r>
          </a:p>
          <a:p>
            <a:r>
              <a:rPr dirty="0" lang="en-US"/>
              <a:t>Service Gateway: Entry point to exposed services</a:t>
            </a:r>
          </a:p>
          <a:p>
            <a:r>
              <a:rPr dirty="0" lang="en-US"/>
              <a:t>Service Activator: For asynchronous service processing</a:t>
            </a:r>
          </a:p>
          <a:p>
            <a:r>
              <a:rPr dirty="0" lang="en-US"/>
              <a:t>Session Beans &amp; Workflow Engine used in Business Layer</a:t>
            </a:r>
          </a:p>
        </p:txBody>
      </p:sp>
      <p:sp>
        <p:nvSpPr>
          <p:cNvPr id="10487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CC57E8C-D801-4FFE-8856-1221470625C2}" type="datetime1">
              <a:rPr lang="en-US" smtClean="0"/>
              <a:t>9/1/2026</a:t>
            </a:fld>
            <a:endParaRPr lang="en-US"/>
          </a:p>
        </p:txBody>
      </p:sp>
      <p:sp>
        <p:nvSpPr>
          <p:cNvPr id="10487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"/>
          <p:cNvSpPr>
            <a:spLocks noGrp="1"/>
          </p:cNvSpPr>
          <p:nvPr>
            <p:ph type="title"/>
          </p:nvPr>
        </p:nvSpPr>
        <p:spPr>
          <a:xfrm>
            <a:off x="816076" y="274638"/>
            <a:ext cx="7870723" cy="738085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lang="en-IN"/>
              <a:t>Java EE Reference Diagram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11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dirty="0" lang="en-US"/>
              <a:t>Explains layered architecture using controller, service gateway, session facade</a:t>
            </a:r>
          </a:p>
          <a:p>
            <a:r>
              <a:rPr dirty="0" lang="en-US"/>
              <a:t>Uses ESB for integration and BPEL for orchestration</a:t>
            </a:r>
          </a:p>
          <a:p>
            <a:r>
              <a:rPr dirty="0" lang="en-US"/>
              <a:t>Includes Governance for validation and </a:t>
            </a:r>
            <a:r>
              <a:rPr dirty="0" lang="en-US" err="1"/>
              <a:t>QoS</a:t>
            </a:r>
            <a:endParaRPr dirty="0" lang="en-US"/>
          </a:p>
        </p:txBody>
      </p:sp>
      <p:sp>
        <p:nvSpPr>
          <p:cNvPr id="104871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16EA709-9A66-498A-B9BC-D33FFB370349}" type="datetime1">
              <a:rPr lang="en-US" smtClean="0"/>
              <a:t>9/1/2026</a:t>
            </a:fld>
            <a:endParaRPr lang="en-US"/>
          </a:p>
        </p:txBody>
      </p:sp>
      <p:sp>
        <p:nvSpPr>
          <p:cNvPr id="104871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1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639096" y="274638"/>
            <a:ext cx="8047703" cy="806909"/>
          </a:xfrm>
          <a:ln>
            <a:solidFill>
              <a:schemeClr val="tx1"/>
            </a:solidFill>
          </a:ln>
        </p:spPr>
        <p:txBody>
          <a:bodyPr>
            <a:noAutofit/>
          </a:bodyPr>
          <a:p>
            <a:r>
              <a:rPr dirty="0" sz="3200" lang="en-IN"/>
              <a:t>Logical Architecture - </a:t>
            </a:r>
            <a:r>
              <a:rPr dirty="0" sz="3200" lang="en-US"/>
              <a:t>Service-Oriented -Java EE Applications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A626EAE-D102-4118-8F98-1944AA3A26DB}" type="datetime1">
              <a:rPr lang="en-US" smtClean="0"/>
              <a:t>9/1/2026</a:t>
            </a:fld>
            <a:endParaRPr lang="en-US"/>
          </a:p>
        </p:txBody>
      </p:sp>
      <p:sp>
        <p:nvSpPr>
          <p:cNvPr id="10487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1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pic>
        <p:nvPicPr>
          <p:cNvPr id="2097153" name="Content Placeholder 7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39097" y="1138190"/>
            <a:ext cx="8047702" cy="5218160"/>
          </a:xfrm>
          <a:prstGeom prst="rect"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dirty="0" lang="en-US"/>
              <a:t>Logical Architecture for Java EE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20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dirty="0" lang="en-US"/>
              <a:t>Uses tools like IBM </a:t>
            </a:r>
            <a:r>
              <a:rPr dirty="0" lang="en-US" err="1"/>
              <a:t>WebSphere</a:t>
            </a:r>
            <a:r>
              <a:rPr dirty="0" lang="en-US"/>
              <a:t> ESB, Hibernate, JavaBeans</a:t>
            </a:r>
          </a:p>
          <a:p>
            <a:r>
              <a:rPr dirty="0" lang="en-US"/>
              <a:t>Supports UI with JSP/Servlets and backend with Session Beans</a:t>
            </a:r>
          </a:p>
          <a:p>
            <a:r>
              <a:rPr dirty="0" lang="en-US"/>
              <a:t>Workflow Engine integrated for rule-based execution</a:t>
            </a:r>
          </a:p>
        </p:txBody>
      </p:sp>
      <p:sp>
        <p:nvSpPr>
          <p:cNvPr id="10487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FBB4AAD-BC2E-494C-9F13-DEDF5D58CD1E}" type="datetime1">
              <a:rPr lang="en-US" smtClean="0"/>
              <a:t>9/1/2026</a:t>
            </a:fld>
            <a:endParaRPr lang="en-US"/>
          </a:p>
        </p:txBody>
      </p:sp>
      <p:sp>
        <p:nvSpPr>
          <p:cNvPr id="10487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1258528" y="274638"/>
            <a:ext cx="7428271" cy="63976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lang="en-IN"/>
              <a:t>.NET Architecture Overview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25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b="1" dirty="0" lang="en-IN"/>
              <a:t>Presentation Layer: </a:t>
            </a:r>
            <a:r>
              <a:rPr dirty="0" lang="en-IN"/>
              <a:t>MVC or MVP using ASP.NET, WCF, WF</a:t>
            </a:r>
          </a:p>
          <a:p>
            <a:r>
              <a:rPr b="1" dirty="0" lang="en-IN"/>
              <a:t>Business Layer: </a:t>
            </a:r>
            <a:r>
              <a:rPr dirty="0" lang="en-IN"/>
              <a:t>Uses Service Interface pattern</a:t>
            </a:r>
          </a:p>
          <a:p>
            <a:r>
              <a:rPr b="1" dirty="0" lang="en-IN"/>
              <a:t>Data Access: </a:t>
            </a:r>
            <a:r>
              <a:rPr dirty="0" lang="en-IN"/>
              <a:t>Implements ADO.NET, LINQ, Entity Framework</a:t>
            </a:r>
          </a:p>
          <a:p>
            <a:r>
              <a:rPr b="1" dirty="0" lang="en-IN"/>
              <a:t>Integration </a:t>
            </a:r>
            <a:r>
              <a:rPr dirty="0" lang="en-IN"/>
              <a:t>via Microsoft BizTalk ESB Toolkit</a:t>
            </a:r>
          </a:p>
        </p:txBody>
      </p:sp>
      <p:sp>
        <p:nvSpPr>
          <p:cNvPr id="104872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7837402-81FD-41C9-A218-D3AC97E9FB21}" type="datetime1">
              <a:rPr lang="en-US" smtClean="0"/>
              <a:t>9/1/2026</a:t>
            </a:fld>
            <a:endParaRPr lang="en-US"/>
          </a:p>
        </p:txBody>
      </p:sp>
      <p:sp>
        <p:nvSpPr>
          <p:cNvPr id="104872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2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9" name="Title 1"/>
          <p:cNvSpPr>
            <a:spLocks noGrp="1"/>
          </p:cNvSpPr>
          <p:nvPr>
            <p:ph type="title"/>
          </p:nvPr>
        </p:nvSpPr>
        <p:spPr>
          <a:xfrm>
            <a:off x="570270" y="274638"/>
            <a:ext cx="8116529" cy="787246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3200" lang="en-US"/>
              <a:t>Reference Model Service-Oriented -Microsoft </a:t>
            </a:r>
            <a:r>
              <a:rPr b="1" dirty="0" sz="3200" lang="en-US" err="1"/>
              <a:t>.Net</a:t>
            </a:r>
            <a:r>
              <a:rPr b="1" dirty="0" sz="3200" lang="en-US"/>
              <a:t> Applications</a:t>
            </a:r>
            <a:endParaRPr b="1" dirty="0" sz="32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3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B9119A1-6518-4E8A-8A77-5F880867920A}" type="datetime1">
              <a:rPr lang="en-US" smtClean="0"/>
              <a:t>9/1/2026</a:t>
            </a:fld>
            <a:endParaRPr lang="en-US"/>
          </a:p>
        </p:txBody>
      </p:sp>
      <p:sp>
        <p:nvSpPr>
          <p:cNvPr id="104873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3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pic>
        <p:nvPicPr>
          <p:cNvPr id="2097154" name="Content Placeholder 8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70269" y="1150374"/>
            <a:ext cx="7924801" cy="5053781"/>
          </a:xfrm>
          <a:prstGeom prst="rect"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dirty="0" lang="en-IN"/>
              <a:t>.NET Architecture - Services Layer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34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dirty="0" lang="en-US"/>
              <a:t>Service Proxy &amp; Gateway handle external interactions</a:t>
            </a:r>
          </a:p>
          <a:p>
            <a:r>
              <a:rPr dirty="0" lang="en-US" err="1"/>
              <a:t>Async</a:t>
            </a:r>
            <a:r>
              <a:rPr dirty="0" lang="en-US"/>
              <a:t> Design pattern used for messaging with ESB</a:t>
            </a:r>
          </a:p>
          <a:p>
            <a:r>
              <a:rPr dirty="0" lang="en-US"/>
              <a:t>Orchestration with BizTalk + BPEL for long-running workflows</a:t>
            </a:r>
          </a:p>
        </p:txBody>
      </p:sp>
      <p:sp>
        <p:nvSpPr>
          <p:cNvPr id="10487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DC412A5-D666-4ABE-9999-574193B04268}" type="datetime1">
              <a:rPr lang="en-US" smtClean="0"/>
              <a:t>9/1/2026</a:t>
            </a:fld>
            <a:endParaRPr lang="en-US"/>
          </a:p>
        </p:txBody>
      </p:sp>
      <p:sp>
        <p:nvSpPr>
          <p:cNvPr id="10487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dirty="0" lang="en-IN"/>
              <a:t>.NET Logical Architecture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39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dirty="0" lang="en-US"/>
              <a:t>Layers: Presentation → Business → Service → Integration → Governance</a:t>
            </a:r>
          </a:p>
          <a:p>
            <a:r>
              <a:rPr dirty="0" lang="en-US"/>
              <a:t>Supports various client applications</a:t>
            </a:r>
          </a:p>
          <a:p>
            <a:r>
              <a:rPr dirty="0" lang="en-US"/>
              <a:t>Security, transformation, protocol mediation managed at integration layer</a:t>
            </a:r>
          </a:p>
        </p:txBody>
      </p:sp>
      <p:sp>
        <p:nvSpPr>
          <p:cNvPr id="104874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9A5F896-DE2F-4BBC-B9BB-9C5EF7A1F3A0}" type="datetime1">
              <a:rPr lang="en-US" smtClean="0"/>
              <a:t>9/1/2026</a:t>
            </a:fld>
            <a:endParaRPr lang="en-US"/>
          </a:p>
        </p:txBody>
      </p:sp>
      <p:sp>
        <p:nvSpPr>
          <p:cNvPr id="104874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4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sz="2500" lang="en-US"/>
              <a:t>Logical Architecture for Service-Oriented </a:t>
            </a:r>
            <a:r>
              <a:rPr dirty="0" sz="2500" lang="en-US" err="1"/>
              <a:t>.Net</a:t>
            </a:r>
            <a:r>
              <a:rPr dirty="0" sz="2500" lang="en-US"/>
              <a:t> Applications</a:t>
            </a:r>
            <a:endParaRPr b="1" dirty="0" sz="25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4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732D378-4E1B-4247-9466-DBD05A3C0823}" type="datetime1">
              <a:rPr lang="en-US" smtClean="0"/>
              <a:t>9/1/2026</a:t>
            </a:fld>
            <a:endParaRPr lang="en-US"/>
          </a:p>
        </p:txBody>
      </p:sp>
      <p:sp>
        <p:nvSpPr>
          <p:cNvPr id="104874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4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  <p:sp>
        <p:nvSpPr>
          <p:cNvPr id="104874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IN"/>
          </a:p>
        </p:txBody>
      </p:sp>
      <p:pic>
        <p:nvPicPr>
          <p:cNvPr id="2097155" name="Picture 8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85135" y="855406"/>
            <a:ext cx="8401665" cy="5500944"/>
          </a:xfrm>
          <a:prstGeom prst="rect"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lang="en-IN"/>
              <a:t>Composite Applications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49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dirty="0" lang="en-US"/>
              <a:t>Combine multiple services into one application</a:t>
            </a:r>
          </a:p>
          <a:p>
            <a:r>
              <a:rPr dirty="0" lang="en-US"/>
              <a:t>Use orchestration or aggregation of services</a:t>
            </a:r>
          </a:p>
          <a:p>
            <a:r>
              <a:rPr dirty="0" lang="en-US"/>
              <a:t>Examples: Travel apps, workflow managers</a:t>
            </a:r>
          </a:p>
          <a:p>
            <a:r>
              <a:rPr dirty="0" lang="en-US"/>
              <a:t>Built using </a:t>
            </a:r>
            <a:r>
              <a:rPr dirty="0" lang="en-US" err="1"/>
              <a:t>mashups</a:t>
            </a:r>
            <a:r>
              <a:rPr dirty="0" lang="en-US"/>
              <a:t> or business process automation tools</a:t>
            </a:r>
          </a:p>
        </p:txBody>
      </p:sp>
      <p:sp>
        <p:nvSpPr>
          <p:cNvPr id="10487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12814F1-58CA-4A58-AD9C-4FC7D5DCAC85}" type="datetime1">
              <a:rPr lang="en-US" smtClean="0"/>
              <a:t>9/1/2026</a:t>
            </a:fld>
            <a:endParaRPr lang="en-US"/>
          </a:p>
        </p:txBody>
      </p:sp>
      <p:sp>
        <p:nvSpPr>
          <p:cNvPr id="10487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lang="en-IN"/>
              <a:t>Composite Application Requirements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54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dirty="0" lang="en-US"/>
              <a:t>Right granularity of services</a:t>
            </a:r>
          </a:p>
          <a:p>
            <a:r>
              <a:rPr dirty="0" lang="en-US"/>
              <a:t>Configurable service combinations</a:t>
            </a:r>
          </a:p>
          <a:p>
            <a:r>
              <a:rPr dirty="0" lang="en-US"/>
              <a:t>Reusable metadata repository</a:t>
            </a:r>
          </a:p>
          <a:p>
            <a:r>
              <a:rPr dirty="0" lang="en-US"/>
              <a:t>Support for dynamic service composition</a:t>
            </a:r>
          </a:p>
        </p:txBody>
      </p:sp>
      <p:sp>
        <p:nvSpPr>
          <p:cNvPr id="104875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9F29A85-1E82-41B3-A65D-6142584A0CC0}" type="datetime1">
              <a:rPr lang="en-US" smtClean="0"/>
              <a:t>9/1/2026</a:t>
            </a:fld>
            <a:endParaRPr lang="en-US"/>
          </a:p>
        </p:txBody>
      </p:sp>
      <p:sp>
        <p:nvSpPr>
          <p:cNvPr id="104875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5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sz="3400" lang="en-IN"/>
              <a:t>Composite Application Programming Model</a:t>
            </a:r>
            <a:endParaRPr b="1" dirty="0" sz="34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59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pPr indent="-514350" marL="514350">
              <a:buAutoNum type="arabicPeriod"/>
            </a:pPr>
            <a:r>
              <a:rPr dirty="0" lang="en-US"/>
              <a:t>Configuration: </a:t>
            </a:r>
            <a:r>
              <a:rPr dirty="0" lang="en-IN"/>
              <a:t>Achieved through declarative programming techniques</a:t>
            </a:r>
          </a:p>
          <a:p>
            <a:pPr indent="-514350" marL="514350">
              <a:buAutoNum type="arabicPeriod"/>
            </a:pPr>
            <a:r>
              <a:rPr dirty="0" lang="en-US"/>
              <a:t>Composition: Combine services using aggregation/orchestration</a:t>
            </a:r>
          </a:p>
          <a:p>
            <a:pPr indent="0" marL="0">
              <a:buNone/>
            </a:pPr>
            <a:r>
              <a:rPr dirty="0" lang="en-US"/>
              <a:t>3.  Customization: Enhance service capabilities without changing interface</a:t>
            </a:r>
          </a:p>
        </p:txBody>
      </p:sp>
      <p:sp>
        <p:nvSpPr>
          <p:cNvPr id="10487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B9D205A-380E-46B2-A2DC-498147F6A529}" type="datetime1">
              <a:rPr lang="en-US" smtClean="0"/>
              <a:t>9/1/2026</a:t>
            </a:fld>
            <a:endParaRPr lang="en-US"/>
          </a:p>
        </p:txBody>
      </p:sp>
      <p:sp>
        <p:nvSpPr>
          <p:cNvPr id="10487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lang="en-US"/>
              <a:t>SCA(</a:t>
            </a:r>
            <a:r>
              <a:rPr dirty="0" lang="en-IN"/>
              <a:t>Service Component Architecture)</a:t>
            </a:r>
            <a:r>
              <a:rPr dirty="0" lang="en-US"/>
              <a:t> Programming Model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6" name="Content Placeholder 3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8929" y="1600200"/>
            <a:ext cx="7317543" cy="4525963"/>
          </a:xfrm>
          <a:ln>
            <a:solidFill>
              <a:schemeClr val="tx1"/>
            </a:solidFill>
          </a:ln>
        </p:spPr>
      </p:pic>
      <p:sp>
        <p:nvSpPr>
          <p:cNvPr id="10487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28889A7-806C-4AB1-BAD2-004F32A53BFB}" type="datetime1">
              <a:rPr lang="en-US" smtClean="0"/>
              <a:t>9/1/2026</a:t>
            </a:fld>
            <a:endParaRPr lang="en-US"/>
          </a:p>
        </p:txBody>
      </p:sp>
      <p:sp>
        <p:nvSpPr>
          <p:cNvPr id="10487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7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dirty="0" lang="en-IN"/>
              <a:t>Service Component Architecture (SCA)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68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pPr indent="0" marL="0">
              <a:buNone/>
            </a:pPr>
            <a:r>
              <a:rPr dirty="0" lang="en-IN"/>
              <a:t>• SCA is a model for assembling services without tight coupling</a:t>
            </a:r>
          </a:p>
          <a:p>
            <a:pPr indent="0" marL="0">
              <a:buNone/>
            </a:pPr>
            <a:r>
              <a:rPr dirty="0" lang="en-IN"/>
              <a:t>• Uses Service Data Object (SDO) for uniform business data access</a:t>
            </a:r>
          </a:p>
          <a:p>
            <a:pPr indent="0" marL="0">
              <a:buNone/>
            </a:pPr>
            <a:r>
              <a:rPr dirty="0" lang="en-IN"/>
              <a:t>• Core unit: Module deployed in SCA runtime (e.g., Apache Tuscany)</a:t>
            </a:r>
          </a:p>
          <a:p>
            <a:pPr indent="0" marL="0">
              <a:buNone/>
            </a:pPr>
            <a:r>
              <a:rPr dirty="0" lang="en-IN"/>
              <a:t>• Supports BPEL, service registry, references, and imports/exports</a:t>
            </a:r>
          </a:p>
        </p:txBody>
      </p:sp>
      <p:sp>
        <p:nvSpPr>
          <p:cNvPr id="10487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582A94A-71B2-4271-A06D-0CDB063B5796}" type="datetime1">
              <a:rPr lang="en-US" smtClean="0"/>
              <a:t>9/1/2026</a:t>
            </a:fld>
            <a:endParaRPr lang="en-US"/>
          </a:p>
        </p:txBody>
      </p:sp>
      <p:sp>
        <p:nvSpPr>
          <p:cNvPr id="10487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lang="en-IN"/>
              <a:t>SCA Runtime Characteristics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7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pPr indent="0" marL="0">
              <a:buNone/>
            </a:pPr>
            <a:r>
              <a:rPr dirty="0" lang="en-US"/>
              <a:t>• Modules define services and support </a:t>
            </a:r>
            <a:r>
              <a:rPr dirty="0" lang="en-US" err="1"/>
              <a:t>async</a:t>
            </a:r>
            <a:r>
              <a:rPr dirty="0" lang="en-US"/>
              <a:t>/sync invocation</a:t>
            </a:r>
          </a:p>
          <a:p>
            <a:pPr indent="0" marL="0">
              <a:buNone/>
            </a:pPr>
            <a:r>
              <a:rPr dirty="0" lang="en-US"/>
              <a:t>• Can use BPEL, Spring Beans, EJBs, Adapters, etc.</a:t>
            </a:r>
          </a:p>
          <a:p>
            <a:pPr indent="0" marL="0">
              <a:buNone/>
            </a:pPr>
            <a:r>
              <a:rPr dirty="0" lang="en-US"/>
              <a:t>• Components can be imported/exported declaratively</a:t>
            </a:r>
          </a:p>
          <a:p>
            <a:pPr indent="0" marL="0">
              <a:buNone/>
            </a:pPr>
            <a:r>
              <a:rPr dirty="0" lang="en-US"/>
              <a:t>• Enables implementation of composite applications</a:t>
            </a:r>
          </a:p>
        </p:txBody>
      </p:sp>
      <p:sp>
        <p:nvSpPr>
          <p:cNvPr id="104877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BBBB528-D52D-4966-BEA2-404388EF4B50}" type="datetime1">
              <a:rPr lang="en-US" smtClean="0"/>
              <a:t>9/1/2026</a:t>
            </a:fld>
            <a:endParaRPr lang="en-US"/>
          </a:p>
        </p:txBody>
      </p:sp>
      <p:sp>
        <p:nvSpPr>
          <p:cNvPr id="104877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7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7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SOAD</a:t>
            </a:r>
          </a:p>
        </p:txBody>
      </p:sp>
      <p:sp>
        <p:nvSpPr>
          <p:cNvPr id="1048778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systematic methodology to identify and design services.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Ensure business–IT alignment by mapping business capabilities to services.</a:t>
            </a: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Deliver contracts, schemas, and policies that form the foundation for implementation.</a:t>
            </a: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Support governance, reuse, interoperability, and non-functional requirements.</a:t>
            </a:r>
          </a:p>
          <a:p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0A4BFA8-23D6-4567-B092-F70736B18D9F}" type="datetime1">
              <a:rPr lang="en-US" smtClean="0"/>
              <a:t>9/1/2026</a:t>
            </a:fld>
            <a:endParaRPr lang="en-US"/>
          </a:p>
        </p:txBody>
      </p:sp>
      <p:sp>
        <p:nvSpPr>
          <p:cNvPr id="10487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Title 1"/>
          <p:cNvSpPr>
            <a:spLocks noGrp="1"/>
          </p:cNvSpPr>
          <p:nvPr>
            <p:ph type="title"/>
          </p:nvPr>
        </p:nvSpPr>
        <p:spPr>
          <a:xfrm>
            <a:off x="383458" y="274638"/>
            <a:ext cx="8303341" cy="856072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sz="34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Models</a:t>
            </a:r>
          </a:p>
        </p:txBody>
      </p:sp>
      <p:sp>
        <p:nvSpPr>
          <p:cNvPr id="1048783" name="Content Placeholder 2"/>
          <p:cNvSpPr>
            <a:spLocks noGrp="1"/>
          </p:cNvSpPr>
          <p:nvPr>
            <p:ph idx="1"/>
          </p:nvPr>
        </p:nvSpPr>
        <p:spPr>
          <a:xfrm>
            <a:off x="457200" y="1347018"/>
            <a:ext cx="8229600" cy="4779145"/>
          </a:xfrm>
          <a:ln>
            <a:solidFill>
              <a:schemeClr val="tx1"/>
            </a:solidFill>
          </a:ln>
        </p:spPr>
        <p:txBody>
          <a:bodyPr>
            <a:normAutofit fontScale="92500"/>
          </a:bodyPr>
          <a:p>
            <a:r>
              <a:rPr dirty="0" lang="en-IN"/>
              <a:t>Software application design involves identifying and defining many elements, such as:</a:t>
            </a:r>
          </a:p>
          <a:p>
            <a:pPr indent="0" lvl="0" marL="0">
              <a:buNone/>
            </a:pPr>
            <a:r>
              <a:rPr dirty="0" lang="en-IN"/>
              <a:t>	-Classes , Objects </a:t>
            </a:r>
          </a:p>
          <a:p>
            <a:pPr indent="0" lvl="0" marL="0">
              <a:buNone/>
            </a:pPr>
            <a:r>
              <a:rPr dirty="0" lang="en-IN"/>
              <a:t>	-Components , Interfaces </a:t>
            </a:r>
          </a:p>
          <a:p>
            <a:pPr indent="0" lvl="0" marL="0">
              <a:buNone/>
            </a:pPr>
            <a:r>
              <a:rPr dirty="0" lang="en-IN"/>
              <a:t>	-Activities , Services </a:t>
            </a:r>
          </a:p>
          <a:p>
            <a:pPr indent="0" lvl="0" marL="0">
              <a:buNone/>
            </a:pPr>
            <a:r>
              <a:rPr dirty="0" lang="en-IN"/>
              <a:t>	-Interactions , Deployment elements </a:t>
            </a:r>
          </a:p>
          <a:p>
            <a:r>
              <a:rPr dirty="0" lang="en-IN"/>
              <a:t>A </a:t>
            </a:r>
            <a:r>
              <a:rPr b="1" dirty="0" lang="en-IN"/>
              <a:t>model</a:t>
            </a:r>
            <a:r>
              <a:rPr dirty="0" lang="en-IN"/>
              <a:t> provides a visual representation of these elements and makes the overall design easier to understand.</a:t>
            </a: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AC8D9F-8341-4090-8785-46568D2EA85D}" type="datetime1">
              <a:rPr lang="en-US" smtClean="0"/>
              <a:t>9/1/2026</a:t>
            </a:fld>
            <a:endParaRPr lang="en-US"/>
          </a:p>
        </p:txBody>
      </p:sp>
      <p:sp>
        <p:nvSpPr>
          <p:cNvPr id="104878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Title 1"/>
          <p:cNvSpPr>
            <a:spLocks noGrp="1"/>
          </p:cNvSpPr>
          <p:nvPr>
            <p:ph type="title"/>
          </p:nvPr>
        </p:nvSpPr>
        <p:spPr>
          <a:xfrm>
            <a:off x="560438" y="274638"/>
            <a:ext cx="8126361" cy="60043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34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Models</a:t>
            </a:r>
          </a:p>
        </p:txBody>
      </p:sp>
      <p:sp>
        <p:nvSpPr>
          <p:cNvPr id="1048788" name="Content Placeholder 2"/>
          <p:cNvSpPr>
            <a:spLocks noGrp="1"/>
          </p:cNvSpPr>
          <p:nvPr>
            <p:ph idx="1"/>
          </p:nvPr>
        </p:nvSpPr>
        <p:spPr>
          <a:xfrm>
            <a:off x="457200" y="1012724"/>
            <a:ext cx="8229600" cy="5113440"/>
          </a:xfrm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p>
            <a:r>
              <a:rPr b="1" dirty="0" lang="en-IN"/>
              <a:t>A model is a pictorial representation of a specific kind of elements based on an established notation.</a:t>
            </a:r>
            <a:endParaRPr dirty="0" lang="en-IN"/>
          </a:p>
          <a:p>
            <a:pPr indent="0" marL="0">
              <a:buNone/>
            </a:pPr>
            <a:r>
              <a:rPr dirty="0" lang="en-IN"/>
              <a:t>	-A model helps designers to:</a:t>
            </a:r>
          </a:p>
          <a:p>
            <a:pPr indent="0" lvl="0" marL="0">
              <a:buNone/>
            </a:pPr>
            <a:r>
              <a:rPr dirty="0" lang="en-IN"/>
              <a:t>	-Visualize the software structure </a:t>
            </a:r>
          </a:p>
          <a:p>
            <a:pPr indent="0" lvl="0" marL="0">
              <a:buNone/>
            </a:pPr>
            <a:r>
              <a:rPr dirty="0" lang="en-IN"/>
              <a:t>	-Represent system </a:t>
            </a:r>
            <a:r>
              <a:rPr dirty="0" lang="en-IN" err="1"/>
              <a:t>behavior</a:t>
            </a:r>
            <a:r>
              <a:rPr dirty="0" lang="en-IN"/>
              <a:t> </a:t>
            </a:r>
          </a:p>
          <a:p>
            <a:pPr indent="0" lvl="0" marL="0">
              <a:buNone/>
            </a:pPr>
            <a:r>
              <a:rPr dirty="0" lang="en-IN"/>
              <a:t>	-Understand relationships between elements </a:t>
            </a:r>
          </a:p>
          <a:p>
            <a:pPr indent="0" lvl="0" marL="0">
              <a:buNone/>
            </a:pPr>
            <a:r>
              <a:rPr dirty="0" lang="en-IN"/>
              <a:t>	-Communicate design decisions </a:t>
            </a:r>
          </a:p>
          <a:p>
            <a:pPr indent="0" lvl="0" marL="0">
              <a:buNone/>
            </a:pPr>
            <a:r>
              <a:rPr dirty="0" lang="en-IN"/>
              <a:t>	-Identify design problems early </a:t>
            </a:r>
          </a:p>
          <a:p>
            <a:pPr indent="0" lvl="0" marL="0">
              <a:buNone/>
            </a:pPr>
            <a:r>
              <a:rPr dirty="0" lang="en-IN"/>
              <a:t>	-0Document the software architecture </a:t>
            </a:r>
          </a:p>
          <a:p>
            <a:r>
              <a:rPr b="1" dirty="0" lang="en-IN"/>
              <a:t>Example:</a:t>
            </a:r>
            <a:br>
              <a:rPr dirty="0" lang="en-IN"/>
            </a:br>
            <a:r>
              <a:rPr dirty="0" lang="en-IN"/>
              <a:t>A class diagram represents classes and their relationships in a software system.</a:t>
            </a: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AC8D9F-8341-4090-8785-46568D2EA85D}" type="datetime1">
              <a:rPr lang="en-US" smtClean="0"/>
              <a:t>9/1/2026</a:t>
            </a:fld>
            <a:endParaRPr lang="en-US"/>
          </a:p>
        </p:txBody>
      </p:sp>
      <p:sp>
        <p:nvSpPr>
          <p:cNvPr id="10487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Title 1"/>
          <p:cNvSpPr>
            <a:spLocks noGrp="1"/>
          </p:cNvSpPr>
          <p:nvPr>
            <p:ph type="title"/>
          </p:nvPr>
        </p:nvSpPr>
        <p:spPr>
          <a:xfrm>
            <a:off x="560438" y="274638"/>
            <a:ext cx="8126361" cy="60043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34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Models</a:t>
            </a:r>
          </a:p>
        </p:txBody>
      </p:sp>
      <p:sp>
        <p:nvSpPr>
          <p:cNvPr id="1048793" name="Content Placeholder 2"/>
          <p:cNvSpPr>
            <a:spLocks noGrp="1"/>
          </p:cNvSpPr>
          <p:nvPr>
            <p:ph idx="1"/>
          </p:nvPr>
        </p:nvSpPr>
        <p:spPr>
          <a:xfrm>
            <a:off x="457200" y="1012724"/>
            <a:ext cx="8229600" cy="5113440"/>
          </a:xfrm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p>
            <a:pPr indent="0" marL="0">
              <a:buNone/>
            </a:pPr>
            <a:r>
              <a:rPr b="1" dirty="0" lang="en-IN"/>
              <a:t>Design Model</a:t>
            </a:r>
          </a:p>
          <a:p>
            <a:r>
              <a:rPr dirty="0" lang="en-IN"/>
              <a:t>When a model represents the </a:t>
            </a:r>
            <a:r>
              <a:rPr b="1" dirty="0" lang="en-IN"/>
              <a:t>relationships among design elements</a:t>
            </a:r>
          </a:p>
          <a:p>
            <a:pPr indent="0" marL="0">
              <a:buNone/>
            </a:pPr>
            <a:r>
              <a:rPr b="1" dirty="0" lang="en-IN"/>
              <a:t>A design model provides a visual view of:</a:t>
            </a:r>
          </a:p>
          <a:p>
            <a:pPr lvl="0"/>
            <a:r>
              <a:rPr dirty="0" lang="en-IN"/>
              <a:t>System structure </a:t>
            </a:r>
          </a:p>
          <a:p>
            <a:pPr lvl="0"/>
            <a:r>
              <a:rPr dirty="0" lang="en-IN"/>
              <a:t>System </a:t>
            </a:r>
            <a:r>
              <a:rPr dirty="0" lang="en-IN" err="1"/>
              <a:t>behavior</a:t>
            </a:r>
            <a:r>
              <a:rPr dirty="0" lang="en-IN"/>
              <a:t> </a:t>
            </a:r>
          </a:p>
          <a:p>
            <a:pPr lvl="0"/>
            <a:r>
              <a:rPr dirty="0" lang="en-IN"/>
              <a:t>Component relationships </a:t>
            </a:r>
          </a:p>
          <a:p>
            <a:pPr lvl="0"/>
            <a:r>
              <a:rPr dirty="0" lang="en-IN"/>
              <a:t>Object interactions </a:t>
            </a:r>
          </a:p>
          <a:p>
            <a:pPr lvl="0"/>
            <a:r>
              <a:rPr dirty="0" lang="en-IN"/>
              <a:t>Dependencies between elements </a:t>
            </a:r>
          </a:p>
          <a:p>
            <a:pPr indent="0" marL="0">
              <a:buNone/>
            </a:pPr>
            <a:r>
              <a:rPr b="1" dirty="0" lang="en-IN"/>
              <a:t>Purpose:</a:t>
            </a:r>
            <a:endParaRPr dirty="0" lang="en-IN"/>
          </a:p>
          <a:p>
            <a:r>
              <a:rPr dirty="0" lang="en-IN"/>
              <a:t>Transform complex design information into an understandable visual representation.</a:t>
            </a: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AC8D9F-8341-4090-8785-46568D2EA85D}" type="datetime1">
              <a:rPr lang="en-US" smtClean="0"/>
              <a:t>9/1/2026</a:t>
            </a:fld>
            <a:endParaRPr lang="en-US"/>
          </a:p>
        </p:txBody>
      </p:sp>
      <p:sp>
        <p:nvSpPr>
          <p:cNvPr id="10487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7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Title 1"/>
          <p:cNvSpPr>
            <a:spLocks noGrp="1"/>
          </p:cNvSpPr>
          <p:nvPr>
            <p:ph type="title"/>
          </p:nvPr>
        </p:nvSpPr>
        <p:spPr>
          <a:xfrm>
            <a:off x="560438" y="274638"/>
            <a:ext cx="8126361" cy="60043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34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Models</a:t>
            </a:r>
          </a:p>
        </p:txBody>
      </p:sp>
      <p:sp>
        <p:nvSpPr>
          <p:cNvPr id="1048798" name="Content Placeholder 2"/>
          <p:cNvSpPr>
            <a:spLocks noGrp="1"/>
          </p:cNvSpPr>
          <p:nvPr>
            <p:ph idx="1"/>
          </p:nvPr>
        </p:nvSpPr>
        <p:spPr>
          <a:xfrm>
            <a:off x="457200" y="1012724"/>
            <a:ext cx="8229600" cy="5113440"/>
          </a:xfrm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p>
            <a:pPr indent="0" marL="0">
              <a:buNone/>
            </a:pPr>
            <a:r>
              <a:rPr b="1" dirty="0" lang="en-IN"/>
              <a:t>UML: Unified </a:t>
            </a:r>
            <a:r>
              <a:rPr b="1" dirty="0" lang="en-IN" err="1"/>
              <a:t>Modeling</a:t>
            </a:r>
            <a:r>
              <a:rPr b="1" dirty="0" lang="en-IN"/>
              <a:t> Language</a:t>
            </a:r>
          </a:p>
          <a:p>
            <a:r>
              <a:rPr b="1" dirty="0" lang="en-IN"/>
              <a:t>Unified </a:t>
            </a:r>
            <a:r>
              <a:rPr b="1" dirty="0" lang="en-IN" err="1"/>
              <a:t>Modeling</a:t>
            </a:r>
            <a:r>
              <a:rPr b="1" dirty="0" lang="en-IN"/>
              <a:t> Language (UML)</a:t>
            </a:r>
            <a:r>
              <a:rPr dirty="0" lang="en-IN"/>
              <a:t> is a widely accepted </a:t>
            </a:r>
            <a:r>
              <a:rPr dirty="0" lang="en-IN" err="1"/>
              <a:t>modeling</a:t>
            </a:r>
            <a:r>
              <a:rPr dirty="0" lang="en-IN"/>
              <a:t> notation for software design.</a:t>
            </a:r>
          </a:p>
          <a:p>
            <a:pPr lvl="0"/>
            <a:r>
              <a:rPr dirty="0" lang="en-IN"/>
              <a:t>Developed and standardized through the </a:t>
            </a:r>
            <a:r>
              <a:rPr b="1" dirty="0" lang="en-IN"/>
              <a:t>Object Management Group (OMG)</a:t>
            </a:r>
            <a:r>
              <a:rPr dirty="0" lang="en-IN"/>
              <a:t> </a:t>
            </a:r>
          </a:p>
          <a:p>
            <a:pPr lvl="0"/>
            <a:r>
              <a:rPr dirty="0" lang="en-IN"/>
              <a:t>Supported by many software </a:t>
            </a:r>
            <a:r>
              <a:rPr dirty="0" lang="en-IN" err="1"/>
              <a:t>modeling</a:t>
            </a:r>
            <a:r>
              <a:rPr dirty="0" lang="en-IN"/>
              <a:t> tools </a:t>
            </a:r>
          </a:p>
          <a:p>
            <a:pPr lvl="0"/>
            <a:r>
              <a:rPr dirty="0" lang="en-IN"/>
              <a:t>Provides standardized graphical notation </a:t>
            </a:r>
          </a:p>
          <a:p>
            <a:pPr lvl="0"/>
            <a:r>
              <a:rPr dirty="0" lang="en-IN"/>
              <a:t>Used to represent structure, </a:t>
            </a:r>
            <a:r>
              <a:rPr dirty="0" lang="en-IN" err="1"/>
              <a:t>behavior</a:t>
            </a:r>
            <a:r>
              <a:rPr dirty="0" lang="en-IN"/>
              <a:t> and interactions </a:t>
            </a:r>
          </a:p>
          <a:p>
            <a:r>
              <a:rPr dirty="0" lang="en-IN"/>
              <a:t>UML helps developers, architects and stakeholders communicate software design using a common visual language.</a:t>
            </a: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7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AC8D9F-8341-4090-8785-46568D2EA85D}" type="datetime1">
              <a:rPr lang="en-US" smtClean="0"/>
              <a:t>9/1/2026</a:t>
            </a:fld>
            <a:endParaRPr lang="en-US"/>
          </a:p>
        </p:txBody>
      </p:sp>
      <p:sp>
        <p:nvSpPr>
          <p:cNvPr id="10488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Title 1"/>
          <p:cNvSpPr>
            <a:spLocks noGrp="1"/>
          </p:cNvSpPr>
          <p:nvPr>
            <p:ph type="title"/>
          </p:nvPr>
        </p:nvSpPr>
        <p:spPr>
          <a:xfrm>
            <a:off x="560438" y="274638"/>
            <a:ext cx="8126361" cy="60043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34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Models</a:t>
            </a:r>
          </a:p>
        </p:txBody>
      </p:sp>
      <p:sp>
        <p:nvSpPr>
          <p:cNvPr id="1048803" name="Content Placeholder 2"/>
          <p:cNvSpPr>
            <a:spLocks noGrp="1"/>
          </p:cNvSpPr>
          <p:nvPr>
            <p:ph idx="1"/>
          </p:nvPr>
        </p:nvSpPr>
        <p:spPr>
          <a:xfrm>
            <a:off x="457200" y="1012724"/>
            <a:ext cx="8229600" cy="5113440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p>
            <a:pPr indent="0" marL="0">
              <a:buNone/>
            </a:pPr>
            <a:r>
              <a:rPr b="1" dirty="0" lang="en-IN"/>
              <a:t>The UML 2.0 specification</a:t>
            </a:r>
            <a:r>
              <a:rPr dirty="0" lang="en-IN"/>
              <a:t>, describes thirteen types of diagrams under three categories: </a:t>
            </a:r>
          </a:p>
          <a:p>
            <a:pPr indent="-514350" marL="514350">
              <a:buAutoNum type="arabicPeriod"/>
            </a:pPr>
            <a:r>
              <a:rPr b="1" dirty="0" lang="en-IN"/>
              <a:t>Structure diagrams: </a:t>
            </a:r>
            <a:r>
              <a:rPr dirty="0" lang="en-IN"/>
              <a:t>class diagram, object diagram, component diagram, composite structure diagram, package diagram and deployment diagram. </a:t>
            </a:r>
          </a:p>
          <a:p>
            <a:pPr indent="-514350" marL="514350">
              <a:buAutoNum type="arabicPeriod"/>
            </a:pPr>
            <a:r>
              <a:rPr b="1" dirty="0" lang="en-IN" err="1"/>
              <a:t>Behavior</a:t>
            </a:r>
            <a:r>
              <a:rPr b="1" dirty="0" lang="en-IN"/>
              <a:t> diagrams: </a:t>
            </a:r>
            <a:r>
              <a:rPr dirty="0" lang="en-IN"/>
              <a:t>use case diagram, activity diagram and state machine diagram. </a:t>
            </a:r>
          </a:p>
          <a:p>
            <a:pPr indent="-514350" marL="514350">
              <a:buAutoNum type="arabicPeriod"/>
            </a:pPr>
            <a:r>
              <a:rPr b="1" dirty="0" lang="en-IN"/>
              <a:t>Interaction diagrams: </a:t>
            </a:r>
            <a:r>
              <a:rPr dirty="0" lang="en-IN"/>
              <a:t>sequence diagram, communication diagram, timing diagram and interaction overview diagram.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AC8D9F-8341-4090-8785-46568D2EA85D}" type="datetime1">
              <a:rPr lang="en-US" smtClean="0"/>
              <a:t>9/1/2026</a:t>
            </a:fld>
            <a:endParaRPr lang="en-US"/>
          </a:p>
        </p:txBody>
      </p:sp>
      <p:sp>
        <p:nvSpPr>
          <p:cNvPr id="10488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Title 1"/>
          <p:cNvSpPr>
            <a:spLocks noGrp="1"/>
          </p:cNvSpPr>
          <p:nvPr>
            <p:ph type="title"/>
          </p:nvPr>
        </p:nvSpPr>
        <p:spPr>
          <a:xfrm>
            <a:off x="560438" y="274638"/>
            <a:ext cx="8126361" cy="60043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34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Models</a:t>
            </a:r>
          </a:p>
        </p:txBody>
      </p:sp>
      <p:sp>
        <p:nvSpPr>
          <p:cNvPr id="1048808" name="Content Placeholder 2"/>
          <p:cNvSpPr>
            <a:spLocks noGrp="1"/>
          </p:cNvSpPr>
          <p:nvPr>
            <p:ph idx="1"/>
          </p:nvPr>
        </p:nvSpPr>
        <p:spPr>
          <a:xfrm>
            <a:off x="457200" y="1012724"/>
            <a:ext cx="8229600" cy="5113440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p>
            <a:pPr indent="0" marL="0">
              <a:buNone/>
            </a:pPr>
            <a:r>
              <a:rPr b="1" dirty="0" lang="en-IN"/>
              <a:t>Commonly Used Design Diagrams</a:t>
            </a:r>
          </a:p>
          <a:p>
            <a:pPr indent="0" marL="0">
              <a:buNone/>
            </a:pPr>
            <a:r>
              <a:rPr dirty="0" lang="en-IN"/>
              <a:t>Although UML provides 13 diagram types, some are particularly useful for software application design:</a:t>
            </a:r>
          </a:p>
          <a:p>
            <a:pPr indent="0" marL="0">
              <a:buNone/>
            </a:pPr>
            <a:r>
              <a:rPr b="1" dirty="0" lang="en-IN"/>
              <a:t>1. Class Diagram</a:t>
            </a:r>
          </a:p>
          <a:p>
            <a:pPr indent="0" marL="0">
              <a:buNone/>
            </a:pPr>
            <a:r>
              <a:rPr dirty="0" lang="en-IN"/>
              <a:t>Represents:</a:t>
            </a:r>
          </a:p>
          <a:p>
            <a:pPr lvl="0"/>
            <a:r>
              <a:rPr dirty="0" lang="en-IN"/>
              <a:t>Classes , Attributes , Operations, Relationships </a:t>
            </a:r>
          </a:p>
          <a:p>
            <a:endParaRPr b="1" dirty="0" lang="en-IN"/>
          </a:p>
          <a:p>
            <a:pPr indent="0" marL="0">
              <a:buNone/>
            </a:pPr>
            <a:r>
              <a:rPr b="1" dirty="0" lang="en-IN"/>
              <a:t>2. Activity Diagram</a:t>
            </a:r>
          </a:p>
          <a:p>
            <a:pPr indent="0" marL="0">
              <a:buNone/>
            </a:pPr>
            <a:r>
              <a:rPr dirty="0" lang="en-IN"/>
              <a:t>Represents:</a:t>
            </a:r>
          </a:p>
          <a:p>
            <a:pPr lvl="0"/>
            <a:r>
              <a:rPr dirty="0" lang="en-IN"/>
              <a:t>Workflow ,Activities , Decisions , Parallel processes </a:t>
            </a:r>
          </a:p>
          <a:p>
            <a:endParaRPr b="1" dirty="0" lang="en-IN"/>
          </a:p>
          <a:p>
            <a:pPr indent="0" marL="0">
              <a:buNone/>
            </a:pPr>
            <a:r>
              <a:rPr b="1" dirty="0" lang="en-IN"/>
              <a:t>3. Sequence Diagram</a:t>
            </a:r>
          </a:p>
          <a:p>
            <a:pPr indent="0" marL="0">
              <a:buNone/>
            </a:pPr>
            <a:r>
              <a:rPr dirty="0" lang="en-IN"/>
              <a:t>Represents:</a:t>
            </a:r>
          </a:p>
          <a:p>
            <a:pPr lvl="0"/>
            <a:r>
              <a:rPr dirty="0" lang="en-IN"/>
              <a:t>Objects , Messages , Message sequence ,Time ordering </a:t>
            </a:r>
          </a:p>
          <a:p>
            <a:endParaRPr b="1" dirty="0" lang="en-IN"/>
          </a:p>
          <a:p>
            <a:pPr indent="0" marL="0">
              <a:buNone/>
            </a:pPr>
            <a:r>
              <a:rPr b="1" dirty="0" lang="en-IN"/>
              <a:t>4. Communication Diagram</a:t>
            </a:r>
          </a:p>
          <a:p>
            <a:pPr indent="0" marL="0">
              <a:buNone/>
            </a:pPr>
            <a:r>
              <a:rPr dirty="0" lang="en-IN"/>
              <a:t>Represents:</a:t>
            </a:r>
          </a:p>
          <a:p>
            <a:pPr lvl="0"/>
            <a:r>
              <a:rPr dirty="0" lang="en-IN"/>
              <a:t>Objects , Relationships , Messages exchanged between objects </a:t>
            </a: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AC8D9F-8341-4090-8785-46568D2EA85D}" type="datetime1">
              <a:rPr lang="en-US" smtClean="0"/>
              <a:t>9/1/2026</a:t>
            </a:fld>
            <a:endParaRPr lang="en-US"/>
          </a:p>
        </p:txBody>
      </p:sp>
      <p:sp>
        <p:nvSpPr>
          <p:cNvPr id="10488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Title 1"/>
          <p:cNvSpPr>
            <a:spLocks noGrp="1"/>
          </p:cNvSpPr>
          <p:nvPr>
            <p:ph type="title"/>
          </p:nvPr>
        </p:nvSpPr>
        <p:spPr>
          <a:xfrm>
            <a:off x="560438" y="274638"/>
            <a:ext cx="8126361" cy="60043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34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Need for Models</a:t>
            </a:r>
          </a:p>
        </p:txBody>
      </p:sp>
      <p:sp>
        <p:nvSpPr>
          <p:cNvPr id="1048813" name="Content Placeholder 2"/>
          <p:cNvSpPr>
            <a:spLocks noGrp="1"/>
          </p:cNvSpPr>
          <p:nvPr>
            <p:ph idx="1"/>
          </p:nvPr>
        </p:nvSpPr>
        <p:spPr>
          <a:xfrm>
            <a:off x="457200" y="1012724"/>
            <a:ext cx="8229600" cy="5113440"/>
          </a:xfrm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p>
            <a:pPr indent="0" marL="0">
              <a:buNone/>
            </a:pPr>
            <a:r>
              <a:rPr b="1" dirty="0" lang="en-IN"/>
              <a:t>UML Profiles for Software Services</a:t>
            </a:r>
          </a:p>
          <a:p>
            <a:r>
              <a:rPr dirty="0" lang="en-IN"/>
              <a:t>Two noteworthy profiles for service </a:t>
            </a:r>
            <a:r>
              <a:rPr dirty="0" lang="en-IN" err="1"/>
              <a:t>modeling</a:t>
            </a:r>
            <a:r>
              <a:rPr dirty="0" lang="en-IN"/>
              <a:t> are:</a:t>
            </a:r>
          </a:p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1. UML 2 Profile for Software Services</a:t>
            </a:r>
          </a:p>
          <a:p>
            <a:pPr lvl="0"/>
            <a:r>
              <a:rPr dirty="0" lang="en-IN"/>
              <a:t>Extends UML concepts for software service </a:t>
            </a:r>
            <a:r>
              <a:rPr dirty="0" lang="en-IN" err="1"/>
              <a:t>modeling</a:t>
            </a:r>
            <a:r>
              <a:rPr dirty="0" lang="en-IN"/>
              <a:t> </a:t>
            </a:r>
          </a:p>
          <a:p>
            <a:pPr lvl="0"/>
            <a:r>
              <a:rPr dirty="0" lang="en-IN"/>
              <a:t>Helps represent service-oriented application designs </a:t>
            </a:r>
          </a:p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2. </a:t>
            </a:r>
            <a:r>
              <a:rPr b="1" dirty="0" lang="en-IN" err="1">
                <a:solidFill>
                  <a:srgbClr val="FF0000"/>
                </a:solidFill>
              </a:rPr>
              <a:t>SoaML</a:t>
            </a:r>
            <a:r>
              <a:rPr b="1" dirty="0" lang="en-IN">
                <a:solidFill>
                  <a:srgbClr val="FF0000"/>
                </a:solidFill>
              </a:rPr>
              <a:t> Profile</a:t>
            </a:r>
          </a:p>
          <a:p>
            <a:r>
              <a:rPr b="1" dirty="0" lang="en-IN"/>
              <a:t>Service-Oriented Architecture </a:t>
            </a:r>
            <a:r>
              <a:rPr b="1" dirty="0" lang="en-IN" err="1"/>
              <a:t>Modeling</a:t>
            </a:r>
            <a:r>
              <a:rPr b="1" dirty="0" lang="en-IN"/>
              <a:t> Language (</a:t>
            </a:r>
            <a:r>
              <a:rPr b="1" dirty="0" lang="en-IN" err="1"/>
              <a:t>SoaML</a:t>
            </a:r>
            <a:r>
              <a:rPr b="1" dirty="0" lang="en-IN"/>
              <a:t>)</a:t>
            </a:r>
            <a:endParaRPr dirty="0" lang="en-IN"/>
          </a:p>
          <a:p>
            <a:pPr lvl="0"/>
            <a:r>
              <a:rPr dirty="0" lang="en-IN"/>
              <a:t>Developed by the </a:t>
            </a:r>
            <a:r>
              <a:rPr b="1" dirty="0" lang="en-IN"/>
              <a:t>Object Management Group (OMG)</a:t>
            </a:r>
            <a:r>
              <a:rPr dirty="0" lang="en-IN"/>
              <a:t> </a:t>
            </a:r>
          </a:p>
          <a:p>
            <a:pPr lvl="0"/>
            <a:r>
              <a:rPr dirty="0" lang="en-IN"/>
              <a:t>Provides </a:t>
            </a:r>
            <a:r>
              <a:rPr dirty="0" lang="en-IN" err="1"/>
              <a:t>modeling</a:t>
            </a:r>
            <a:r>
              <a:rPr dirty="0" lang="en-IN"/>
              <a:t> concepts specifically for SOA </a:t>
            </a:r>
          </a:p>
          <a:p>
            <a:pPr lvl="0"/>
            <a:r>
              <a:rPr dirty="0" lang="en-IN"/>
              <a:t>Supports representation of services and service interactions</a:t>
            </a: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AC8D9F-8341-4090-8785-46568D2EA85D}" type="datetime1">
              <a:rPr lang="en-US" smtClean="0"/>
              <a:t>9/1/2026</a:t>
            </a:fld>
            <a:endParaRPr lang="en-US"/>
          </a:p>
        </p:txBody>
      </p:sp>
      <p:sp>
        <p:nvSpPr>
          <p:cNvPr id="10488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Title 1"/>
          <p:cNvSpPr>
            <a:spLocks noGrp="1"/>
          </p:cNvSpPr>
          <p:nvPr>
            <p:ph type="title"/>
          </p:nvPr>
        </p:nvSpPr>
        <p:spPr>
          <a:xfrm>
            <a:off x="560438" y="274638"/>
            <a:ext cx="8126361" cy="60043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3600" lang="en-IN"/>
              <a:t>PRINCIPLES OF SERVICE DESIGN </a:t>
            </a:r>
            <a:endParaRPr b="1" dirty="0" sz="340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18" name="Content Placeholder 2"/>
          <p:cNvSpPr>
            <a:spLocks noGrp="1"/>
          </p:cNvSpPr>
          <p:nvPr>
            <p:ph idx="1"/>
          </p:nvPr>
        </p:nvSpPr>
        <p:spPr>
          <a:xfrm>
            <a:off x="457200" y="1012724"/>
            <a:ext cx="8229600" cy="5113440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p>
            <a:pPr indent="0" marL="0">
              <a:buNone/>
            </a:pPr>
            <a:r>
              <a:rPr b="1" dirty="0" lang="en-IN"/>
              <a:t>Service Design Principles</a:t>
            </a:r>
            <a:endParaRPr dirty="0" lang="en-IN"/>
          </a:p>
          <a:p>
            <a:r>
              <a:rPr dirty="0" lang="en-IN"/>
              <a:t>Service design principles provide guidelines for designing </a:t>
            </a:r>
            <a:r>
              <a:rPr b="1" dirty="0" lang="en-IN"/>
              <a:t>effective, reusable, flexible and loosely coupled services</a:t>
            </a:r>
            <a:r>
              <a:rPr dirty="0" lang="en-IN"/>
              <a:t>.</a:t>
            </a:r>
          </a:p>
          <a:p>
            <a:r>
              <a:rPr dirty="0" lang="en-IN"/>
              <a:t>These principles are derived from the </a:t>
            </a:r>
            <a:r>
              <a:rPr b="1" dirty="0" lang="en-IN"/>
              <a:t>business transformation dimensions of SOA</a:t>
            </a:r>
            <a:r>
              <a:rPr dirty="0" lang="en-IN"/>
              <a:t>.</a:t>
            </a:r>
          </a:p>
          <a:p>
            <a:pPr indent="0" marL="0">
              <a:buNone/>
            </a:pPr>
            <a:r>
              <a:rPr b="1" dirty="0" lang="en-IN"/>
              <a:t>Three Major Categories</a:t>
            </a:r>
          </a:p>
          <a:p>
            <a:pPr lvl="0"/>
            <a:r>
              <a:rPr b="1" dirty="0" lang="en-IN"/>
              <a:t>Reuse</a:t>
            </a:r>
            <a:r>
              <a:rPr dirty="0" lang="en-IN"/>
              <a:t> </a:t>
            </a:r>
          </a:p>
          <a:p>
            <a:pPr lvl="0"/>
            <a:r>
              <a:rPr b="1" dirty="0" lang="en-IN"/>
              <a:t>Integration</a:t>
            </a:r>
            <a:r>
              <a:rPr dirty="0" lang="en-IN"/>
              <a:t> </a:t>
            </a:r>
          </a:p>
          <a:p>
            <a:pPr lvl="0"/>
            <a:r>
              <a:rPr b="1" dirty="0" lang="en-IN"/>
              <a:t>Agility</a:t>
            </a:r>
            <a:endParaRPr dirty="0" lang="en-IN"/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AC8D9F-8341-4090-8785-46568D2EA85D}" type="datetime1">
              <a:rPr lang="en-US" smtClean="0"/>
              <a:t>9/1/2026</a:t>
            </a:fld>
            <a:endParaRPr lang="en-US"/>
          </a:p>
        </p:txBody>
      </p:sp>
      <p:sp>
        <p:nvSpPr>
          <p:cNvPr id="10488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Title 1"/>
          <p:cNvSpPr>
            <a:spLocks noGrp="1"/>
          </p:cNvSpPr>
          <p:nvPr>
            <p:ph type="title"/>
          </p:nvPr>
        </p:nvSpPr>
        <p:spPr>
          <a:xfrm>
            <a:off x="560438" y="274638"/>
            <a:ext cx="8126361" cy="60043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3600" lang="en-IN"/>
              <a:t>PRINCIPLES OF SERVICE DESIGN </a:t>
            </a:r>
            <a:endParaRPr b="1" dirty="0" sz="340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23" name="Content Placeholder 2"/>
          <p:cNvSpPr>
            <a:spLocks noGrp="1"/>
          </p:cNvSpPr>
          <p:nvPr>
            <p:ph idx="1"/>
          </p:nvPr>
        </p:nvSpPr>
        <p:spPr>
          <a:xfrm>
            <a:off x="457200" y="1012724"/>
            <a:ext cx="8229600" cy="5113440"/>
          </a:xfrm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Reuse</a:t>
            </a:r>
          </a:p>
          <a:p>
            <a:r>
              <a:rPr b="1" dirty="0" lang="en-IN"/>
              <a:t>Reuse is one of the key objectives of the Service-Oriented Model.</a:t>
            </a:r>
            <a:endParaRPr dirty="0" lang="en-IN"/>
          </a:p>
          <a:p>
            <a:r>
              <a:rPr dirty="0" lang="en-IN"/>
              <a:t>Services should be designed as </a:t>
            </a:r>
            <a:r>
              <a:rPr b="1" dirty="0" lang="en-IN"/>
              <a:t>reusable business capabilities</a:t>
            </a:r>
            <a:r>
              <a:rPr dirty="0" lang="en-IN"/>
              <a:t> that can be consumed by multiple applications or services.</a:t>
            </a:r>
          </a:p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1. Well-Chosen Granularity</a:t>
            </a:r>
          </a:p>
          <a:p>
            <a:pPr lvl="0"/>
            <a:r>
              <a:rPr dirty="0" lang="en-IN"/>
              <a:t>Service functionality should be defined at the </a:t>
            </a:r>
            <a:r>
              <a:rPr b="1" dirty="0" lang="en-IN"/>
              <a:t>right level of granularity</a:t>
            </a:r>
            <a:r>
              <a:rPr dirty="0" lang="en-IN"/>
              <a:t>. </a:t>
            </a:r>
          </a:p>
          <a:p>
            <a:pPr lvl="0"/>
            <a:r>
              <a:rPr dirty="0" lang="en-IN"/>
              <a:t>A reusable service should ideally have potential for use by </a:t>
            </a:r>
            <a:r>
              <a:rPr b="1" dirty="0" lang="en-IN"/>
              <a:t>three or more services/applications</a:t>
            </a:r>
            <a:r>
              <a:rPr dirty="0" lang="en-IN"/>
              <a:t> in an enterprise. </a:t>
            </a:r>
          </a:p>
          <a:p>
            <a:pPr lvl="0"/>
            <a:r>
              <a:rPr dirty="0" lang="en-IN"/>
              <a:t>Avoid services that are </a:t>
            </a:r>
            <a:r>
              <a:rPr b="1" dirty="0" lang="en-IN"/>
              <a:t>too fine-grained or too coarse-grained</a:t>
            </a:r>
            <a:r>
              <a:rPr dirty="0" lang="en-IN"/>
              <a:t>. </a:t>
            </a:r>
          </a:p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2. Abstraction</a:t>
            </a:r>
          </a:p>
          <a:p>
            <a:pPr lvl="0"/>
            <a:r>
              <a:rPr dirty="0" lang="en-IN"/>
              <a:t>Service interfaces </a:t>
            </a:r>
            <a:r>
              <a:rPr b="1" dirty="0" lang="en-IN"/>
              <a:t>hide the underlying implementation</a:t>
            </a:r>
            <a:r>
              <a:rPr dirty="0" lang="en-IN"/>
              <a:t>. </a:t>
            </a:r>
          </a:p>
          <a:p>
            <a:pPr lvl="0"/>
            <a:r>
              <a:rPr dirty="0" lang="en-IN"/>
              <a:t>Consumers interact only through: </a:t>
            </a:r>
          </a:p>
          <a:p>
            <a:pPr lvl="1"/>
            <a:r>
              <a:rPr b="1" dirty="0" lang="en-IN"/>
              <a:t>Service Contract</a:t>
            </a:r>
            <a:r>
              <a:rPr dirty="0" lang="en-IN"/>
              <a:t> </a:t>
            </a:r>
          </a:p>
          <a:p>
            <a:pPr lvl="1"/>
            <a:r>
              <a:rPr b="1" dirty="0" lang="en-IN"/>
              <a:t>Data Contract</a:t>
            </a:r>
            <a:r>
              <a:rPr dirty="0" lang="en-IN"/>
              <a:t> </a:t>
            </a:r>
          </a:p>
          <a:p>
            <a:pPr lvl="1"/>
            <a:r>
              <a:rPr b="1" dirty="0" lang="en-IN"/>
              <a:t>Associated Policies</a:t>
            </a:r>
            <a:r>
              <a:rPr dirty="0" lang="en-IN"/>
              <a:t> </a:t>
            </a: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AC8D9F-8341-4090-8785-46568D2EA85D}" type="datetime1">
              <a:rPr lang="en-US" smtClean="0"/>
              <a:t>9/1/2026</a:t>
            </a:fld>
            <a:endParaRPr lang="en-US"/>
          </a:p>
        </p:txBody>
      </p:sp>
      <p:sp>
        <p:nvSpPr>
          <p:cNvPr id="10488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7" name="Title 1"/>
          <p:cNvSpPr>
            <a:spLocks noGrp="1"/>
          </p:cNvSpPr>
          <p:nvPr>
            <p:ph type="title"/>
          </p:nvPr>
        </p:nvSpPr>
        <p:spPr>
          <a:xfrm>
            <a:off x="560438" y="274638"/>
            <a:ext cx="8126361" cy="60043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3600" lang="en-IN"/>
              <a:t>PRINCIPLES OF SERVICE DESIGN </a:t>
            </a:r>
            <a:endParaRPr b="1" dirty="0" sz="340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28" name="Content Placeholder 2"/>
          <p:cNvSpPr>
            <a:spLocks noGrp="1"/>
          </p:cNvSpPr>
          <p:nvPr>
            <p:ph idx="1"/>
          </p:nvPr>
        </p:nvSpPr>
        <p:spPr>
          <a:xfrm>
            <a:off x="457200" y="1012724"/>
            <a:ext cx="8229600" cy="5113440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3. High Cohesion</a:t>
            </a:r>
          </a:p>
          <a:p>
            <a:pPr lvl="0"/>
            <a:r>
              <a:rPr dirty="0" lang="en-IN"/>
              <a:t>A service should focus on a </a:t>
            </a:r>
            <a:r>
              <a:rPr b="1" dirty="0" lang="en-IN"/>
              <a:t>closely related set of functionalities</a:t>
            </a:r>
            <a:r>
              <a:rPr dirty="0" lang="en-IN"/>
              <a:t>. </a:t>
            </a:r>
          </a:p>
          <a:p>
            <a:pPr lvl="0"/>
            <a:r>
              <a:rPr dirty="0" lang="en-IN"/>
              <a:t>Operations belonging to the same business capability should be grouped together. </a:t>
            </a:r>
          </a:p>
          <a:p>
            <a:pPr lvl="0"/>
            <a:r>
              <a:rPr dirty="0" lang="en-IN"/>
              <a:t>Improves: </a:t>
            </a:r>
          </a:p>
          <a:p>
            <a:pPr lvl="1"/>
            <a:r>
              <a:rPr dirty="0" lang="en-IN"/>
              <a:t>Reusability </a:t>
            </a:r>
          </a:p>
          <a:p>
            <a:pPr lvl="1"/>
            <a:r>
              <a:rPr dirty="0" lang="en-IN"/>
              <a:t>Maintainability </a:t>
            </a:r>
          </a:p>
          <a:p>
            <a:pPr lvl="1"/>
            <a:r>
              <a:rPr dirty="0" lang="en-IN"/>
              <a:t>Clarity </a:t>
            </a:r>
          </a:p>
          <a:p>
            <a:pPr lvl="1"/>
            <a:r>
              <a:rPr dirty="0" lang="en-IN"/>
              <a:t>Service effectiveness </a:t>
            </a:r>
          </a:p>
          <a:p>
            <a:pPr indent="0" marL="0">
              <a:buNone/>
            </a:pPr>
            <a:r>
              <a:rPr b="1" dirty="0" lang="en-IN"/>
              <a:t>Example:</a:t>
            </a:r>
            <a:br>
              <a:rPr dirty="0" lang="en-IN"/>
            </a:br>
            <a:r>
              <a:rPr b="1" dirty="0" lang="en-IN"/>
              <a:t>Customer Service →</a:t>
            </a:r>
            <a:r>
              <a:rPr dirty="0" lang="en-IN"/>
              <a:t> Create Customer, Update Customer, Validate Customer, Retrieve Customer</a:t>
            </a:r>
          </a:p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4. Autonomy</a:t>
            </a:r>
          </a:p>
          <a:p>
            <a:pPr lvl="0"/>
            <a:r>
              <a:rPr dirty="0" lang="en-IN"/>
              <a:t>Defines the degree of control a service has over its: </a:t>
            </a:r>
          </a:p>
          <a:p>
            <a:pPr lvl="1"/>
            <a:r>
              <a:rPr dirty="0" lang="en-IN"/>
              <a:t>Environment </a:t>
            </a:r>
          </a:p>
          <a:p>
            <a:pPr lvl="1"/>
            <a:r>
              <a:rPr dirty="0" lang="en-IN"/>
              <a:t>Resources </a:t>
            </a:r>
          </a:p>
          <a:p>
            <a:pPr lvl="1"/>
            <a:r>
              <a:rPr dirty="0" lang="en-IN"/>
              <a:t>Internal processing </a:t>
            </a:r>
          </a:p>
          <a:p>
            <a:pPr lvl="0"/>
            <a:r>
              <a:rPr dirty="0" lang="en-IN"/>
              <a:t>Service boundaries should be </a:t>
            </a:r>
            <a:r>
              <a:rPr b="1" dirty="0" lang="en-IN"/>
              <a:t>explicit and well-defined</a:t>
            </a:r>
            <a:r>
              <a:rPr dirty="0" lang="en-IN"/>
              <a:t>. </a:t>
            </a:r>
          </a:p>
          <a:p>
            <a:pPr lvl="0"/>
            <a:r>
              <a:rPr dirty="0" lang="en-IN"/>
              <a:t>Services communicate through </a:t>
            </a:r>
            <a:r>
              <a:rPr b="1" dirty="0" lang="en-IN"/>
              <a:t>explicit message passing</a:t>
            </a:r>
            <a:r>
              <a:rPr dirty="0" lang="en-IN"/>
              <a:t> across defined boundaries.</a:t>
            </a: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AC8D9F-8341-4090-8785-46568D2EA85D}" type="datetime1">
              <a:rPr lang="en-US" smtClean="0"/>
              <a:t>9/1/2026</a:t>
            </a:fld>
            <a:endParaRPr lang="en-US"/>
          </a:p>
        </p:txBody>
      </p:sp>
      <p:sp>
        <p:nvSpPr>
          <p:cNvPr id="10488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2" name="Title 1"/>
          <p:cNvSpPr>
            <a:spLocks noGrp="1"/>
          </p:cNvSpPr>
          <p:nvPr>
            <p:ph type="title"/>
          </p:nvPr>
        </p:nvSpPr>
        <p:spPr>
          <a:xfrm>
            <a:off x="560438" y="274638"/>
            <a:ext cx="8126361" cy="60043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3600" lang="en-IN"/>
              <a:t>PRINCIPLES OF SERVICE DESIGN </a:t>
            </a:r>
            <a:endParaRPr b="1" dirty="0" sz="340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33" name="Content Placeholder 2"/>
          <p:cNvSpPr>
            <a:spLocks noGrp="1"/>
          </p:cNvSpPr>
          <p:nvPr>
            <p:ph idx="1"/>
          </p:nvPr>
        </p:nvSpPr>
        <p:spPr>
          <a:xfrm>
            <a:off x="457200" y="1012724"/>
            <a:ext cx="8229600" cy="5113440"/>
          </a:xfrm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p>
            <a:pPr indent="0" marL="0">
              <a:buNone/>
            </a:pPr>
            <a:r>
              <a:rPr b="1" dirty="0" lang="en-IN"/>
              <a:t>Integration: Loose Coupling</a:t>
            </a:r>
          </a:p>
          <a:p>
            <a:r>
              <a:rPr b="1" dirty="0" lang="en-IN"/>
              <a:t>Loose coupling</a:t>
            </a:r>
            <a:r>
              <a:rPr dirty="0" lang="en-IN"/>
              <a:t> is a key service design principle that minimizes dependencies between </a:t>
            </a:r>
            <a:r>
              <a:rPr b="1" dirty="0" lang="en-IN"/>
              <a:t>service providers and service consumers</a:t>
            </a:r>
            <a:r>
              <a:rPr dirty="0" lang="en-IN"/>
              <a:t>.</a:t>
            </a:r>
          </a:p>
          <a:p>
            <a:pPr indent="0" marL="0">
              <a:buNone/>
            </a:pPr>
            <a:r>
              <a:rPr b="1" dirty="0" lang="en-IN"/>
              <a:t>Key Principles</a:t>
            </a:r>
          </a:p>
          <a:p>
            <a:pPr lvl="0"/>
            <a:r>
              <a:rPr dirty="0" lang="en-IN"/>
              <a:t>Define services with </a:t>
            </a:r>
            <a:r>
              <a:rPr b="1" dirty="0" lang="en-IN"/>
              <a:t>minimum dependency</a:t>
            </a:r>
            <a:r>
              <a:rPr dirty="0" lang="en-IN"/>
              <a:t> on other services. </a:t>
            </a:r>
          </a:p>
          <a:p>
            <a:pPr lvl="0"/>
            <a:r>
              <a:rPr dirty="0" lang="en-IN"/>
              <a:t>All interactions must occur through </a:t>
            </a:r>
            <a:r>
              <a:rPr b="1" dirty="0" lang="en-IN"/>
              <a:t>well-defined service interfaces</a:t>
            </a:r>
            <a:r>
              <a:rPr dirty="0" lang="en-IN"/>
              <a:t>. </a:t>
            </a:r>
          </a:p>
          <a:p>
            <a:pPr lvl="0"/>
            <a:r>
              <a:rPr dirty="0" lang="en-IN"/>
              <a:t>Service providers should not depend on the consumer's: </a:t>
            </a:r>
          </a:p>
          <a:p>
            <a:pPr lvl="1"/>
            <a:r>
              <a:rPr dirty="0" lang="en-IN"/>
              <a:t>Internal implementation </a:t>
            </a:r>
          </a:p>
          <a:p>
            <a:pPr lvl="1"/>
            <a:r>
              <a:rPr dirty="0" lang="en-IN"/>
              <a:t>Technology </a:t>
            </a:r>
          </a:p>
          <a:p>
            <a:pPr lvl="1"/>
            <a:r>
              <a:rPr dirty="0" lang="en-IN"/>
              <a:t>Data structures </a:t>
            </a:r>
          </a:p>
          <a:p>
            <a:pPr lvl="1"/>
            <a:r>
              <a:rPr dirty="0" lang="en-IN"/>
              <a:t>Processing logic </a:t>
            </a:r>
          </a:p>
          <a:p>
            <a:pPr lvl="0"/>
            <a:r>
              <a:rPr dirty="0" lang="en-IN"/>
              <a:t>Service consumers should depend only on the </a:t>
            </a:r>
            <a:r>
              <a:rPr b="1" dirty="0" lang="en-IN"/>
              <a:t>published service interface</a:t>
            </a:r>
            <a:r>
              <a:rPr dirty="0" lang="en-IN"/>
              <a:t>. </a:t>
            </a:r>
          </a:p>
          <a:p>
            <a:pPr lvl="0"/>
            <a:r>
              <a:rPr dirty="0" lang="en-IN"/>
              <a:t>Changes to the internal implementation of a service should have </a:t>
            </a:r>
            <a:r>
              <a:rPr b="1" dirty="0" lang="en-IN"/>
              <a:t>minimal impact</a:t>
            </a:r>
            <a:r>
              <a:rPr dirty="0" lang="en-IN"/>
              <a:t> on consumers.</a:t>
            </a: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AC8D9F-8341-4090-8785-46568D2EA85D}" type="datetime1">
              <a:rPr lang="en-US" smtClean="0"/>
              <a:t>9/1/2026</a:t>
            </a:fld>
            <a:endParaRPr lang="en-US"/>
          </a:p>
        </p:txBody>
      </p:sp>
      <p:sp>
        <p:nvSpPr>
          <p:cNvPr id="10488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Title 1"/>
          <p:cNvSpPr>
            <a:spLocks noGrp="1"/>
          </p:cNvSpPr>
          <p:nvPr>
            <p:ph type="title"/>
          </p:nvPr>
        </p:nvSpPr>
        <p:spPr>
          <a:xfrm>
            <a:off x="560438" y="274638"/>
            <a:ext cx="8126361" cy="60043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3600" lang="en-IN"/>
              <a:t>PRINCIPLES OF SERVICE DESIGN </a:t>
            </a:r>
            <a:endParaRPr b="1" dirty="0" sz="340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38" name="Content Placeholder 2"/>
          <p:cNvSpPr>
            <a:spLocks noGrp="1"/>
          </p:cNvSpPr>
          <p:nvPr>
            <p:ph idx="1"/>
          </p:nvPr>
        </p:nvSpPr>
        <p:spPr>
          <a:xfrm>
            <a:off x="457200" y="1012724"/>
            <a:ext cx="8229600" cy="5113440"/>
          </a:xfrm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Agility in SOA</a:t>
            </a:r>
          </a:p>
          <a:p>
            <a:r>
              <a:rPr b="1" dirty="0" lang="en-IN"/>
              <a:t>Agility</a:t>
            </a:r>
            <a:r>
              <a:rPr dirty="0" lang="en-IN"/>
              <a:t> is one of the key business benefits of </a:t>
            </a:r>
            <a:r>
              <a:rPr b="1" dirty="0" lang="en-IN"/>
              <a:t>Service-Oriented Architecture (SOA)</a:t>
            </a:r>
            <a:r>
              <a:rPr dirty="0" lang="en-IN"/>
              <a:t>.</a:t>
            </a:r>
          </a:p>
          <a:p>
            <a:r>
              <a:rPr dirty="0" lang="en-IN"/>
              <a:t>Service design should enable organizations to </a:t>
            </a:r>
            <a:r>
              <a:rPr b="1" dirty="0" lang="en-IN"/>
              <a:t>adapt quickly to changing business requirements</a:t>
            </a:r>
            <a:r>
              <a:rPr dirty="0" lang="en-IN"/>
              <a:t>.</a:t>
            </a:r>
          </a:p>
          <a:p>
            <a:pPr indent="0" marL="0">
              <a:buNone/>
            </a:pPr>
            <a:r>
              <a:rPr b="1" dirty="0" lang="en-IN"/>
              <a:t>Three Principles for Agility</a:t>
            </a:r>
          </a:p>
          <a:p>
            <a:pPr lvl="0"/>
            <a:r>
              <a:rPr b="1" dirty="0" lang="en-IN"/>
              <a:t>Statelessness</a:t>
            </a:r>
            <a:r>
              <a:rPr dirty="0" lang="en-IN"/>
              <a:t> </a:t>
            </a:r>
          </a:p>
          <a:p>
            <a:pPr lvl="0"/>
            <a:r>
              <a:rPr b="1" dirty="0" lang="en-IN"/>
              <a:t>Composability</a:t>
            </a:r>
            <a:r>
              <a:rPr dirty="0" lang="en-IN"/>
              <a:t> </a:t>
            </a:r>
          </a:p>
          <a:p>
            <a:pPr lvl="0"/>
            <a:r>
              <a:rPr b="1" dirty="0" lang="en-IN"/>
              <a:t>Discoverability</a:t>
            </a:r>
          </a:p>
          <a:p>
            <a:pPr indent="0" marL="0">
              <a:buNone/>
            </a:pPr>
            <a:endParaRPr b="1" dirty="0" lang="en-IN"/>
          </a:p>
          <a:p>
            <a:pPr indent="0" marL="0">
              <a:buNone/>
            </a:pPr>
            <a:r>
              <a:rPr b="1" dirty="0" lang="en-IN">
                <a:solidFill>
                  <a:srgbClr val="FF0000"/>
                </a:solidFill>
              </a:rPr>
              <a:t>1. Statelessness</a:t>
            </a:r>
          </a:p>
          <a:p>
            <a:pPr lvl="0"/>
            <a:r>
              <a:rPr dirty="0" lang="en-IN"/>
              <a:t>Services do </a:t>
            </a:r>
            <a:r>
              <a:rPr b="1" dirty="0" lang="en-IN"/>
              <a:t>not maintain conversational state</a:t>
            </a:r>
            <a:r>
              <a:rPr dirty="0" lang="en-IN"/>
              <a:t> related to individual service invocations. </a:t>
            </a:r>
          </a:p>
          <a:p>
            <a:pPr lvl="0"/>
            <a:r>
              <a:rPr dirty="0" lang="en-IN"/>
              <a:t>Each service request can be processed independently. </a:t>
            </a:r>
          </a:p>
          <a:p>
            <a:pPr lvl="0"/>
            <a:r>
              <a:rPr dirty="0" lang="en-IN"/>
              <a:t>Business process state can be maintained externally. </a:t>
            </a:r>
          </a:p>
          <a:p>
            <a:pPr lvl="0"/>
            <a:r>
              <a:rPr dirty="0" lang="en-IN"/>
              <a:t>Enables business processes to be implemented using </a:t>
            </a:r>
            <a:r>
              <a:rPr b="1" dirty="0" lang="en-IN"/>
              <a:t>orchestrated or choreographed stateless services</a:t>
            </a:r>
            <a:r>
              <a:rPr dirty="0" lang="en-IN"/>
              <a:t>. </a:t>
            </a:r>
          </a:p>
          <a:p>
            <a:pPr indent="0" marL="0">
              <a:buNone/>
            </a:pPr>
            <a:r>
              <a:rPr b="1" dirty="0" lang="en-IN"/>
              <a:t>Benefit:</a:t>
            </a:r>
            <a:r>
              <a:rPr dirty="0" lang="en-IN"/>
              <a:t> Improved scalability and flexibility.</a:t>
            </a:r>
          </a:p>
          <a:p>
            <a:pPr indent="0" lvl="0" marL="0">
              <a:buNone/>
            </a:pPr>
            <a:r>
              <a:rPr dirty="0" lang="en-IN"/>
              <a:t> </a:t>
            </a: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AC8D9F-8341-4090-8785-46568D2EA85D}" type="datetime1">
              <a:rPr lang="en-US" smtClean="0"/>
              <a:t>9/1/2026</a:t>
            </a:fld>
            <a:endParaRPr lang="en-US"/>
          </a:p>
        </p:txBody>
      </p:sp>
      <p:sp>
        <p:nvSpPr>
          <p:cNvPr id="10488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2" name="Title 1"/>
          <p:cNvSpPr>
            <a:spLocks noGrp="1"/>
          </p:cNvSpPr>
          <p:nvPr>
            <p:ph type="title"/>
          </p:nvPr>
        </p:nvSpPr>
        <p:spPr>
          <a:xfrm>
            <a:off x="560438" y="274638"/>
            <a:ext cx="8126361" cy="600433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3600" lang="en-IN"/>
              <a:t>PRINCIPLES OF SERVICE DESIGN </a:t>
            </a:r>
            <a:endParaRPr b="1" dirty="0" sz="340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43" name="Content Placeholder 2"/>
          <p:cNvSpPr>
            <a:spLocks noGrp="1"/>
          </p:cNvSpPr>
          <p:nvPr>
            <p:ph idx="1"/>
          </p:nvPr>
        </p:nvSpPr>
        <p:spPr>
          <a:xfrm>
            <a:off x="457200" y="1012724"/>
            <a:ext cx="8229600" cy="5113440"/>
          </a:xfrm>
          <a:ln>
            <a:solidFill>
              <a:schemeClr val="tx1"/>
            </a:solidFill>
          </a:ln>
        </p:spPr>
        <p:txBody>
          <a:bodyPr>
            <a:normAutofit fontScale="25000" lnSpcReduction="20000"/>
          </a:bodyPr>
          <a:p>
            <a:pPr indent="0" marL="0">
              <a:buNone/>
            </a:pPr>
            <a:r>
              <a:rPr b="1" dirty="0" sz="7200" lang="en-IN">
                <a:solidFill>
                  <a:srgbClr val="FF0000"/>
                </a:solidFill>
              </a:rPr>
              <a:t>2. Composability</a:t>
            </a:r>
          </a:p>
          <a:p>
            <a:pPr lvl="0"/>
            <a:r>
              <a:rPr dirty="0" sz="7200" lang="en-IN"/>
              <a:t>Multiple services can be </a:t>
            </a:r>
            <a:r>
              <a:rPr b="1" dirty="0" sz="7200" lang="en-IN"/>
              <a:t>combined to create new services or business solutions</a:t>
            </a:r>
            <a:r>
              <a:rPr dirty="0" sz="7200" lang="en-IN"/>
              <a:t>. </a:t>
            </a:r>
          </a:p>
          <a:p>
            <a:pPr lvl="0"/>
            <a:r>
              <a:rPr dirty="0" sz="7200" lang="en-IN"/>
              <a:t>Autonomous services act as reusable </a:t>
            </a:r>
            <a:r>
              <a:rPr b="1" dirty="0" sz="7200" lang="en-IN"/>
              <a:t>building blocks</a:t>
            </a:r>
            <a:r>
              <a:rPr dirty="0" sz="7200" lang="en-IN"/>
              <a:t>. </a:t>
            </a:r>
          </a:p>
          <a:p>
            <a:pPr lvl="0"/>
            <a:r>
              <a:rPr dirty="0" sz="7200" lang="en-IN"/>
              <a:t>Services can be combined through: </a:t>
            </a:r>
          </a:p>
          <a:p>
            <a:pPr lvl="1"/>
            <a:r>
              <a:rPr b="1" dirty="0" sz="7200" lang="en-IN"/>
              <a:t>Aggregation</a:t>
            </a:r>
            <a:r>
              <a:rPr dirty="0" sz="7200" lang="en-IN"/>
              <a:t> &amp; </a:t>
            </a:r>
            <a:r>
              <a:rPr b="1" dirty="0" sz="7200" lang="en-IN"/>
              <a:t>Orchestration</a:t>
            </a:r>
            <a:endParaRPr dirty="0" sz="7200" lang="en-IN"/>
          </a:p>
          <a:p>
            <a:pPr indent="0" marL="0">
              <a:buNone/>
            </a:pPr>
            <a:r>
              <a:rPr b="1" dirty="0" sz="7200" lang="en-IN"/>
              <a:t>Example:</a:t>
            </a:r>
            <a:endParaRPr dirty="0" sz="7200" lang="en-IN"/>
          </a:p>
          <a:p>
            <a:r>
              <a:rPr dirty="0" sz="7200" lang="en-IN"/>
              <a:t>Customer Service + Order Service + Payment Service → Order Processing Service</a:t>
            </a:r>
          </a:p>
          <a:p>
            <a:pPr indent="0" marL="0">
              <a:buNone/>
            </a:pPr>
            <a:r>
              <a:rPr b="1" dirty="0" sz="7200" lang="en-IN">
                <a:solidFill>
                  <a:srgbClr val="FF0000"/>
                </a:solidFill>
              </a:rPr>
              <a:t>3. Discoverability</a:t>
            </a:r>
          </a:p>
          <a:p>
            <a:r>
              <a:rPr dirty="0" sz="7200" lang="en-IN"/>
              <a:t>Service consumers should be able to </a:t>
            </a:r>
            <a:r>
              <a:rPr b="1" dirty="0" sz="7200" lang="en-IN"/>
              <a:t>find relevant services</a:t>
            </a:r>
            <a:r>
              <a:rPr dirty="0" sz="7200" lang="en-IN"/>
              <a:t> using service metadata.</a:t>
            </a:r>
          </a:p>
          <a:p>
            <a:pPr indent="0" marL="0">
              <a:buNone/>
            </a:pPr>
            <a:r>
              <a:rPr b="1" dirty="0" sz="7200" lang="en-IN"/>
              <a:t>Service Metadata Describes:</a:t>
            </a:r>
          </a:p>
          <a:p>
            <a:pPr lvl="0"/>
            <a:r>
              <a:rPr dirty="0" sz="7200" lang="en-IN"/>
              <a:t>Service capabilities </a:t>
            </a:r>
          </a:p>
          <a:p>
            <a:pPr lvl="0"/>
            <a:r>
              <a:rPr dirty="0" sz="7200" lang="en-IN"/>
              <a:t>Operations provided </a:t>
            </a:r>
          </a:p>
          <a:p>
            <a:pPr lvl="0"/>
            <a:r>
              <a:rPr dirty="0" sz="7200" lang="en-IN"/>
              <a:t>Data requirements </a:t>
            </a:r>
          </a:p>
          <a:p>
            <a:pPr lvl="0"/>
            <a:r>
              <a:rPr dirty="0" sz="7200" lang="en-IN"/>
              <a:t>Policies </a:t>
            </a:r>
          </a:p>
          <a:p>
            <a:pPr lvl="0"/>
            <a:r>
              <a:rPr dirty="0" sz="7200" lang="en-IN"/>
              <a:t>Limitations </a:t>
            </a:r>
          </a:p>
          <a:p>
            <a:pPr lvl="0"/>
            <a:r>
              <a:rPr dirty="0" sz="7200" lang="en-IN"/>
              <a:t>Service interface information </a:t>
            </a:r>
          </a:p>
          <a:p>
            <a:pPr indent="0" marL="0">
              <a:buNone/>
            </a:pPr>
            <a:r>
              <a:rPr b="1" dirty="0" sz="7200" lang="en-IN"/>
              <a:t>Service Registry</a:t>
            </a:r>
          </a:p>
          <a:p>
            <a:r>
              <a:rPr dirty="0" sz="6400" lang="en-IN"/>
              <a:t>A </a:t>
            </a:r>
            <a:r>
              <a:rPr b="1" dirty="0" sz="6400" lang="en-IN"/>
              <a:t>Service Registry</a:t>
            </a:r>
            <a:r>
              <a:rPr dirty="0" sz="6400" lang="en-IN"/>
              <a:t> typically stores service metadata and enables consumers to dynamically discover available services.</a:t>
            </a:r>
            <a:endParaRPr dirty="0" sz="6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AC8D9F-8341-4090-8785-46568D2EA85D}" type="datetime1">
              <a:rPr lang="en-US" smtClean="0"/>
              <a:t>9/1/2026</a:t>
            </a:fld>
            <a:endParaRPr lang="en-US"/>
          </a:p>
        </p:txBody>
      </p:sp>
      <p:sp>
        <p:nvSpPr>
          <p:cNvPr id="10488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87246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sz="34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 (NFRs)</a:t>
            </a:r>
          </a:p>
        </p:txBody>
      </p:sp>
      <p:sp>
        <p:nvSpPr>
          <p:cNvPr id="1048848" name="Content Placeholder 2"/>
          <p:cNvSpPr>
            <a:spLocks noGrp="1"/>
          </p:cNvSpPr>
          <p:nvPr>
            <p:ph idx="1"/>
          </p:nvPr>
        </p:nvSpPr>
        <p:spPr>
          <a:xfrm>
            <a:off x="457200" y="1199536"/>
            <a:ext cx="8229600" cy="4926628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lvl="0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Defined by stakeholders as solution-level requirements.</a:t>
            </a:r>
          </a:p>
          <a:p>
            <a:pPr lvl="0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Crucial for SOA design beyond functional use cases.</a:t>
            </a:r>
          </a:p>
          <a:p>
            <a:pPr lvl="0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Applied at service-level (reusable components), not just at application-level.</a:t>
            </a:r>
          </a:p>
          <a:p>
            <a:pPr lvl="0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Enable reliability, reuse, governance, and scalability in enterprise context.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4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0E23D27-F266-4F03-9733-4B4C78F57581}" type="datetime1">
              <a:rPr lang="en-US" smtClean="0"/>
              <a:t>9/1/2026</a:t>
            </a:fld>
            <a:endParaRPr lang="en-US"/>
          </a:p>
        </p:txBody>
      </p:sp>
      <p:sp>
        <p:nvSpPr>
          <p:cNvPr id="10488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5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2" name="Title 1"/>
          <p:cNvSpPr>
            <a:spLocks noGrp="1"/>
          </p:cNvSpPr>
          <p:nvPr>
            <p:ph type="title"/>
          </p:nvPr>
        </p:nvSpPr>
        <p:spPr>
          <a:xfrm>
            <a:off x="457200" y="80328"/>
            <a:ext cx="8229600" cy="765492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Non-Functional</a:t>
            </a:r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Properties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53" name="Content Placeholder 2"/>
          <p:cNvSpPr>
            <a:spLocks noGrp="1"/>
          </p:cNvSpPr>
          <p:nvPr>
            <p:ph idx="1"/>
          </p:nvPr>
        </p:nvSpPr>
        <p:spPr>
          <a:xfrm>
            <a:off x="457200" y="982980"/>
            <a:ext cx="8229600" cy="5634990"/>
          </a:xfrm>
          <a:ln>
            <a:solidFill>
              <a:schemeClr val="tx1"/>
            </a:solidFill>
          </a:ln>
        </p:spPr>
        <p:txBody>
          <a:bodyPr>
            <a:noAutofit/>
          </a:bodyPr>
          <a:p>
            <a:pPr lvl="0"/>
            <a:r>
              <a:rPr b="1" dirty="0" sz="2300" lang="en-IN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Time </a:t>
            </a:r>
            <a:r>
              <a:rPr dirty="0" sz="23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– Elapsed time for execution of a service.</a:t>
            </a:r>
          </a:p>
          <a:p>
            <a:pPr lvl="0"/>
            <a:r>
              <a:rPr b="1" dirty="0" sz="2300" lang="en-IN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</a:t>
            </a:r>
            <a:r>
              <a:rPr dirty="0" sz="23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– Ability to perform a function when required.</a:t>
            </a:r>
          </a:p>
          <a:p>
            <a:pPr lvl="0"/>
            <a:r>
              <a:rPr b="1" dirty="0" sz="2300" lang="en-IN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dirty="0" sz="23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– Consistently perform without degradation or failure.</a:t>
            </a:r>
          </a:p>
          <a:p>
            <a:pPr lvl="0"/>
            <a:r>
              <a:rPr b="1" dirty="0" sz="2300" lang="en-IN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Usability </a:t>
            </a:r>
            <a:r>
              <a:rPr dirty="0" sz="23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– Service is understandable, learnable, and usable under conditions.</a:t>
            </a:r>
          </a:p>
          <a:p>
            <a:pPr lvl="0"/>
            <a:r>
              <a:rPr b="1" dirty="0" sz="2300" lang="en-IN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Failure Modes</a:t>
            </a:r>
            <a:r>
              <a:rPr dirty="0" sz="23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– Ways in which failures occur and how they are handled.</a:t>
            </a:r>
          </a:p>
          <a:p>
            <a:pPr lvl="0"/>
            <a:r>
              <a:rPr b="1" dirty="0" sz="2300" lang="en-IN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dirty="0" sz="23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– Authentication, authorization, audit trails for service invocations.</a:t>
            </a:r>
          </a:p>
          <a:p>
            <a:pPr lvl="0"/>
            <a:r>
              <a:rPr b="1" dirty="0" sz="2300" lang="en-IN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Versioning </a:t>
            </a:r>
            <a:r>
              <a:rPr dirty="0" sz="23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– Managing changes via documented versions.</a:t>
            </a:r>
          </a:p>
          <a:p>
            <a:pPr lvl="0"/>
            <a:r>
              <a:rPr b="1" dirty="0" sz="2300" lang="en-IN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  <a:r>
              <a:rPr b="1" dirty="0" sz="23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23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– Ability to perform under increasing workload/service invocations.</a:t>
            </a:r>
          </a:p>
        </p:txBody>
      </p:sp>
      <p:sp>
        <p:nvSpPr>
          <p:cNvPr id="104885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01CF965-5F70-49DC-8DBC-CFFFD642EF28}" type="datetime1">
              <a:rPr lang="en-US" smtClean="0"/>
              <a:t>9/1/2026</a:t>
            </a:fld>
            <a:endParaRPr lang="en-US"/>
          </a:p>
        </p:txBody>
      </p:sp>
      <p:sp>
        <p:nvSpPr>
          <p:cNvPr id="104885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5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7" name="Title 1"/>
          <p:cNvSpPr>
            <a:spLocks noGrp="1"/>
          </p:cNvSpPr>
          <p:nvPr>
            <p:ph type="title"/>
          </p:nvPr>
        </p:nvSpPr>
        <p:spPr>
          <a:xfrm>
            <a:off x="388374" y="0"/>
            <a:ext cx="8229600" cy="639097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Activity Services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58" name="Content Placeholder 2"/>
          <p:cNvSpPr>
            <a:spLocks noGrp="1"/>
          </p:cNvSpPr>
          <p:nvPr>
            <p:ph idx="1"/>
          </p:nvPr>
        </p:nvSpPr>
        <p:spPr>
          <a:xfrm>
            <a:off x="457200" y="884904"/>
            <a:ext cx="8229600" cy="5241260"/>
          </a:xfrm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Encapsulate and expose functionality in </a:t>
            </a:r>
          </a:p>
          <a:p>
            <a:pPr indent="0" marL="0">
              <a:buNone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business applications.</a:t>
            </a:r>
          </a:p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Represent reusable business-level </a:t>
            </a:r>
          </a:p>
          <a:p>
            <a:pPr indent="0" marL="0">
              <a:buNone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services.</a:t>
            </a:r>
          </a:p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Candidates for orchestration in business</a:t>
            </a:r>
          </a:p>
          <a:p>
            <a:pPr indent="0" marL="0">
              <a:buNone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processes.</a:t>
            </a:r>
          </a:p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 Design of Activity Services:</a:t>
            </a:r>
          </a:p>
          <a:p>
            <a:pPr indent="0" marL="0">
              <a:buNone/>
            </a:pP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          Based on SOAD process </a:t>
            </a:r>
          </a:p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Can be implemented through:</a:t>
            </a:r>
          </a:p>
          <a:p>
            <a:r>
              <a:rPr b="1" dirty="0" lang="en-IN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Bottom-up:</a:t>
            </a: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Enhancing existing applications.</a:t>
            </a:r>
          </a:p>
          <a:p>
            <a:r>
              <a:rPr b="1" dirty="0" lang="en-IN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Top-down:</a:t>
            </a: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Developing new service-oriented applications.</a:t>
            </a:r>
          </a:p>
          <a:p>
            <a:pPr indent="0" marL="0">
              <a:buNone/>
            </a:pP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5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0D746A6-71D0-479A-8862-6461796F141A}" type="datetime1">
              <a:rPr lang="en-US" smtClean="0"/>
              <a:t>9/1/2026</a:t>
            </a:fld>
            <a:endParaRPr lang="en-US"/>
          </a:p>
        </p:txBody>
      </p:sp>
      <p:sp>
        <p:nvSpPr>
          <p:cNvPr id="104886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6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56</a:t>
            </a:fld>
            <a:endParaRPr lang="en-US"/>
          </a:p>
        </p:txBody>
      </p:sp>
      <p:pic>
        <p:nvPicPr>
          <p:cNvPr id="2097157" name="Content Placeholder 9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107610" y="731836"/>
            <a:ext cx="1854494" cy="5394328"/>
          </a:xfrm>
          <a:prstGeom prst="rect"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2" name="Title 1"/>
          <p:cNvSpPr>
            <a:spLocks noGrp="1"/>
          </p:cNvSpPr>
          <p:nvPr>
            <p:ph type="title"/>
          </p:nvPr>
        </p:nvSpPr>
        <p:spPr>
          <a:xfrm>
            <a:off x="285135" y="179645"/>
            <a:ext cx="8401665" cy="55219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Activity Services</a:t>
            </a:r>
            <a:endParaRPr b="1" dirty="0" lang="en-US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63" name="Content Placeholder 2"/>
          <p:cNvSpPr>
            <a:spLocks noGrp="1"/>
          </p:cNvSpPr>
          <p:nvPr>
            <p:ph idx="1"/>
          </p:nvPr>
        </p:nvSpPr>
        <p:spPr>
          <a:xfrm>
            <a:off x="457200" y="884904"/>
            <a:ext cx="8229600" cy="5241260"/>
          </a:xfrm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p>
            <a:pPr indent="0" marL="0">
              <a:buNone/>
            </a:pPr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&amp; Contracts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Functional and non-functional requirements analyzed via </a:t>
            </a:r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Services exposed/consumed documented in:</a:t>
            </a:r>
          </a:p>
          <a:p>
            <a:pPr lvl="1"/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Service Contracts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 define services, operations, policies.</a:t>
            </a:r>
          </a:p>
          <a:p>
            <a:pPr lvl="1"/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Contracts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 define data exchange formats</a:t>
            </a:r>
          </a:p>
          <a:p>
            <a:pPr indent="0" lvl="1" marL="457200">
              <a:buNone/>
            </a:pP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Forward Engineering Approach:</a:t>
            </a:r>
          </a:p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Analysis classes identified → mapped to design classes.</a:t>
            </a:r>
          </a:p>
          <a:p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Consider:</a:t>
            </a:r>
          </a:p>
          <a:p>
            <a:pPr lvl="1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</a:p>
          <a:p>
            <a:pPr lvl="1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Platform technology strategy</a:t>
            </a:r>
          </a:p>
          <a:p>
            <a:pPr lvl="1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Available frameworks (e.g., Spring, Apache Axis2, Enterprise Library).</a:t>
            </a:r>
          </a:p>
          <a:p>
            <a:pPr indent="0" lvl="1" marL="457200">
              <a:buNone/>
            </a:pP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6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71D7E2E-5392-4D9C-9985-B8CA397FE3BC}" type="datetime1">
              <a:rPr lang="en-US" smtClean="0"/>
              <a:t>9/1/2026</a:t>
            </a:fld>
            <a:endParaRPr lang="en-US"/>
          </a:p>
        </p:txBody>
      </p:sp>
      <p:sp>
        <p:nvSpPr>
          <p:cNvPr id="104886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6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  <a:ln>
            <a:solidFill>
              <a:schemeClr val="tx1"/>
            </a:solidFill>
          </a:ln>
        </p:spPr>
        <p:txBody>
          <a:bodyPr>
            <a:noAutofit/>
          </a:bodyPr>
          <a:p>
            <a:r>
              <a:rPr b="1" dirty="0" sz="360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Activity Services</a:t>
            </a:r>
            <a:endParaRPr dirty="0" sz="340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68" name="Content Placeholder 2"/>
          <p:cNvSpPr>
            <a:spLocks noGrp="1"/>
          </p:cNvSpPr>
          <p:nvPr>
            <p:ph idx="1"/>
          </p:nvPr>
        </p:nvSpPr>
        <p:spPr>
          <a:xfrm>
            <a:off x="457200" y="1002890"/>
            <a:ext cx="8229600" cy="5123273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indent="0" lvl="0" marL="0">
              <a:buNone/>
            </a:pPr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Tools &amp;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 of round-trip engineering tools (e.g., IBM Rational Software Architect).</a:t>
            </a:r>
          </a:p>
          <a:p>
            <a:pPr lvl="0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with:</a:t>
            </a:r>
          </a:p>
          <a:p>
            <a:pPr lvl="1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diagrams</a:t>
            </a:r>
          </a:p>
          <a:p>
            <a:pPr lvl="1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diagrams</a:t>
            </a:r>
          </a:p>
          <a:p>
            <a:pPr lvl="1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diagrams</a:t>
            </a:r>
          </a:p>
          <a:p>
            <a:pPr lvl="0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Ensures design consistency and developer communication.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3767BA6-A0A5-4FD1-84C5-8454B26A4E63}" type="datetime1">
              <a:rPr lang="en-US" smtClean="0"/>
              <a:t>9/1/2026</a:t>
            </a:fld>
            <a:endParaRPr lang="en-US"/>
          </a:p>
        </p:txBody>
      </p:sp>
      <p:sp>
        <p:nvSpPr>
          <p:cNvPr id="10488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  <a:ln>
            <a:solidFill>
              <a:schemeClr val="tx1"/>
            </a:solidFill>
          </a:ln>
        </p:spPr>
        <p:txBody>
          <a:bodyPr>
            <a:noAutofit/>
          </a:bodyPr>
          <a:p>
            <a:r>
              <a:rPr b="1" dirty="0" sz="360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Activity Services</a:t>
            </a:r>
            <a:endParaRPr dirty="0" sz="340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73" name="Content Placeholder 2"/>
          <p:cNvSpPr>
            <a:spLocks noGrp="1"/>
          </p:cNvSpPr>
          <p:nvPr>
            <p:ph idx="1"/>
          </p:nvPr>
        </p:nvSpPr>
        <p:spPr>
          <a:xfrm>
            <a:off x="457200" y="1002890"/>
            <a:ext cx="8229600" cy="5123273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pPr indent="0" lvl="0" marL="0">
              <a:buNone/>
            </a:pPr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Tools &amp; Models</a:t>
            </a:r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 of round-trip engineering tools (e.g., IBM Rational Software Architect).</a:t>
            </a:r>
          </a:p>
          <a:p>
            <a:pPr lvl="0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with:</a:t>
            </a:r>
          </a:p>
          <a:p>
            <a:pPr lvl="1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diagrams</a:t>
            </a:r>
          </a:p>
          <a:p>
            <a:pPr lvl="1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diagrams</a:t>
            </a:r>
          </a:p>
          <a:p>
            <a:pPr lvl="1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diagrams</a:t>
            </a:r>
          </a:p>
          <a:p>
            <a:pPr lvl="0"/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Ensures design consistency and developer communication.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7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3767BA6-A0A5-4FD1-84C5-8454B26A4E63}" type="datetime1">
              <a:rPr lang="en-US" smtClean="0"/>
              <a:t>9/1/2026</a:t>
            </a:fld>
            <a:endParaRPr lang="en-US"/>
          </a:p>
        </p:txBody>
      </p:sp>
      <p:sp>
        <p:nvSpPr>
          <p:cNvPr id="104887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7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  <a:ln>
            <a:solidFill>
              <a:schemeClr val="tx1"/>
            </a:solidFill>
          </a:ln>
        </p:spPr>
        <p:txBody>
          <a:bodyPr>
            <a:noAutofit/>
          </a:bodyPr>
          <a:p>
            <a:r>
              <a:rPr b="1" dirty="0" sz="360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- Loan Management System</a:t>
            </a:r>
            <a:endParaRPr dirty="0" sz="340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78" name="Content Placeholder 2"/>
          <p:cNvSpPr>
            <a:spLocks noGrp="1"/>
          </p:cNvSpPr>
          <p:nvPr>
            <p:ph idx="1"/>
          </p:nvPr>
        </p:nvSpPr>
        <p:spPr>
          <a:xfrm>
            <a:off x="457200" y="1002890"/>
            <a:ext cx="8229600" cy="5123273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p>
            <a:pPr indent="0" lvl="0" marL="0">
              <a:buNone/>
            </a:pPr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cases</a:t>
            </a:r>
          </a:p>
          <a:p>
            <a:pPr indent="-514350" lvl="0" marL="514350">
              <a:buAutoNum type="arabicPeriod"/>
            </a:pPr>
            <a:r>
              <a:rPr dirty="0" sz="2800" lang="en-IN"/>
              <a:t>Register User; </a:t>
            </a:r>
          </a:p>
          <a:p>
            <a:pPr indent="-514350" lvl="0" marL="514350">
              <a:buAutoNum type="arabicPeriod"/>
            </a:pPr>
            <a:r>
              <a:rPr dirty="0" sz="2800" lang="en-IN"/>
              <a:t>2. Request Loan; </a:t>
            </a:r>
          </a:p>
          <a:p>
            <a:pPr indent="-514350" lvl="0" marL="514350">
              <a:buAutoNum type="arabicPeriod"/>
            </a:pPr>
            <a:r>
              <a:rPr dirty="0" sz="2800" lang="en-IN"/>
              <a:t>3. View Loan Status.</a:t>
            </a:r>
          </a:p>
          <a:p>
            <a:pPr indent="0" marL="0">
              <a:buNone/>
            </a:pPr>
            <a:r>
              <a:rPr b="1" dirty="0" sz="280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– </a:t>
            </a:r>
            <a:r>
              <a:rPr dirty="0" sz="2800" lang="en-IN" err="1"/>
              <a:t>LoanService</a:t>
            </a:r>
            <a:endParaRPr dirty="0" sz="2800" lang="en-IN"/>
          </a:p>
          <a:p>
            <a:pPr indent="0" marL="0">
              <a:buNone/>
            </a:pPr>
            <a:r>
              <a:rPr b="1" dirty="0" sz="280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contract – </a:t>
            </a:r>
          </a:p>
          <a:p>
            <a:pPr indent="0" marL="0">
              <a:buNone/>
            </a:pPr>
            <a:r>
              <a:rPr dirty="0" sz="2800" lang="en-IN"/>
              <a:t>IMyLoan</a:t>
            </a:r>
            <a:endParaRPr b="1" dirty="0" sz="280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lvl="0" marL="0">
              <a:buNone/>
            </a:pPr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lvl="0" marL="0">
              <a:buNone/>
            </a:pPr>
            <a:endParaRPr dirty="0" sz="2800" lang="en-IN"/>
          </a:p>
          <a:p>
            <a:pPr indent="0" lvl="0" marL="0">
              <a:buNone/>
            </a:pPr>
            <a:r>
              <a:rPr dirty="0" sz="2800" lang="en-IN"/>
              <a:t>                                           </a:t>
            </a:r>
          </a:p>
          <a:p>
            <a:pPr indent="0" lvl="0" marL="0">
              <a:buNone/>
            </a:pPr>
            <a:r>
              <a:rPr dirty="0" sz="2800" lang="en-IN"/>
              <a:t>                                                Service contract specification.</a:t>
            </a:r>
            <a:endParaRPr dirty="0" sz="28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7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3767BA6-A0A5-4FD1-84C5-8454B26A4E63}" type="datetime1">
              <a:rPr lang="en-US" smtClean="0"/>
              <a:t>9/1/2026</a:t>
            </a:fld>
            <a:endParaRPr lang="en-US"/>
          </a:p>
        </p:txBody>
      </p:sp>
      <p:sp>
        <p:nvSpPr>
          <p:cNvPr id="104888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8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60</a:t>
            </a:fld>
            <a:endParaRPr lang="en-US"/>
          </a:p>
        </p:txBody>
      </p:sp>
      <p:pic>
        <p:nvPicPr>
          <p:cNvPr id="2097158" name="Picture 1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992704" y="1111045"/>
            <a:ext cx="4561361" cy="4345858"/>
          </a:xfrm>
          <a:prstGeom prst="rect"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2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b="1" dirty="0" lang="en-US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LoanService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8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 service called </a:t>
            </a:r>
            <a:r>
              <a:rPr b="1"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LoanService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is defined.</a:t>
            </a: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Service contract: </a:t>
            </a:r>
            <a:r>
              <a:rPr b="1"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IMyLoan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Operation contracts: Define methods of </a:t>
            </a:r>
            <a:r>
              <a:rPr dirty="0"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LoanService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Implements service interface using </a:t>
            </a:r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WSDL (Web Services Definition Language)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8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918EBCD-A3FC-4137-8C35-91F835BDCA4D}" type="datetime1">
              <a:rPr lang="en-US" smtClean="0"/>
              <a:t>9/1/2026</a:t>
            </a:fld>
            <a:endParaRPr lang="en-US"/>
          </a:p>
        </p:txBody>
      </p:sp>
      <p:sp>
        <p:nvSpPr>
          <p:cNvPr id="104888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8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7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Contract</a:t>
            </a:r>
          </a:p>
        </p:txBody>
      </p:sp>
      <p:sp>
        <p:nvSpPr>
          <p:cNvPr id="1048888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Defines the service interface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Specifies </a:t>
            </a:r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methods (operations)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input/output parameters.</a:t>
            </a: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Described in WSDL as:</a:t>
            </a:r>
          </a:p>
          <a:p>
            <a:pPr lvl="1"/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Abstract Description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– Technology-independent, defines service interface.</a:t>
            </a:r>
          </a:p>
          <a:p>
            <a:pPr lvl="1"/>
            <a:r>
              <a:rPr b="1"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Concrete Description</a:t>
            </a:r>
            <a:r>
              <a:rPr dirty="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– Communication binding, endpoint (port), and address.</a:t>
            </a:r>
            <a:endParaRPr dirty="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8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1758A9B-76C1-4658-B1F9-0A4C4AB5B643}" type="datetime1">
              <a:rPr lang="en-US" smtClean="0"/>
              <a:t>9/1/2026</a:t>
            </a:fld>
            <a:endParaRPr lang="en-US"/>
          </a:p>
        </p:txBody>
      </p:sp>
      <p:sp>
        <p:nvSpPr>
          <p:cNvPr id="10488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8923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sz="340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Part</a:t>
            </a:r>
          </a:p>
        </p:txBody>
      </p:sp>
      <p:sp>
        <p:nvSpPr>
          <p:cNvPr id="104889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389152-75DC-4D3B-813A-4DFE21047B89}" type="datetime1">
              <a:rPr lang="en-US" smtClean="0"/>
              <a:t>9/1/2026</a:t>
            </a:fld>
            <a:endParaRPr lang="en-US"/>
          </a:p>
        </p:txBody>
      </p:sp>
      <p:sp>
        <p:nvSpPr>
          <p:cNvPr id="104889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8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63</a:t>
            </a:fld>
            <a:endParaRPr lang="en-US"/>
          </a:p>
        </p:txBody>
      </p:sp>
      <p:sp>
        <p:nvSpPr>
          <p:cNvPr id="1048896" name="Content Placeholder 1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p>
            <a:r>
              <a:rPr dirty="0" lang="en-US"/>
              <a:t>- &lt;</a:t>
            </a:r>
            <a:r>
              <a:rPr dirty="0" lang="en-US" err="1"/>
              <a:t>wsdI:operation</a:t>
            </a:r>
            <a:r>
              <a:rPr dirty="0" lang="en-US"/>
              <a:t> name="</a:t>
            </a:r>
            <a:r>
              <a:rPr dirty="0" lang="en-US" err="1"/>
              <a:t>LoanRequest</a:t>
            </a:r>
            <a:r>
              <a:rPr dirty="0" lang="en-US"/>
              <a:t>"&gt;</a:t>
            </a:r>
          </a:p>
          <a:p>
            <a:r>
              <a:rPr dirty="0" lang="en-US"/>
              <a:t>&lt;</a:t>
            </a:r>
            <a:r>
              <a:rPr dirty="0" lang="en-US" err="1"/>
              <a:t>wsdl:input</a:t>
            </a:r>
            <a:r>
              <a:rPr dirty="0" lang="en-US"/>
              <a:t> </a:t>
            </a:r>
            <a:r>
              <a:rPr dirty="0" lang="en-US" err="1"/>
              <a:t>wsaw:Action</a:t>
            </a:r>
            <a:r>
              <a:rPr dirty="0" lang="en-US"/>
              <a:t>="http://tempuri.org/IMyLoan/</a:t>
            </a:r>
            <a:r>
              <a:rPr dirty="0" lang="en-US" err="1"/>
              <a:t>LoanRequest</a:t>
            </a:r>
            <a:r>
              <a:rPr dirty="0" lang="en-US"/>
              <a:t>"</a:t>
            </a:r>
          </a:p>
          <a:p>
            <a:r>
              <a:rPr dirty="0" lang="en-US"/>
              <a:t>message="</a:t>
            </a:r>
            <a:r>
              <a:rPr dirty="0" lang="en-US" err="1"/>
              <a:t>tns:IMyLoan_LoanRequest_lnputMessage</a:t>
            </a:r>
            <a:r>
              <a:rPr dirty="0" lang="en-US"/>
              <a:t>"/&gt;</a:t>
            </a:r>
          </a:p>
          <a:p>
            <a:r>
              <a:rPr dirty="0" lang="en-US"/>
              <a:t>&lt;</a:t>
            </a:r>
            <a:r>
              <a:rPr dirty="0" lang="en-US" err="1"/>
              <a:t>wsdl:output</a:t>
            </a:r>
            <a:r>
              <a:rPr dirty="0" lang="en-US"/>
              <a:t> </a:t>
            </a:r>
            <a:r>
              <a:rPr dirty="0" lang="en-US" err="1"/>
              <a:t>wsaw:Action</a:t>
            </a:r>
            <a:r>
              <a:rPr dirty="0" lang="en-US"/>
              <a:t>="http://tempuri.org/IMyLoan/</a:t>
            </a:r>
            <a:r>
              <a:rPr dirty="0" lang="en-US" err="1"/>
              <a:t>LoanRequestResponse</a:t>
            </a:r>
            <a:r>
              <a:rPr dirty="0" lang="en-US"/>
              <a:t>"</a:t>
            </a:r>
          </a:p>
          <a:p>
            <a:r>
              <a:rPr dirty="0" lang="en-US"/>
              <a:t>message="</a:t>
            </a:r>
            <a:r>
              <a:rPr dirty="0" lang="en-US" err="1"/>
              <a:t>tns:IMyLoan_LoanRequest_OutputMessage</a:t>
            </a:r>
            <a:r>
              <a:rPr dirty="0" lang="en-US"/>
              <a:t>" /&gt;</a:t>
            </a:r>
          </a:p>
          <a:p>
            <a:r>
              <a:rPr dirty="0" lang="en-US"/>
              <a:t>&lt;/</a:t>
            </a:r>
            <a:r>
              <a:rPr dirty="0" lang="en-US" err="1"/>
              <a:t>wsdl:operation</a:t>
            </a:r>
            <a:r>
              <a:rPr dirty="0" lang="en-US"/>
              <a:t>&gt;</a:t>
            </a:r>
            <a:endParaRPr dirty="0" lang="en-IN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977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Concrete Part</a:t>
            </a:r>
          </a:p>
        </p:txBody>
      </p:sp>
      <p:sp>
        <p:nvSpPr>
          <p:cNvPr id="104889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15D3534-BF60-4527-B6E9-3CD46DE6B200}" type="datetime1">
              <a:rPr lang="en-US" smtClean="0"/>
              <a:t>9/1/2026</a:t>
            </a:fld>
            <a:endParaRPr lang="en-US"/>
          </a:p>
        </p:txBody>
      </p:sp>
      <p:sp>
        <p:nvSpPr>
          <p:cNvPr id="104889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64</a:t>
            </a:fld>
            <a:endParaRPr lang="en-US"/>
          </a:p>
        </p:txBody>
      </p:sp>
      <p:sp>
        <p:nvSpPr>
          <p:cNvPr id="1048901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p>
            <a:r>
              <a:rPr dirty="0" lang="en-IN"/>
              <a:t>- &lt;</a:t>
            </a:r>
            <a:r>
              <a:rPr dirty="0" lang="en-IN" err="1"/>
              <a:t>wsdl:operation</a:t>
            </a:r>
            <a:r>
              <a:rPr dirty="0" lang="en-IN"/>
              <a:t> name="</a:t>
            </a:r>
            <a:r>
              <a:rPr dirty="0" lang="en-IN" err="1"/>
              <a:t>LoanRequest</a:t>
            </a:r>
            <a:r>
              <a:rPr dirty="0" lang="en-IN"/>
              <a:t>"&gt;</a:t>
            </a:r>
          </a:p>
          <a:p>
            <a:r>
              <a:rPr dirty="0" lang="en-IN"/>
              <a:t>&lt;soap12:operation </a:t>
            </a:r>
            <a:r>
              <a:rPr dirty="0" lang="en-IN" err="1"/>
              <a:t>soapAction</a:t>
            </a:r>
            <a:r>
              <a:rPr dirty="0" lang="en-IN"/>
              <a:t>="http://tempuri.org/IMyLoan/</a:t>
            </a:r>
            <a:r>
              <a:rPr dirty="0" lang="en-IN" err="1"/>
              <a:t>LoanRequest</a:t>
            </a:r>
            <a:r>
              <a:rPr dirty="0" lang="en-IN"/>
              <a:t>" style="document" /&gt;</a:t>
            </a:r>
          </a:p>
          <a:p>
            <a:r>
              <a:rPr dirty="0" lang="en-IN"/>
              <a:t>- &lt;</a:t>
            </a:r>
            <a:r>
              <a:rPr dirty="0" lang="en-IN" err="1"/>
              <a:t>wsdl:input</a:t>
            </a:r>
            <a:r>
              <a:rPr dirty="0" lang="en-IN"/>
              <a:t>&gt;</a:t>
            </a:r>
          </a:p>
          <a:p>
            <a:r>
              <a:rPr dirty="0" lang="en-IN"/>
              <a:t>&lt;</a:t>
            </a:r>
            <a:r>
              <a:rPr dirty="0" lang="en-IN" err="1"/>
              <a:t>wsp:PolicyReference</a:t>
            </a:r>
            <a:r>
              <a:rPr dirty="0" lang="en-IN"/>
              <a:t> URI="#</a:t>
            </a:r>
            <a:r>
              <a:rPr dirty="0" lang="en-IN" err="1"/>
              <a:t>WSHttpBinding_IMyLoan_LoanRequest_lnput_policy</a:t>
            </a:r>
            <a:r>
              <a:rPr dirty="0" lang="en-IN"/>
              <a:t>" /&gt;</a:t>
            </a:r>
          </a:p>
          <a:p>
            <a:r>
              <a:rPr dirty="0" lang="en-IN"/>
              <a:t>&lt;soap12:body use="literal" /&gt;</a:t>
            </a:r>
          </a:p>
          <a:p>
            <a:r>
              <a:rPr dirty="0" lang="en-IN"/>
              <a:t>&lt;/</a:t>
            </a:r>
            <a:r>
              <a:rPr dirty="0" lang="en-IN" err="1"/>
              <a:t>wsdl:input</a:t>
            </a:r>
            <a:r>
              <a:rPr dirty="0" lang="en-IN"/>
              <a:t>&gt;</a:t>
            </a:r>
          </a:p>
          <a:p>
            <a:r>
              <a:rPr dirty="0" lang="en-IN"/>
              <a:t>- &lt;</a:t>
            </a:r>
            <a:r>
              <a:rPr dirty="0" lang="en-IN" err="1"/>
              <a:t>wsdl:output</a:t>
            </a:r>
            <a:r>
              <a:rPr dirty="0" lang="en-IN"/>
              <a:t>&gt;</a:t>
            </a:r>
          </a:p>
          <a:p>
            <a:r>
              <a:rPr dirty="0" lang="en-IN"/>
              <a:t>&lt;</a:t>
            </a:r>
            <a:r>
              <a:rPr dirty="0" lang="en-IN" err="1"/>
              <a:t>wsp:PolicyReference</a:t>
            </a:r>
            <a:r>
              <a:rPr dirty="0" lang="en-IN"/>
              <a:t> URI="#</a:t>
            </a:r>
            <a:r>
              <a:rPr dirty="0" lang="en-IN" err="1"/>
              <a:t>WSHttpBinding_IMyLoan_LoanRequest_output_policy</a:t>
            </a:r>
            <a:r>
              <a:rPr dirty="0" lang="en-IN"/>
              <a:t>" /&gt;</a:t>
            </a:r>
          </a:p>
          <a:p>
            <a:r>
              <a:rPr dirty="0" lang="en-IN"/>
              <a:t>&lt;soap12:body use="literal" /&gt;</a:t>
            </a:r>
          </a:p>
          <a:p>
            <a:r>
              <a:rPr dirty="0" lang="en-IN"/>
              <a:t>&lt;/</a:t>
            </a:r>
            <a:r>
              <a:rPr dirty="0" lang="en-IN" err="1"/>
              <a:t>wsdl:output</a:t>
            </a:r>
            <a:r>
              <a:rPr dirty="0" lang="en-IN"/>
              <a:t>&gt;</a:t>
            </a:r>
          </a:p>
          <a:p>
            <a:r>
              <a:rPr dirty="0" lang="en-IN"/>
              <a:t>&lt;/</a:t>
            </a:r>
            <a:r>
              <a:rPr dirty="0" lang="en-IN" err="1"/>
              <a:t>wsdl:operation</a:t>
            </a:r>
            <a:r>
              <a:rPr dirty="0" lang="en-IN"/>
              <a:t>&gt;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Content Placeholder 4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71036" y="1177290"/>
            <a:ext cx="7995290" cy="4834890"/>
          </a:xfrm>
          <a:ln>
            <a:solidFill>
              <a:schemeClr val="tx1"/>
            </a:solidFill>
          </a:ln>
        </p:spPr>
      </p:pic>
      <p:sp>
        <p:nvSpPr>
          <p:cNvPr id="104890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A9BB884-F03A-4688-A172-81458E1CF44C}" type="datetime1">
              <a:rPr lang="en-US" smtClean="0"/>
              <a:t>9/1/2026</a:t>
            </a:fld>
            <a:endParaRPr lang="en-US"/>
          </a:p>
        </p:txBody>
      </p:sp>
      <p:sp>
        <p:nvSpPr>
          <p:cNvPr id="104890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0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05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Specification</a:t>
            </a:r>
          </a:p>
        </p:txBody>
      </p:sp>
      <p:sp>
        <p:nvSpPr>
          <p:cNvPr id="1048906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</a:t>
            </a:r>
            <a:r>
              <a:rPr b="1"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endpoints</a:t>
            </a:r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for communication.</a:t>
            </a: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Each endpoint = Address + Binding Protocol + Contract.</a:t>
            </a:r>
          </a:p>
          <a:p>
            <a:r>
              <a:rPr dirty="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Example: URI (Uniform Resource Identifier) specifies service location.</a:t>
            </a:r>
          </a:p>
        </p:txBody>
      </p:sp>
      <p:sp>
        <p:nvSpPr>
          <p:cNvPr id="104890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D294381-721F-4A55-8A2C-91DD3E742A64}" type="datetime1">
              <a:rPr lang="en-US" smtClean="0"/>
              <a:t>9/1/2026</a:t>
            </a:fld>
            <a:endParaRPr lang="en-US"/>
          </a:p>
        </p:txBody>
      </p:sp>
      <p:sp>
        <p:nvSpPr>
          <p:cNvPr id="104890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0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0" name="Title 1"/>
          <p:cNvSpPr>
            <a:spLocks noGrp="1"/>
          </p:cNvSpPr>
          <p:nvPr>
            <p:ph type="title"/>
          </p:nvPr>
        </p:nvSpPr>
        <p:spPr>
          <a:xfrm>
            <a:off x="457200" y="80328"/>
            <a:ext cx="8229600" cy="788352"/>
          </a:xfrm>
          <a:ln>
            <a:solidFill>
              <a:schemeClr val="tx1"/>
            </a:solidFill>
          </a:ln>
        </p:spPr>
        <p:txBody>
          <a:bodyPr/>
          <a:p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Contract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11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457200" y="5170934"/>
            <a:ext cx="7418070" cy="1384995"/>
          </a:xfrm>
          <a:prstGeom prst="rect"/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21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Defines </a:t>
            </a:r>
            <a:r>
              <a:rPr altLang="en-US" baseline="0" b="1" cap="none" dirty="0" sz="21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exchanged</a:t>
            </a:r>
            <a:r>
              <a:rPr altLang="en-US" baseline="0" b="0" cap="none" dirty="0" sz="21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service and consumer.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21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altLang="en-US" baseline="0" b="1" cap="none" dirty="0" sz="21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LoanRequest</a:t>
            </a:r>
            <a:r>
              <a:rPr altLang="en-US" baseline="0" b="0" cap="none" dirty="0" sz="21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operation in </a:t>
            </a:r>
            <a:r>
              <a:rPr altLang="en-US" baseline="0" b="0" cap="none" dirty="0" sz="2100" i="0" kumimoji="0" lang="en-US" normalizeH="0" err="1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LoanService</a:t>
            </a:r>
            <a:r>
              <a:rPr altLang="en-US" baseline="0" b="0" cap="none" dirty="0" sz="21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21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using </a:t>
            </a:r>
            <a:r>
              <a:rPr altLang="en-US" baseline="0" b="1" cap="none" dirty="0" sz="21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Microsoft WCF</a:t>
            </a:r>
            <a:r>
              <a:rPr altLang="en-US" baseline="0" b="0" cap="none" dirty="0" sz="21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 defTabSz="914400" eaLnBrk="0" fontAlgn="base" hangingPunct="0" indent="0" latinLnBrk="0" lvl="0" marL="0" marR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altLang="en-US" baseline="0" b="0" cap="none" dirty="0" sz="21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Stored as </a:t>
            </a:r>
            <a:r>
              <a:rPr altLang="en-US" baseline="0" b="1" cap="none" dirty="0" sz="21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XSD files</a:t>
            </a:r>
            <a:r>
              <a:rPr altLang="en-US" baseline="0" b="0" cap="none" dirty="0" sz="2100" i="0" kumimoji="0" lang="en-US" normalizeH="0" strike="noStrike" u="none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WSDL → used for input/output messages.</a:t>
            </a:r>
          </a:p>
        </p:txBody>
      </p:sp>
      <p:sp>
        <p:nvSpPr>
          <p:cNvPr id="1048912" name="TextBox 3"/>
          <p:cNvSpPr txBox="1"/>
          <p:nvPr/>
        </p:nvSpPr>
        <p:spPr>
          <a:xfrm>
            <a:off x="480060" y="1004411"/>
            <a:ext cx="8446770" cy="1061829"/>
          </a:xfrm>
          <a:prstGeom prst="rect"/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pPr algn="just">
              <a:buNone/>
            </a:pPr>
            <a:r>
              <a:rPr dirty="0" sz="21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b="1" dirty="0" sz="21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WCF (Windows Communication Foundation)</a:t>
            </a:r>
            <a:r>
              <a:rPr dirty="0" sz="21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b="1" dirty="0" sz="21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Contract</a:t>
            </a:r>
            <a:r>
              <a:rPr dirty="0" sz="21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is a formal agreement between a </a:t>
            </a:r>
            <a:r>
              <a:rPr b="1" dirty="0" sz="21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  <a:r>
              <a:rPr dirty="0" sz="21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b="1" dirty="0" sz="21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r>
              <a:rPr dirty="0" sz="21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that defines the </a:t>
            </a:r>
            <a:r>
              <a:rPr b="1" dirty="0" sz="21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structure of the data</a:t>
            </a:r>
            <a:r>
              <a:rPr dirty="0" sz="21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be exchanged.</a:t>
            </a:r>
          </a:p>
        </p:txBody>
      </p:sp>
      <p:sp>
        <p:nvSpPr>
          <p:cNvPr id="1048913" name="TextBox 4"/>
          <p:cNvSpPr txBox="1"/>
          <p:nvPr/>
        </p:nvSpPr>
        <p:spPr>
          <a:xfrm>
            <a:off x="506730" y="2242661"/>
            <a:ext cx="8317230" cy="2677656"/>
          </a:xfrm>
          <a:prstGeom prst="rect"/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p>
            <a:r>
              <a:rPr dirty="0" sz="21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b="1" dirty="0" sz="21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Data Contract</a:t>
            </a:r>
            <a:r>
              <a:rPr dirty="0" sz="21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specifies:</a:t>
            </a:r>
          </a:p>
          <a:p>
            <a:pPr lvl="0"/>
            <a:r>
              <a:rPr dirty="0" sz="21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What data is sent (fields/properties).</a:t>
            </a:r>
          </a:p>
          <a:p>
            <a:pPr lvl="0"/>
            <a:r>
              <a:rPr dirty="0" sz="21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How the data is serialized (converted to XML/JSON for transmission).</a:t>
            </a:r>
          </a:p>
          <a:p>
            <a:pPr lvl="0"/>
            <a:r>
              <a:rPr dirty="0" sz="21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What the structure of the message looks like.</a:t>
            </a:r>
          </a:p>
          <a:p>
            <a:r>
              <a:rPr dirty="0" sz="21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It is declared in C# using </a:t>
            </a:r>
            <a:r>
              <a:rPr b="1" dirty="0" sz="21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dirty="0" sz="21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/>
            <a:r>
              <a:rPr dirty="0" sz="21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dirty="0" sz="2100"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DataContract</a:t>
            </a:r>
            <a:r>
              <a:rPr dirty="0" sz="21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] → marks the class as serializable for WCF.</a:t>
            </a:r>
          </a:p>
          <a:p>
            <a:pPr lvl="0"/>
            <a:r>
              <a:rPr dirty="0" sz="21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dirty="0" sz="2100"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DataMember</a:t>
            </a:r>
            <a:r>
              <a:rPr dirty="0" sz="21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] → marks individual fields/properties that should be included in the serialized data.</a:t>
            </a:r>
          </a:p>
        </p:txBody>
      </p:sp>
      <p:sp>
        <p:nvSpPr>
          <p:cNvPr id="104891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FC6869D-7B6B-438B-BA1F-F958890036ED}" type="datetime1">
              <a:rPr lang="en-US" smtClean="0"/>
              <a:t>9/1/2026</a:t>
            </a:fld>
            <a:endParaRPr lang="en-US"/>
          </a:p>
        </p:txBody>
      </p:sp>
      <p:sp>
        <p:nvSpPr>
          <p:cNvPr id="1048915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16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7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for </a:t>
            </a:r>
            <a:r>
              <a:rPr b="1" dirty="0" lang="en-IN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RegisterUser</a:t>
            </a:r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b="1" dirty="0" lang="en-IN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endParaRPr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1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36D62AF-11BA-4896-9AB0-C2DD3420BE9F}" type="datetime1">
              <a:rPr lang="en-US" smtClean="0"/>
              <a:t>9/1/2026</a:t>
            </a:fld>
            <a:endParaRPr lang="en-US"/>
          </a:p>
        </p:txBody>
      </p:sp>
      <p:sp>
        <p:nvSpPr>
          <p:cNvPr id="104891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2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68</a:t>
            </a:fld>
            <a:endParaRPr lang="en-US"/>
          </a:p>
        </p:txBody>
      </p:sp>
      <p:pic>
        <p:nvPicPr>
          <p:cNvPr id="2097160" name="Picture 7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67528" y="1916298"/>
            <a:ext cx="7277174" cy="4012553"/>
          </a:xfrm>
          <a:prstGeom prst="rect"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1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p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Data Services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22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p>
            <a:pPr indent="0" lvl="0" marL="0">
              <a:buNone/>
            </a:pPr>
            <a:r>
              <a:rPr b="1" dirty="0" lang="en-IN"/>
              <a:t>Introduction</a:t>
            </a:r>
          </a:p>
          <a:p>
            <a:r>
              <a:rPr dirty="0" sz="3000" lang="en-US"/>
              <a:t>Data services are the backbone of SOA.</a:t>
            </a:r>
          </a:p>
          <a:p>
            <a:r>
              <a:rPr dirty="0" sz="2800" lang="en-US"/>
              <a:t>They decouple consumers from data stores</a:t>
            </a:r>
          </a:p>
          <a:p>
            <a:pPr indent="0" marL="0">
              <a:buNone/>
            </a:pPr>
            <a:r>
              <a:rPr dirty="0" sz="2800" lang="en-US"/>
              <a:t> and provide a consistent enterprise-wide view</a:t>
            </a:r>
            <a:r>
              <a:rPr dirty="0" sz="3000" lang="en-US"/>
              <a:t>.</a:t>
            </a:r>
          </a:p>
          <a:p>
            <a:endParaRPr dirty="0" lang="en-US"/>
          </a:p>
          <a:p>
            <a:pPr indent="0" marL="0">
              <a:buNone/>
            </a:pPr>
            <a:r>
              <a:rPr b="1" dirty="0" lang="en-US"/>
              <a:t>Key Benefits:</a:t>
            </a:r>
          </a:p>
          <a:p>
            <a:r>
              <a:rPr dirty="0" sz="3000" lang="en-US"/>
              <a:t>- Fine-grained and reusable</a:t>
            </a:r>
          </a:p>
          <a:p>
            <a:r>
              <a:rPr dirty="0" sz="3000" lang="en-US"/>
              <a:t>- Promote consistency, flexibility</a:t>
            </a:r>
          </a:p>
          <a:p>
            <a:r>
              <a:rPr dirty="0" sz="3000" lang="en-US"/>
              <a:t>- Enable integration across business processes</a:t>
            </a:r>
          </a:p>
          <a:p>
            <a:pPr lvl="0"/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1" name="Picture 2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 bwMode="auto">
          <a:xfrm>
            <a:off x="7226301" y="1600200"/>
            <a:ext cx="2108200" cy="4386263"/>
          </a:xfrm>
          <a:prstGeom prst="rect"/>
          <a:noFill/>
          <a:ln>
            <a:noFill/>
          </a:ln>
          <a:effectLst/>
        </p:spPr>
      </p:pic>
      <p:sp>
        <p:nvSpPr>
          <p:cNvPr id="1048923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CA48336-EA49-4C63-9DD5-649140E4E7A3}" type="datetime1">
              <a:rPr lang="en-US" smtClean="0"/>
              <a:t>9/1/2026</a:t>
            </a:fld>
            <a:endParaRPr lang="en-US"/>
          </a:p>
        </p:txBody>
      </p:sp>
      <p:sp>
        <p:nvSpPr>
          <p:cNvPr id="1048924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2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6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Data Services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27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p>
            <a:r>
              <a:rPr dirty="0" lang="en-US"/>
              <a:t>1. Services that encapsulate enterprise data access</a:t>
            </a:r>
          </a:p>
          <a:p>
            <a:r>
              <a:rPr dirty="0" lang="en-US"/>
              <a:t>2. Services that enable interaction with external data sources</a:t>
            </a:r>
          </a:p>
          <a:p>
            <a:pPr indent="0" marL="0">
              <a:buNone/>
            </a:pPr>
            <a:endParaRPr dirty="0" lang="en-US"/>
          </a:p>
          <a:p>
            <a:pPr indent="0" marL="0">
              <a:buNone/>
            </a:pPr>
            <a:r>
              <a:rPr b="1" dirty="0" lang="en-US"/>
              <a:t>Features:</a:t>
            </a:r>
          </a:p>
          <a:p>
            <a:r>
              <a:rPr dirty="0" lang="en-US"/>
              <a:t>- CRUD operations with security policies</a:t>
            </a:r>
          </a:p>
          <a:p>
            <a:r>
              <a:rPr dirty="0" lang="en-US"/>
              <a:t>- Bulk data delivery and streaming</a:t>
            </a:r>
          </a:p>
          <a:p>
            <a:r>
              <a:rPr dirty="0" lang="en-US"/>
              <a:t>- Unified access across applications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DA2AE4B9-8780-49E7-B64C-1315B0BDEDE4}" type="datetime1">
              <a:rPr lang="en-US" smtClean="0"/>
              <a:t>9/1/2026</a:t>
            </a:fld>
            <a:endParaRPr lang="en-US"/>
          </a:p>
        </p:txBody>
      </p:sp>
      <p:sp>
        <p:nvSpPr>
          <p:cNvPr id="10489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1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Process of Data Services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32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lang="en-IN"/>
              <a:t>Steps:</a:t>
            </a:r>
          </a:p>
          <a:p>
            <a:pPr indent="0" marL="0">
              <a:buNone/>
            </a:pPr>
            <a:r>
              <a:rPr dirty="0" lang="en-IN"/>
              <a:t>1. Data Modelling → Enterprise data model</a:t>
            </a:r>
          </a:p>
          <a:p>
            <a:pPr indent="0" marL="0">
              <a:buNone/>
            </a:pPr>
            <a:r>
              <a:rPr dirty="0" lang="en-IN"/>
              <a:t>2. Data Services Identification</a:t>
            </a:r>
          </a:p>
          <a:p>
            <a:pPr indent="0" marL="0">
              <a:buNone/>
            </a:pPr>
            <a:r>
              <a:rPr dirty="0" lang="en-IN"/>
              <a:t>3. Perform Analysis</a:t>
            </a:r>
          </a:p>
          <a:p>
            <a:pPr indent="0" marL="0">
              <a:buNone/>
            </a:pPr>
            <a:r>
              <a:rPr dirty="0" lang="en-IN"/>
              <a:t>4. Technology Selection</a:t>
            </a:r>
          </a:p>
          <a:p>
            <a:pPr indent="0" marL="0">
              <a:buNone/>
            </a:pPr>
            <a:r>
              <a:rPr dirty="0" lang="en-IN"/>
              <a:t>5. Design Data Services → Design model</a:t>
            </a:r>
          </a:p>
          <a:p>
            <a:pPr indent="0" marL="0">
              <a:buNone/>
            </a:pPr>
            <a:r>
              <a:rPr dirty="0" lang="en-IN"/>
              <a:t>6. Code &amp; Test Data Services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BF8EC3D1-C87F-4B85-88F6-B8509EA68CE2}" type="datetime1">
              <a:rPr lang="en-US" smtClean="0"/>
              <a:t>9/1/2026</a:t>
            </a:fld>
            <a:endParaRPr lang="en-US"/>
          </a:p>
        </p:txBody>
      </p:sp>
      <p:sp>
        <p:nvSpPr>
          <p:cNvPr id="10489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6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Loan Management System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37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lang="en-US"/>
              <a:t>- Loan data acts as Master Data Service</a:t>
            </a:r>
          </a:p>
          <a:p>
            <a:r>
              <a:rPr dirty="0" lang="en-US"/>
              <a:t>- Customer subscribes to Loan + Credit Card → Master Data reused</a:t>
            </a:r>
          </a:p>
          <a:p>
            <a:r>
              <a:rPr dirty="0" lang="en-US"/>
              <a:t>- Avoids duplication and ensures synchronization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1965671-1A00-429C-9D12-5162BC8795EC}" type="datetime1">
              <a:rPr lang="en-US" smtClean="0"/>
              <a:t>9/1/2026</a:t>
            </a:fld>
            <a:endParaRPr lang="en-US"/>
          </a:p>
        </p:txBody>
      </p:sp>
      <p:sp>
        <p:nvSpPr>
          <p:cNvPr id="10489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1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Layer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42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2500"/>
          </a:bodyPr>
          <a:p>
            <a:r>
              <a:rPr dirty="0" lang="en-US"/>
              <a:t>Integrates multiple sources:</a:t>
            </a:r>
          </a:p>
          <a:p>
            <a:r>
              <a:rPr dirty="0" lang="en-US"/>
              <a:t>- Relational Databases</a:t>
            </a:r>
          </a:p>
          <a:p>
            <a:r>
              <a:rPr dirty="0" lang="en-US"/>
              <a:t>- Spreadsheets</a:t>
            </a:r>
          </a:p>
          <a:p>
            <a:r>
              <a:rPr dirty="0" lang="en-US"/>
              <a:t>- Warehouses</a:t>
            </a:r>
          </a:p>
          <a:p>
            <a:r>
              <a:rPr dirty="0" lang="en-US"/>
              <a:t>- External Data</a:t>
            </a:r>
          </a:p>
          <a:p>
            <a:endParaRPr dirty="0" lang="en-US"/>
          </a:p>
          <a:p>
            <a:r>
              <a:rPr dirty="0" lang="en-US"/>
              <a:t>Mapping &amp; Transformation ensures unified access</a:t>
            </a:r>
          </a:p>
          <a:p>
            <a:r>
              <a:rPr dirty="0" lang="en-US"/>
              <a:t>via integrated data objects exposed as services.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4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C8F30C7-1B06-4532-9F85-95CCE903FFAC}" type="datetime1">
              <a:rPr lang="en-US" smtClean="0"/>
              <a:t>9/1/2026</a:t>
            </a:fld>
            <a:endParaRPr lang="en-US"/>
          </a:p>
        </p:txBody>
      </p:sp>
      <p:sp>
        <p:nvSpPr>
          <p:cNvPr id="104894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4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6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Layer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2" name="Content Placeholder 3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981200" y="1946787"/>
            <a:ext cx="5640634" cy="3704713"/>
          </a:xfrm>
          <a:ln>
            <a:solidFill>
              <a:schemeClr val="tx1"/>
            </a:solidFill>
          </a:ln>
        </p:spPr>
      </p:pic>
      <p:sp>
        <p:nvSpPr>
          <p:cNvPr id="104894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FCE1134E-0131-4E0C-98A0-04CC6CFE7BA4}" type="datetime1">
              <a:rPr lang="en-US" smtClean="0"/>
              <a:t>9/1/2026</a:t>
            </a:fld>
            <a:endParaRPr lang="en-US"/>
          </a:p>
        </p:txBody>
      </p:sp>
      <p:sp>
        <p:nvSpPr>
          <p:cNvPr id="104894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4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0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414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Client Services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51" name="Content Placeholder 2"/>
          <p:cNvSpPr>
            <a:spLocks noGrp="1"/>
          </p:cNvSpPr>
          <p:nvPr>
            <p:ph idx="1"/>
          </p:nvPr>
        </p:nvSpPr>
        <p:spPr>
          <a:xfrm>
            <a:off x="457200" y="1258530"/>
            <a:ext cx="8229600" cy="4867634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p>
            <a:r>
              <a:rPr dirty="0" lang="en-US"/>
              <a:t>Client services deliver content to front-end applications.</a:t>
            </a:r>
          </a:p>
          <a:p>
            <a:pPr indent="0" marL="0">
              <a:buNone/>
            </a:pPr>
            <a:r>
              <a:rPr b="1" dirty="0" lang="en-US"/>
              <a:t>They are of two types:</a:t>
            </a:r>
          </a:p>
          <a:p>
            <a:pPr indent="0" marL="0">
              <a:buNone/>
            </a:pPr>
            <a:r>
              <a:rPr dirty="0" lang="en-US"/>
              <a:t>1. Fine-grained business data (e.g., order information)</a:t>
            </a:r>
          </a:p>
          <a:p>
            <a:pPr indent="0" marL="0">
              <a:buNone/>
            </a:pPr>
            <a:r>
              <a:rPr dirty="0" lang="en-US"/>
              <a:t>2. Coarse-grained aggregated data (e.g., dashboards)</a:t>
            </a:r>
            <a:br>
              <a:rPr dirty="0" lang="en-US"/>
            </a:br>
            <a:br>
              <a:rPr dirty="0" lang="en-US"/>
            </a:br>
            <a:r>
              <a:rPr dirty="0" lang="en-US"/>
              <a:t>Content is provided to users in </a:t>
            </a:r>
            <a:r>
              <a:rPr dirty="0" lang="en-US" err="1"/>
              <a:t>enterprise,clients</a:t>
            </a:r>
            <a:r>
              <a:rPr dirty="0" lang="en-US"/>
              <a:t>  and partners.</a:t>
            </a:r>
          </a:p>
          <a:p>
            <a:pPr indent="0" marL="0">
              <a:buNone/>
            </a:pPr>
            <a:endParaRPr dirty="0" lang="en-US"/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5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13C83DB-3720-4486-8E16-E6E4FE118F8D}" type="datetime1">
              <a:rPr lang="en-US" smtClean="0"/>
              <a:t>9/1/2026</a:t>
            </a:fld>
            <a:endParaRPr lang="en-US"/>
          </a:p>
        </p:txBody>
      </p:sp>
      <p:sp>
        <p:nvSpPr>
          <p:cNvPr id="104895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5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5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lang="en-IN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 of Client Services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56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pPr indent="0" marL="0">
              <a:buNone/>
            </a:pPr>
            <a:r>
              <a:rPr dirty="0" lang="en-IN"/>
              <a:t>- Content must be aggregated, filtered, and presented for end users.</a:t>
            </a:r>
          </a:p>
          <a:p>
            <a:pPr indent="0" marL="0">
              <a:buNone/>
            </a:pPr>
            <a:r>
              <a:rPr dirty="0" lang="en-IN"/>
              <a:t>- Presentation tools include web/mobile user interfaces, dashboards, and portals.</a:t>
            </a:r>
          </a:p>
          <a:p>
            <a:pPr indent="0" marL="0">
              <a:buNone/>
            </a:pPr>
            <a:r>
              <a:rPr dirty="0" lang="en-IN"/>
              <a:t>- Technologies: Web 2.0, </a:t>
            </a:r>
            <a:r>
              <a:rPr dirty="0" lang="en-IN" err="1"/>
              <a:t>Mashup</a:t>
            </a:r>
            <a:r>
              <a:rPr dirty="0" lang="en-IN"/>
              <a:t>, AJAX, REST.</a:t>
            </a:r>
          </a:p>
          <a:p>
            <a:pPr indent="0" marL="0">
              <a:buNone/>
            </a:pPr>
            <a:r>
              <a:rPr dirty="0" lang="en-IN"/>
              <a:t>- </a:t>
            </a:r>
            <a:r>
              <a:rPr dirty="0" lang="en-IN" err="1"/>
              <a:t>Mashup</a:t>
            </a:r>
            <a:r>
              <a:rPr dirty="0" lang="en-IN"/>
              <a:t> aggregators combine data from multiple services for richer views.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5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BF991E4-C1F8-45C3-8A6A-4738AB0998B2}" type="datetime1">
              <a:rPr lang="en-US" smtClean="0"/>
              <a:t>9/1/2026</a:t>
            </a:fld>
            <a:endParaRPr lang="en-US"/>
          </a:p>
        </p:txBody>
      </p:sp>
      <p:sp>
        <p:nvSpPr>
          <p:cNvPr id="104895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5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0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Client Services Design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61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p>
            <a:pPr indent="0" marL="0">
              <a:buNone/>
            </a:pPr>
            <a:r>
              <a:rPr dirty="0" lang="en-US"/>
              <a:t>1. Identify aggregation of fine-grained business data and aggregated data.</a:t>
            </a:r>
          </a:p>
          <a:p>
            <a:pPr indent="0" marL="0">
              <a:buNone/>
            </a:pPr>
            <a:r>
              <a:rPr dirty="0" lang="en-US"/>
              <a:t>2. Represent requirements as use cases.</a:t>
            </a:r>
          </a:p>
          <a:p>
            <a:pPr indent="0" marL="0">
              <a:buNone/>
            </a:pPr>
            <a:r>
              <a:rPr dirty="0" lang="en-US"/>
              <a:t>3. Identify interaction and presentation components.</a:t>
            </a:r>
          </a:p>
          <a:p>
            <a:pPr indent="0" marL="0">
              <a:buNone/>
            </a:pPr>
            <a:r>
              <a:rPr dirty="0" lang="en-US"/>
              <a:t>4. Define business process logic across services.</a:t>
            </a:r>
          </a:p>
          <a:p>
            <a:pPr indent="0" marL="0">
              <a:buNone/>
            </a:pPr>
            <a:r>
              <a:rPr dirty="0" lang="en-US"/>
              <a:t>5. Select interaction styles, protocols, and tools.</a:t>
            </a:r>
          </a:p>
          <a:p>
            <a:pPr indent="0" marL="0">
              <a:buNone/>
            </a:pPr>
            <a:r>
              <a:rPr dirty="0" lang="en-US"/>
              <a:t>6. Specify client services in terms of service contracts and data contracts.</a:t>
            </a:r>
          </a:p>
          <a:p>
            <a:endParaRPr dirty="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6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35BD7383-8CC1-4734-8888-053E942E8B3C}" type="datetime1">
              <a:rPr lang="en-US" smtClean="0"/>
              <a:t>9/1/2026</a:t>
            </a:fld>
            <a:endParaRPr lang="en-US"/>
          </a:p>
        </p:txBody>
      </p:sp>
      <p:sp>
        <p:nvSpPr>
          <p:cNvPr id="104896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6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5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Loan Management System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66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lang="en-US"/>
              <a:t>- Functions: registration, loan request, enquiry for status.</a:t>
            </a:r>
          </a:p>
          <a:p>
            <a:r>
              <a:rPr dirty="0" lang="en-US"/>
              <a:t>- Enterprise users approve loans through dashboards.</a:t>
            </a:r>
          </a:p>
          <a:p>
            <a:r>
              <a:rPr dirty="0" lang="en-US"/>
              <a:t>- Mobile and portal integration ensures accessibility.</a:t>
            </a:r>
          </a:p>
          <a:p>
            <a:r>
              <a:rPr dirty="0" lang="en-US"/>
              <a:t>- Architecture integrates ESB and API Gateway for internal/external apps.</a:t>
            </a:r>
          </a:p>
        </p:txBody>
      </p:sp>
      <p:sp>
        <p:nvSpPr>
          <p:cNvPr id="1048967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DBCA497-9519-4BE3-A3A1-29287F3B7C41}" type="datetime1">
              <a:rPr lang="en-US" smtClean="0"/>
              <a:t>9/1/2026</a:t>
            </a:fld>
            <a:endParaRPr lang="en-US"/>
          </a:p>
        </p:txBody>
      </p:sp>
      <p:sp>
        <p:nvSpPr>
          <p:cNvPr id="104896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69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0" name="Title 1"/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</a:t>
            </a:r>
            <a:r>
              <a:rPr b="1" dirty="0" lang="en-US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Cient</a:t>
            </a:r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Services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3" name="Picture 2" descr="C:\Users\Admin\Downloads\ChatGPT Image Aug 25, 2025, 04_32_53 PM.png"/>
          <p:cNvPicPr>
            <a:picLocks noChangeAspect="1" noGrp="1" noChangeArrowheads="1"/>
          </p:cNvPicPr>
          <p:nvPr>
            <p:ph idx="1"/>
          </p:nvPr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 bwMode="auto">
          <a:xfrm>
            <a:off x="2247900" y="1600200"/>
            <a:ext cx="4584700" cy="5041900"/>
          </a:xfrm>
          <a:prstGeom prst="rect"/>
          <a:noFill/>
        </p:spPr>
      </p:pic>
      <p:sp>
        <p:nvSpPr>
          <p:cNvPr id="10489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9DC0A0D-1165-48F5-ABA6-344CAA529C88}" type="datetime1">
              <a:rPr lang="en-US" smtClean="0"/>
              <a:t>9/1/2026</a:t>
            </a:fld>
            <a:endParaRPr lang="en-US"/>
          </a:p>
        </p:txBody>
      </p:sp>
      <p:sp>
        <p:nvSpPr>
          <p:cNvPr id="10489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4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of Business Process Services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75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p>
            <a:r>
              <a:rPr dirty="0" lang="en-US"/>
              <a:t>Business process services externalize processes for enterprise-wide reuse.</a:t>
            </a:r>
          </a:p>
          <a:p>
            <a:r>
              <a:rPr dirty="0" lang="en-US"/>
              <a:t>They model workflows and tasks as services.</a:t>
            </a:r>
          </a:p>
          <a:p>
            <a:endParaRPr dirty="0" lang="en-US"/>
          </a:p>
          <a:p>
            <a:pPr indent="0" marL="0">
              <a:buNone/>
            </a:pPr>
            <a:r>
              <a:rPr b="1" dirty="0" lang="en-US"/>
              <a:t>Key technology: </a:t>
            </a:r>
            <a:r>
              <a:rPr dirty="0" lang="en-US">
                <a:solidFill>
                  <a:srgbClr val="FF0000"/>
                </a:solidFill>
              </a:rPr>
              <a:t>WS-BPEL (Web Services Business Process Execution Language)</a:t>
            </a:r>
          </a:p>
          <a:p>
            <a:pPr indent="0" marL="0">
              <a:buNone/>
            </a:pPr>
            <a:endParaRPr dirty="0" lang="en-US"/>
          </a:p>
          <a:p>
            <a:pPr indent="0" marL="0">
              <a:buNone/>
            </a:pPr>
            <a:r>
              <a:rPr dirty="0" lang="en-US"/>
              <a:t>• XML-based standard</a:t>
            </a:r>
          </a:p>
          <a:p>
            <a:pPr indent="0" marL="0">
              <a:buNone/>
            </a:pPr>
            <a:r>
              <a:rPr dirty="0" lang="en-US"/>
              <a:t>• Supports orchestration of web services</a:t>
            </a:r>
          </a:p>
          <a:p>
            <a:pPr indent="0" marL="0">
              <a:buNone/>
            </a:pPr>
            <a:r>
              <a:rPr dirty="0" lang="en-US"/>
              <a:t>• Models business processes as flows of service interactions</a:t>
            </a:r>
          </a:p>
          <a:p>
            <a:endParaRPr dirty="0" lang="en-US"/>
          </a:p>
        </p:txBody>
      </p:sp>
      <p:sp>
        <p:nvSpPr>
          <p:cNvPr id="10489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DF88A12-C581-47F2-860C-7633555F0225}" type="datetime1">
              <a:rPr lang="en-US" smtClean="0"/>
              <a:t>9/1/2026</a:t>
            </a:fld>
            <a:endParaRPr lang="en-US"/>
          </a:p>
        </p:txBody>
      </p:sp>
      <p:sp>
        <p:nvSpPr>
          <p:cNvPr id="10489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79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 Business Process Services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80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p>
            <a:pPr indent="0" marL="0">
              <a:buNone/>
            </a:pPr>
            <a:r>
              <a:rPr dirty="0" lang="en-US"/>
              <a:t>1. Identify business processes that can be externalized.</a:t>
            </a:r>
          </a:p>
          <a:p>
            <a:pPr indent="0" marL="0">
              <a:buNone/>
            </a:pPr>
            <a:r>
              <a:rPr dirty="0" lang="en-US"/>
              <a:t>2. Break down processes into a sequence of service interactions.</a:t>
            </a:r>
          </a:p>
          <a:p>
            <a:pPr indent="0" marL="0">
              <a:buNone/>
            </a:pPr>
            <a:r>
              <a:rPr dirty="0" lang="en-US"/>
              <a:t>3. Define orchestration steps across multiple services.</a:t>
            </a:r>
          </a:p>
          <a:p>
            <a:pPr indent="0" marL="0">
              <a:buNone/>
            </a:pPr>
            <a:r>
              <a:rPr dirty="0" lang="en-US"/>
              <a:t>4. Specify execution using WS-BPEL.</a:t>
            </a:r>
          </a:p>
          <a:p>
            <a:pPr indent="0" marL="0">
              <a:buNone/>
            </a:pPr>
            <a:r>
              <a:rPr dirty="0" lang="en-US"/>
              <a:t>5. Integrate with enterprise systems via service contracts.</a:t>
            </a:r>
          </a:p>
          <a:p>
            <a:endParaRPr dirty="0" lang="en-US"/>
          </a:p>
        </p:txBody>
      </p:sp>
      <p:sp>
        <p:nvSpPr>
          <p:cNvPr id="104898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91F715-DF7B-4327-AF35-33AB6B4DED6D}" type="datetime1">
              <a:rPr lang="en-US" smtClean="0"/>
              <a:t>9/1/2026</a:t>
            </a:fld>
            <a:endParaRPr lang="en-US"/>
          </a:p>
        </p:txBody>
      </p:sp>
      <p:sp>
        <p:nvSpPr>
          <p:cNvPr id="104898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8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4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WS-BPEL in Action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85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dirty="0" lang="en-US"/>
              <a:t>BPEL combines strengths of XML and scripting languages.</a:t>
            </a:r>
          </a:p>
          <a:p>
            <a:r>
              <a:rPr dirty="0" lang="en-US"/>
              <a:t>Enables defining workflows declaratively.</a:t>
            </a:r>
          </a:p>
          <a:p>
            <a:r>
              <a:rPr dirty="0" lang="en-US"/>
              <a:t>Example: LMS orchestrates services for loan approval, credit check, and payment.</a:t>
            </a:r>
          </a:p>
          <a:p>
            <a:r>
              <a:rPr dirty="0" lang="en-US"/>
              <a:t>Provides control structures: sequence, flow, switch, fault handling, compensation.</a:t>
            </a:r>
          </a:p>
          <a:p>
            <a:endParaRPr dirty="0" lang="en-US"/>
          </a:p>
        </p:txBody>
      </p:sp>
      <p:sp>
        <p:nvSpPr>
          <p:cNvPr id="10489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CE54708-0B3A-43B1-A6D2-CEADE26A2C05}" type="datetime1">
              <a:rPr lang="en-US" smtClean="0"/>
              <a:t>9/1/2026</a:t>
            </a:fld>
            <a:endParaRPr lang="en-US"/>
          </a:p>
        </p:txBody>
      </p:sp>
      <p:sp>
        <p:nvSpPr>
          <p:cNvPr id="10489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9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Loan Management System (LMS)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990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p>
            <a:r>
              <a:rPr dirty="0" lang="en-US"/>
              <a:t>Loan request initiated through client services.</a:t>
            </a:r>
          </a:p>
          <a:p>
            <a:r>
              <a:rPr dirty="0" lang="en-US"/>
              <a:t>Business process service orchestrates interactions:</a:t>
            </a:r>
          </a:p>
          <a:p>
            <a:pPr indent="0" marL="0">
              <a:buNone/>
            </a:pPr>
            <a:r>
              <a:rPr dirty="0" lang="en-US"/>
              <a:t>* Customer registration</a:t>
            </a:r>
          </a:p>
          <a:p>
            <a:pPr indent="0" marL="0">
              <a:buNone/>
            </a:pPr>
            <a:r>
              <a:rPr dirty="0" lang="en-US"/>
              <a:t>* Loan request submission</a:t>
            </a:r>
          </a:p>
          <a:p>
            <a:pPr indent="0" marL="0">
              <a:buNone/>
            </a:pPr>
            <a:r>
              <a:rPr dirty="0" lang="en-US"/>
              <a:t>* Approval workflow</a:t>
            </a:r>
          </a:p>
          <a:p>
            <a:pPr indent="0" marL="0">
              <a:buNone/>
            </a:pPr>
            <a:r>
              <a:rPr dirty="0" lang="en-US"/>
              <a:t>* Disbursement and monitoring</a:t>
            </a:r>
          </a:p>
          <a:p>
            <a:r>
              <a:rPr dirty="0" lang="en-US"/>
              <a:t>Supports dashboards for managers and loan officers.</a:t>
            </a:r>
          </a:p>
          <a:p>
            <a:endParaRPr dirty="0" lang="en-US"/>
          </a:p>
        </p:txBody>
      </p:sp>
      <p:sp>
        <p:nvSpPr>
          <p:cNvPr id="10489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E72C936-569D-487E-9B00-7AD2DA80F16A}" type="datetime1">
              <a:rPr lang="en-US" smtClean="0"/>
              <a:t>9/1/2026</a:t>
            </a:fld>
            <a:endParaRPr lang="en-US"/>
          </a:p>
        </p:txBody>
      </p:sp>
      <p:sp>
        <p:nvSpPr>
          <p:cNvPr id="10489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4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Loan Management System (LMS)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4" name="Content Placeholder 3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77900" y="1701800"/>
            <a:ext cx="6858000" cy="4525963"/>
          </a:xfrm>
          <a:ln>
            <a:solidFill>
              <a:schemeClr val="tx1"/>
            </a:solidFill>
          </a:ln>
        </p:spPr>
      </p:pic>
      <p:sp>
        <p:nvSpPr>
          <p:cNvPr id="104899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6203B05-65B1-4776-AEB7-1B0A7080B47F}" type="datetime1">
              <a:rPr lang="en-US" smtClean="0"/>
              <a:t>9/1/2026</a:t>
            </a:fld>
            <a:endParaRPr lang="en-US"/>
          </a:p>
        </p:txBody>
      </p:sp>
      <p:sp>
        <p:nvSpPr>
          <p:cNvPr id="104899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899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8" name="Title 1"/>
          <p:cNvSpPr>
            <a:spLocks noGrp="1"/>
          </p:cNvSpPr>
          <p:nvPr>
            <p:ph type="title"/>
          </p:nvPr>
        </p:nvSpPr>
        <p:spPr>
          <a:xfrm>
            <a:off x="838200" y="185738"/>
            <a:ext cx="7848600" cy="804862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Loan Management System (LMS)</a:t>
            </a:r>
            <a:endParaRPr dirty="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5" name="Content Placeholder 3"/>
          <p:cNvPicPr>
            <a:picLocks noChangeAspect="1" noGrp="1"/>
          </p:cNvPicPr>
          <p:nvPr>
            <p:ph idx="1"/>
          </p:nvPr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12428" y="1701800"/>
            <a:ext cx="7407672" cy="4686300"/>
          </a:xfrm>
          <a:ln>
            <a:solidFill>
              <a:schemeClr val="tx1"/>
            </a:solidFill>
          </a:ln>
        </p:spPr>
      </p:pic>
      <p:sp>
        <p:nvSpPr>
          <p:cNvPr id="104899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A20D0D3A-37DA-40BB-ADE9-C922A547A6D2}" type="datetime1">
              <a:rPr lang="en-US" smtClean="0"/>
              <a:t>9/1/2026</a:t>
            </a:fld>
            <a:endParaRPr lang="en-US"/>
          </a:p>
        </p:txBody>
      </p:sp>
      <p:sp>
        <p:nvSpPr>
          <p:cNvPr id="10490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90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2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(LMS) - Loan Approval Business Process</a:t>
            </a:r>
            <a:endParaRPr dirty="0" sz="280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900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85000" lnSpcReduction="10000"/>
          </a:bodyPr>
          <a:p>
            <a:r>
              <a:rPr dirty="0" lang="en-US"/>
              <a:t>Loan approval process illustrated using </a:t>
            </a:r>
            <a:r>
              <a:rPr b="1" dirty="0" lang="en-US"/>
              <a:t>BPEL execution</a:t>
            </a:r>
            <a:r>
              <a:rPr dirty="0" lang="en-US"/>
              <a:t>.</a:t>
            </a:r>
          </a:p>
          <a:p>
            <a:r>
              <a:rPr dirty="0" lang="en-US"/>
              <a:t>Bank customer initiates the process by requesting a loan.</a:t>
            </a:r>
          </a:p>
          <a:p>
            <a:r>
              <a:rPr dirty="0" lang="en-US"/>
              <a:t>Process execution involves </a:t>
            </a:r>
            <a:r>
              <a:rPr b="1" dirty="0" lang="en-US"/>
              <a:t>multiple branches</a:t>
            </a:r>
            <a:r>
              <a:rPr dirty="0" lang="en-US"/>
              <a:t> with decision points.</a:t>
            </a:r>
          </a:p>
          <a:p>
            <a:pPr indent="0" marL="0">
              <a:buNone/>
            </a:pPr>
            <a:r>
              <a:rPr b="1" dirty="0" lang="en-US">
                <a:solidFill>
                  <a:srgbClr val="FF0000"/>
                </a:solidFill>
              </a:rPr>
              <a:t>Loan Request Decision</a:t>
            </a:r>
          </a:p>
          <a:p>
            <a:r>
              <a:rPr b="1" dirty="0" lang="en-US"/>
              <a:t>Loan Officer</a:t>
            </a:r>
            <a:r>
              <a:rPr dirty="0" lang="en-US"/>
              <a:t> can either approve or reject the request.</a:t>
            </a:r>
          </a:p>
          <a:p>
            <a:r>
              <a:rPr dirty="0" lang="en-US"/>
              <a:t>If rejected → process ends.</a:t>
            </a:r>
          </a:p>
          <a:p>
            <a:r>
              <a:rPr dirty="0" lang="en-US"/>
              <a:t>If approved → system checks loan amount.</a:t>
            </a:r>
          </a:p>
          <a:p>
            <a:endParaRPr dirty="0" lang="en-US"/>
          </a:p>
        </p:txBody>
      </p:sp>
      <p:sp>
        <p:nvSpPr>
          <p:cNvPr id="104900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0DBEC3A-A49F-43BA-AEC8-4767DF33E789}" type="datetime1">
              <a:rPr lang="en-US" smtClean="0"/>
              <a:t>9/1/2026</a:t>
            </a:fld>
            <a:endParaRPr lang="en-US"/>
          </a:p>
        </p:txBody>
      </p:sp>
      <p:sp>
        <p:nvSpPr>
          <p:cNvPr id="104900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900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7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(LMS) - Loan Approval Business Process</a:t>
            </a:r>
            <a:endParaRPr dirty="0" sz="2800" lang="en-IN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9008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p>
            <a:pPr indent="0" marL="0">
              <a:buNone/>
            </a:pPr>
            <a:r>
              <a:rPr b="1" dirty="0" lang="en-US">
                <a:solidFill>
                  <a:srgbClr val="FF0000"/>
                </a:solidFill>
              </a:rPr>
              <a:t>System Check </a:t>
            </a:r>
            <a:r>
              <a:rPr b="1" dirty="0" lang="en-US"/>
              <a:t>– Loan Amount</a:t>
            </a:r>
          </a:p>
          <a:p>
            <a:r>
              <a:rPr b="1" dirty="0" lang="en-US"/>
              <a:t>If Loan &lt; $10,000</a:t>
            </a:r>
            <a:r>
              <a:rPr dirty="0" lang="en-US"/>
              <a:t> → system directly approves the request.</a:t>
            </a:r>
          </a:p>
          <a:p>
            <a:r>
              <a:rPr b="1" dirty="0" lang="en-US"/>
              <a:t>If Loan &gt; $10,000</a:t>
            </a:r>
            <a:r>
              <a:rPr dirty="0" lang="en-US"/>
              <a:t> → requires confirmation from a manager.</a:t>
            </a:r>
          </a:p>
          <a:p>
            <a:pPr indent="0" marL="0">
              <a:buNone/>
            </a:pPr>
            <a:r>
              <a:rPr b="1" dirty="0" lang="en-US">
                <a:solidFill>
                  <a:srgbClr val="FF0000"/>
                </a:solidFill>
              </a:rPr>
              <a:t>Manager’s Role</a:t>
            </a:r>
          </a:p>
          <a:p>
            <a:r>
              <a:rPr dirty="0" lang="en-US"/>
              <a:t>For higher loan amounts, manager’s approval is mandatory.</a:t>
            </a:r>
          </a:p>
          <a:p>
            <a:r>
              <a:rPr dirty="0" lang="en-US"/>
              <a:t>Manager makes the final decision on loan approval.</a:t>
            </a:r>
          </a:p>
          <a:p>
            <a:r>
              <a:rPr dirty="0" lang="en-US"/>
              <a:t>Notifications are sent accordingly.</a:t>
            </a:r>
            <a:r>
              <a:rPr b="1" dirty="0" lang="en-US"/>
              <a:t> </a:t>
            </a:r>
          </a:p>
          <a:p>
            <a:pPr indent="0" marL="0">
              <a:buNone/>
            </a:pPr>
            <a:r>
              <a:rPr b="1" dirty="0" lang="en-US">
                <a:solidFill>
                  <a:srgbClr val="FF0000"/>
                </a:solidFill>
              </a:rPr>
              <a:t>Importance of Business Process Design</a:t>
            </a:r>
          </a:p>
          <a:p>
            <a:r>
              <a:rPr dirty="0" lang="en-US"/>
              <a:t>Business process design often uses </a:t>
            </a:r>
            <a:r>
              <a:rPr b="1" dirty="0" lang="en-US"/>
              <a:t>visual tools</a:t>
            </a:r>
            <a:r>
              <a:rPr dirty="0" lang="en-US"/>
              <a:t>.</a:t>
            </a:r>
          </a:p>
          <a:p>
            <a:r>
              <a:rPr dirty="0" lang="en-US"/>
              <a:t>Understanding </a:t>
            </a:r>
            <a:r>
              <a:rPr b="1" dirty="0" lang="en-US"/>
              <a:t>BPEL structure</a:t>
            </a:r>
            <a:r>
              <a:rPr dirty="0" lang="en-US"/>
              <a:t> is essential.</a:t>
            </a:r>
          </a:p>
          <a:p>
            <a:r>
              <a:rPr dirty="0" lang="en-US"/>
              <a:t>Helps gain insights into </a:t>
            </a:r>
            <a:r>
              <a:rPr b="1" dirty="0" lang="en-US"/>
              <a:t>process orchestration and workflow execution</a:t>
            </a:r>
            <a:r>
              <a:rPr dirty="0" lang="en-US"/>
              <a:t>.</a:t>
            </a:r>
          </a:p>
          <a:p>
            <a:endParaRPr dirty="0" lang="en-US"/>
          </a:p>
          <a:p>
            <a:endParaRPr dirty="0" lang="en-US"/>
          </a:p>
          <a:p>
            <a:endParaRPr dirty="0" lang="en-US"/>
          </a:p>
        </p:txBody>
      </p:sp>
      <p:sp>
        <p:nvSpPr>
          <p:cNvPr id="104900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AEB4EE7-F407-4175-912D-7A8610DD7C3E}" type="datetime1">
              <a:rPr lang="en-US" smtClean="0"/>
              <a:t>9/1/2026</a:t>
            </a:fld>
            <a:endParaRPr lang="en-US"/>
          </a:p>
        </p:txBody>
      </p:sp>
      <p:sp>
        <p:nvSpPr>
          <p:cNvPr id="10490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90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2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(LMS) - Loan Approval Business Process</a:t>
            </a:r>
            <a:b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 sz="2800"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 Process &amp; BPEL Activities</a:t>
            </a:r>
            <a:endParaRPr dirty="0" sz="2800" lang="en-I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901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p>
            <a:r>
              <a:rPr dirty="0" lang="en-US"/>
              <a:t>Loan approval is a </a:t>
            </a:r>
            <a:r>
              <a:rPr b="1" dirty="0" lang="en-US"/>
              <a:t>long-running transaction</a:t>
            </a:r>
            <a:r>
              <a:rPr dirty="0" lang="en-US"/>
              <a:t>.</a:t>
            </a:r>
          </a:p>
          <a:p>
            <a:r>
              <a:rPr dirty="0" lang="en-US"/>
              <a:t>Triggered when user requests a loan.</a:t>
            </a:r>
          </a:p>
          <a:p>
            <a:r>
              <a:rPr dirty="0" lang="en-US"/>
              <a:t>Process ends when approval cycle is complete.</a:t>
            </a:r>
          </a:p>
          <a:p>
            <a:r>
              <a:rPr dirty="0" lang="en-US"/>
              <a:t>Execution order depends on activities within </a:t>
            </a:r>
            <a:r>
              <a:rPr b="1" dirty="0" lang="en-US"/>
              <a:t>BPEL process</a:t>
            </a:r>
            <a:r>
              <a:rPr dirty="0" lang="en-US"/>
              <a:t>.</a:t>
            </a:r>
          </a:p>
          <a:p>
            <a:pPr indent="0" marL="0">
              <a:buNone/>
            </a:pPr>
            <a:br>
              <a:rPr dirty="0" lang="en-US"/>
            </a:br>
            <a:r>
              <a:rPr b="1" dirty="0" lang="en-US"/>
              <a:t>Importance of BPEL in Loan Approval</a:t>
            </a:r>
          </a:p>
          <a:p>
            <a:r>
              <a:rPr dirty="0" lang="en-US"/>
              <a:t>Provides </a:t>
            </a:r>
            <a:r>
              <a:rPr b="1" dirty="0" lang="en-US"/>
              <a:t>standardized orchestration</a:t>
            </a:r>
            <a:r>
              <a:rPr dirty="0" lang="en-US"/>
              <a:t> of loan approval steps.</a:t>
            </a:r>
          </a:p>
          <a:p>
            <a:r>
              <a:rPr dirty="0" lang="en-US"/>
              <a:t>Supports both </a:t>
            </a:r>
            <a:r>
              <a:rPr b="1" dirty="0" lang="en-US"/>
              <a:t>basic</a:t>
            </a:r>
            <a:r>
              <a:rPr dirty="0" lang="en-US"/>
              <a:t> (atomic) and </a:t>
            </a:r>
            <a:r>
              <a:rPr b="1" dirty="0" lang="en-US"/>
              <a:t>structured</a:t>
            </a:r>
            <a:r>
              <a:rPr dirty="0" lang="en-US"/>
              <a:t> (composite) activities.</a:t>
            </a:r>
          </a:p>
          <a:p>
            <a:r>
              <a:rPr dirty="0" lang="en-US"/>
              <a:t>Enhances </a:t>
            </a:r>
            <a:r>
              <a:rPr b="1" dirty="0" lang="en-US"/>
              <a:t>automation, flexibility, and error handling</a:t>
            </a:r>
            <a:r>
              <a:rPr dirty="0" lang="en-US"/>
              <a:t> in processes.</a:t>
            </a:r>
          </a:p>
          <a:p>
            <a:endParaRPr dirty="0" lang="en-US"/>
          </a:p>
          <a:p>
            <a:endParaRPr dirty="0" lang="en-US"/>
          </a:p>
          <a:p>
            <a:endParaRPr dirty="0" lang="en-US"/>
          </a:p>
        </p:txBody>
      </p:sp>
      <p:sp>
        <p:nvSpPr>
          <p:cNvPr id="104901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77235FF-E53E-4000-AF27-1D92CEDBBE65}" type="datetime1">
              <a:rPr lang="en-US" smtClean="0"/>
              <a:t>9/1/2026</a:t>
            </a:fld>
            <a:endParaRPr lang="en-US"/>
          </a:p>
        </p:txBody>
      </p:sp>
      <p:sp>
        <p:nvSpPr>
          <p:cNvPr id="104901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901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7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(LMS) - Loan Approval Business Process</a:t>
            </a:r>
            <a:b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 sz="2800"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 Process &amp; BPEL Activities</a:t>
            </a:r>
            <a:endParaRPr dirty="0" sz="2800" lang="en-I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9018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p>
            <a:pPr indent="0" marL="0">
              <a:buNone/>
            </a:pPr>
            <a:r>
              <a:rPr b="1" dirty="0" lang="en-US">
                <a:solidFill>
                  <a:srgbClr val="FF0000"/>
                </a:solidFill>
              </a:rPr>
              <a:t>Basic Activities in BPEL</a:t>
            </a:r>
          </a:p>
          <a:p>
            <a:r>
              <a:rPr b="1" dirty="0" lang="en-US"/>
              <a:t>Receive</a:t>
            </a:r>
            <a:r>
              <a:rPr dirty="0" lang="en-US"/>
              <a:t> – Starts process, receives input message.</a:t>
            </a:r>
          </a:p>
          <a:p>
            <a:r>
              <a:rPr b="1" dirty="0" lang="en-US"/>
              <a:t>Invoke</a:t>
            </a:r>
            <a:r>
              <a:rPr dirty="0" lang="en-US"/>
              <a:t> – Calls web service operation from partner.</a:t>
            </a:r>
          </a:p>
          <a:p>
            <a:r>
              <a:rPr b="1" dirty="0" lang="en-US"/>
              <a:t>Assign</a:t>
            </a:r>
            <a:r>
              <a:rPr dirty="0" lang="en-US"/>
              <a:t> – Data manipulation and variable assignment.</a:t>
            </a:r>
          </a:p>
          <a:p>
            <a:r>
              <a:rPr b="1" dirty="0" lang="en-US"/>
              <a:t>Reply</a:t>
            </a:r>
            <a:r>
              <a:rPr dirty="0" lang="en-US"/>
              <a:t> – Sends response back to client.</a:t>
            </a:r>
          </a:p>
          <a:p>
            <a:r>
              <a:rPr b="1" dirty="0" lang="en-US"/>
              <a:t>Terminate</a:t>
            </a:r>
            <a:r>
              <a:rPr dirty="0" lang="en-US"/>
              <a:t> – Ends the process immediately.</a:t>
            </a:r>
          </a:p>
          <a:p>
            <a:r>
              <a:rPr b="1" dirty="0" lang="en-US"/>
              <a:t>Wait</a:t>
            </a:r>
            <a:r>
              <a:rPr dirty="0" lang="en-US"/>
              <a:t> – Pauses process for a specified time.</a:t>
            </a:r>
          </a:p>
          <a:p>
            <a:r>
              <a:rPr b="1" dirty="0" lang="en-US"/>
              <a:t>Throw</a:t>
            </a:r>
            <a:r>
              <a:rPr dirty="0" lang="en-US"/>
              <a:t> – Throws an error in the process.</a:t>
            </a:r>
          </a:p>
          <a:p>
            <a:r>
              <a:rPr b="1" dirty="0" lang="en-US"/>
              <a:t>Compensate</a:t>
            </a:r>
            <a:r>
              <a:rPr dirty="0" lang="en-US"/>
              <a:t> – Compensation for successfully completed set of activities.</a:t>
            </a:r>
            <a:br>
              <a:rPr dirty="0" lang="en-US"/>
            </a:br>
            <a:br>
              <a:rPr dirty="0" lang="en-US"/>
            </a:br>
            <a:endParaRPr dirty="0" lang="en-US"/>
          </a:p>
          <a:p>
            <a:endParaRPr dirty="0" lang="en-US"/>
          </a:p>
          <a:p>
            <a:endParaRPr dirty="0" lang="en-US"/>
          </a:p>
          <a:p>
            <a:endParaRPr dirty="0" lang="en-US"/>
          </a:p>
        </p:txBody>
      </p:sp>
      <p:sp>
        <p:nvSpPr>
          <p:cNvPr id="104901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BD7AF86-96AB-4C95-BE6A-CBEE717BC852}" type="datetime1">
              <a:rPr lang="en-US" smtClean="0"/>
              <a:t>9/1/2026</a:t>
            </a:fld>
            <a:endParaRPr lang="en-US"/>
          </a:p>
        </p:txBody>
      </p:sp>
      <p:sp>
        <p:nvSpPr>
          <p:cNvPr id="104902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902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2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(LMS) - Loan Approval Business Process</a:t>
            </a:r>
            <a:b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b="1" dirty="0" sz="2800"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Loan Approval Process &amp; BPEL Activities</a:t>
            </a:r>
            <a:endParaRPr dirty="0" sz="2800" lang="en-I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902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p>
            <a:pPr indent="0" marL="0">
              <a:buNone/>
            </a:pPr>
            <a:r>
              <a:rPr b="1" dirty="0" lang="en-US">
                <a:solidFill>
                  <a:srgbClr val="FF0000"/>
                </a:solidFill>
              </a:rPr>
              <a:t>Structured Activities in BPEL</a:t>
            </a:r>
          </a:p>
          <a:p>
            <a:pPr indent="0" marL="0">
              <a:buNone/>
            </a:pPr>
            <a:endParaRPr b="1" dirty="0" lang="en-US"/>
          </a:p>
          <a:p>
            <a:r>
              <a:rPr b="1" dirty="0" lang="en-US"/>
              <a:t>While</a:t>
            </a:r>
            <a:r>
              <a:rPr dirty="0" lang="en-US"/>
              <a:t> – Implements loops.</a:t>
            </a:r>
          </a:p>
          <a:p>
            <a:r>
              <a:rPr b="1" dirty="0" lang="en-US"/>
              <a:t>Switch</a:t>
            </a:r>
            <a:r>
              <a:rPr dirty="0" lang="en-US"/>
              <a:t> – Conditional branching (if-else logic).</a:t>
            </a:r>
          </a:p>
          <a:p>
            <a:r>
              <a:rPr b="1" dirty="0" lang="en-US"/>
              <a:t>Pick</a:t>
            </a:r>
            <a:r>
              <a:rPr dirty="0" lang="en-US"/>
              <a:t> – Event-based branching (first event that occurs is executed).</a:t>
            </a:r>
          </a:p>
          <a:p>
            <a:r>
              <a:rPr b="1" dirty="0" lang="en-US"/>
              <a:t>Sequence</a:t>
            </a:r>
            <a:r>
              <a:rPr dirty="0" lang="en-US"/>
              <a:t> – Executes activities sequentially.</a:t>
            </a:r>
          </a:p>
          <a:p>
            <a:r>
              <a:rPr b="1" dirty="0" lang="en-US"/>
              <a:t>Flow</a:t>
            </a:r>
            <a:r>
              <a:rPr dirty="0" lang="en-US"/>
              <a:t> – Executes activities in parallel.</a:t>
            </a:r>
          </a:p>
          <a:p>
            <a:r>
              <a:rPr b="1" dirty="0" lang="en-US"/>
              <a:t>Scope</a:t>
            </a:r>
            <a:r>
              <a:rPr dirty="0" lang="en-US"/>
              <a:t> – Defines nested activities, event handlers, fault handlers.</a:t>
            </a:r>
            <a:br>
              <a:rPr dirty="0" lang="en-US"/>
            </a:br>
            <a:br>
              <a:rPr dirty="0" lang="en-US"/>
            </a:br>
            <a:endParaRPr dirty="0" lang="en-US"/>
          </a:p>
          <a:p>
            <a:endParaRPr dirty="0" lang="en-US"/>
          </a:p>
          <a:p>
            <a:endParaRPr dirty="0" lang="en-US"/>
          </a:p>
          <a:p>
            <a:endParaRPr dirty="0" lang="en-US"/>
          </a:p>
        </p:txBody>
      </p:sp>
      <p:sp>
        <p:nvSpPr>
          <p:cNvPr id="104902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73BBCF5-F06F-4986-8180-C90780B6C2D0}" type="datetime1">
              <a:rPr lang="en-US" smtClean="0"/>
              <a:t>9/1/2026</a:t>
            </a:fld>
            <a:endParaRPr lang="en-US"/>
          </a:p>
        </p:txBody>
      </p:sp>
      <p:sp>
        <p:nvSpPr>
          <p:cNvPr id="104902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90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7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pPr indent="0" marL="0">
              <a:buNone/>
            </a:pPr>
            <a:br>
              <a:rPr dirty="0" lang="en-US"/>
            </a:br>
            <a:br>
              <a:rPr dirty="0" lang="en-US"/>
            </a:br>
            <a:endParaRPr dirty="0" lang="en-US"/>
          </a:p>
          <a:p>
            <a:endParaRPr dirty="0" lang="en-US"/>
          </a:p>
          <a:p>
            <a:endParaRPr dirty="0" lang="en-US"/>
          </a:p>
          <a:p>
            <a:endParaRPr dirty="0" lang="en-US"/>
          </a:p>
        </p:txBody>
      </p:sp>
      <p:graphicFrame>
        <p:nvGraphicFramePr>
          <p:cNvPr id="4194304" name="Table 3"/>
          <p:cNvGraphicFramePr>
            <a:graphicFrameLocks noGrp="1"/>
          </p:cNvGraphicFramePr>
          <p:nvPr/>
        </p:nvGraphicFramePr>
        <p:xfrm>
          <a:off x="114300" y="236538"/>
          <a:ext cx="8483600" cy="627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0"/>
                <a:gridCol w="4114800"/>
              </a:tblGrid>
              <a:tr h="3352800">
                <a:tc>
                  <a:txBody>
                    <a:bodyPr/>
                    <a:p>
                      <a:r>
                        <a:rPr b="1" dirty="0" lang="en-IN"/>
                        <a:t>Branch 1 – Customer Request</a:t>
                      </a:r>
                    </a:p>
                    <a:p>
                      <a:r>
                        <a:rPr dirty="0" lang="en-IN"/>
                        <a:t>Customer initiates process by </a:t>
                      </a:r>
                      <a:r>
                        <a:rPr b="1" dirty="0" lang="en-IN"/>
                        <a:t>requesting a loan</a:t>
                      </a:r>
                      <a:r>
                        <a:rPr dirty="0" lang="en-IN"/>
                        <a:t>.</a:t>
                      </a:r>
                    </a:p>
                    <a:p>
                      <a:r>
                        <a:rPr dirty="0" lang="en-IN"/>
                        <a:t>Steps executed:</a:t>
                      </a:r>
                    </a:p>
                    <a:p>
                      <a:pPr lvl="1"/>
                      <a:r>
                        <a:rPr dirty="0" lang="en-IN" err="1"/>
                        <a:t>ReceiveLoanRequest</a:t>
                      </a:r>
                      <a:endParaRPr dirty="0" lang="en-IN"/>
                    </a:p>
                    <a:p>
                      <a:pPr lvl="1"/>
                      <a:r>
                        <a:rPr dirty="0" lang="en-IN" err="1"/>
                        <a:t>AssignLogLoan</a:t>
                      </a:r>
                      <a:endParaRPr dirty="0" lang="en-IN"/>
                    </a:p>
                    <a:p>
                      <a:pPr lvl="1"/>
                      <a:r>
                        <a:rPr dirty="0" lang="en-IN" err="1"/>
                        <a:t>InvokeLogLoan</a:t>
                      </a:r>
                      <a:endParaRPr dirty="0" lang="en-IN"/>
                    </a:p>
                    <a:p>
                      <a:pPr lvl="1"/>
                      <a:r>
                        <a:rPr dirty="0" lang="en-IN" err="1"/>
                        <a:t>AssignLogLoanOutput</a:t>
                      </a:r>
                      <a:endParaRPr dirty="0" lang="en-IN"/>
                    </a:p>
                    <a:p>
                      <a:pPr lvl="1"/>
                      <a:r>
                        <a:rPr dirty="0" lang="en-IN" err="1"/>
                        <a:t>ReplyLoan</a:t>
                      </a:r>
                      <a:endParaRPr dirty="0" lang="en-IN"/>
                    </a:p>
                    <a:p>
                      <a:pPr lvl="1"/>
                      <a:r>
                        <a:rPr dirty="0" lang="en-IN" err="1"/>
                        <a:t>ReceiveApproveLoan</a:t>
                      </a:r>
                      <a:endParaRPr dirty="0" lang="en-IN"/>
                    </a:p>
                    <a:p>
                      <a:r>
                        <a:rPr dirty="0" lang="en-IN"/>
                        <a:t>Process triggers </a:t>
                      </a:r>
                      <a:r>
                        <a:rPr b="1" dirty="0" lang="en-IN"/>
                        <a:t>loan officer intervention</a:t>
                      </a:r>
                      <a:r>
                        <a:rPr dirty="0" lang="en-IN"/>
                        <a:t>.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b="1" dirty="0" lang="en-US"/>
                        <a:t>Branch 2 – Loan Officer (Amount ≤ $10,000)</a:t>
                      </a:r>
                    </a:p>
                    <a:p>
                      <a:r>
                        <a:rPr dirty="0" lang="en-US"/>
                        <a:t>Officer reviews and approves.</a:t>
                      </a:r>
                    </a:p>
                    <a:p>
                      <a:r>
                        <a:rPr dirty="0" lang="en-US"/>
                        <a:t>Steps executed: 7. Transition Condition (Approved) 8. </a:t>
                      </a:r>
                      <a:r>
                        <a:rPr dirty="0" lang="en-US" err="1"/>
                        <a:t>AssignApproveLoan</a:t>
                      </a:r>
                      <a:r>
                        <a:rPr dirty="0" lang="en-US"/>
                        <a:t>  </a:t>
                      </a:r>
                    </a:p>
                    <a:p>
                      <a:r>
                        <a:rPr dirty="0" lang="en-US"/>
                        <a:t>9. </a:t>
                      </a:r>
                      <a:r>
                        <a:rPr dirty="0" lang="en-US" err="1"/>
                        <a:t>InvokeApproveLoan</a:t>
                      </a:r>
                      <a:r>
                        <a:rPr dirty="0" lang="en-US"/>
                        <a:t> </a:t>
                      </a:r>
                    </a:p>
                    <a:p>
                      <a:r>
                        <a:rPr dirty="0" lang="en-US"/>
                        <a:t>10. </a:t>
                      </a:r>
                      <a:r>
                        <a:rPr dirty="0" lang="en-US" err="1"/>
                        <a:t>AssignApproveLoanOutput</a:t>
                      </a:r>
                      <a:r>
                        <a:rPr dirty="0" lang="en-US"/>
                        <a:t> </a:t>
                      </a:r>
                    </a:p>
                    <a:p>
                      <a:r>
                        <a:rPr dirty="0" lang="en-US"/>
                        <a:t>11. </a:t>
                      </a:r>
                      <a:r>
                        <a:rPr dirty="0" lang="en-US" err="1"/>
                        <a:t>ReplyApproveLoan</a:t>
                      </a:r>
                      <a:endParaRPr dirty="0" lang="en-US"/>
                    </a:p>
                    <a:p>
                      <a:r>
                        <a:rPr dirty="0" lang="en-US"/>
                        <a:t>Process instance ends here.</a:t>
                      </a:r>
                    </a:p>
                    <a:p>
                      <a:endParaRPr dirty="0" lang="en-IN"/>
                    </a:p>
                  </a:txBody>
                </a:tc>
              </a:tr>
              <a:tr h="378460">
                <a:tc>
                  <a:txBody>
                    <a:bodyPr/>
                    <a:p>
                      <a:r>
                        <a:rPr b="1" dirty="0" lang="en-US"/>
                        <a:t>Branch 3 – Loan Officer (Amount &gt; $10,000)</a:t>
                      </a:r>
                    </a:p>
                    <a:p>
                      <a:r>
                        <a:rPr dirty="0" lang="en-US"/>
                        <a:t>Requires </a:t>
                      </a:r>
                      <a:r>
                        <a:rPr b="1" dirty="0" lang="en-US"/>
                        <a:t>Manager’s Approval</a:t>
                      </a:r>
                      <a:r>
                        <a:rPr dirty="0" lang="en-US"/>
                        <a:t>.</a:t>
                      </a:r>
                    </a:p>
                    <a:p>
                      <a:r>
                        <a:rPr dirty="0" lang="en-US"/>
                        <a:t>Steps executed: 13. Transition Condition (Approved) 14. </a:t>
                      </a:r>
                      <a:r>
                        <a:rPr dirty="0" lang="en-US" err="1"/>
                        <a:t>AssignApproveLoan</a:t>
                      </a:r>
                      <a:r>
                        <a:rPr dirty="0" lang="en-US"/>
                        <a:t> 15. </a:t>
                      </a:r>
                      <a:r>
                        <a:rPr dirty="0" lang="en-US" err="1"/>
                        <a:t>InvokeApproveLoan</a:t>
                      </a:r>
                      <a:r>
                        <a:rPr dirty="0" lang="en-US"/>
                        <a:t> 16. </a:t>
                      </a:r>
                      <a:r>
                        <a:rPr dirty="0" lang="en-US" err="1"/>
                        <a:t>AssignApproveLoanOutput</a:t>
                      </a:r>
                      <a:r>
                        <a:rPr dirty="0" lang="en-US"/>
                        <a:t> 17. </a:t>
                      </a:r>
                      <a:r>
                        <a:rPr dirty="0" lang="en-US" err="1"/>
                        <a:t>ReplyApproveLoan</a:t>
                      </a:r>
                      <a:endParaRPr dirty="0" lang="en-US"/>
                    </a:p>
                    <a:p>
                      <a:r>
                        <a:rPr dirty="0" lang="en-US"/>
                        <a:t>Escalated to Manager.</a:t>
                      </a:r>
                      <a:endParaRPr dirty="0" lang="en-IN"/>
                    </a:p>
                  </a:txBody>
                </a:tc>
                <a:tc>
                  <a:txBody>
                    <a:bodyPr/>
                    <a:p>
                      <a:r>
                        <a:rPr b="1" dirty="0" lang="en-US"/>
                        <a:t>Branch 4 – Loan Officer (Rejects Loan)</a:t>
                      </a:r>
                    </a:p>
                    <a:p>
                      <a:r>
                        <a:rPr dirty="0" lang="en-US"/>
                        <a:t>Steps executed: 19. Transition Condition (Rejected) 20. </a:t>
                      </a:r>
                      <a:r>
                        <a:rPr dirty="0" lang="en-US" err="1"/>
                        <a:t>AssignRejectLoan</a:t>
                      </a:r>
                      <a:r>
                        <a:rPr dirty="0" lang="en-US"/>
                        <a:t> 21. </a:t>
                      </a:r>
                      <a:r>
                        <a:rPr dirty="0" lang="en-US" err="1"/>
                        <a:t>InvokeRejectLoan</a:t>
                      </a:r>
                      <a:r>
                        <a:rPr dirty="0" lang="en-US"/>
                        <a:t> 22. </a:t>
                      </a:r>
                      <a:r>
                        <a:rPr dirty="0" lang="en-US" err="1"/>
                        <a:t>AssignRejectLoanOutput</a:t>
                      </a:r>
                      <a:r>
                        <a:rPr dirty="0" lang="en-US"/>
                        <a:t> 23. </a:t>
                      </a:r>
                      <a:r>
                        <a:rPr dirty="0" lang="en-US" err="1"/>
                        <a:t>ReplyRejectLoan</a:t>
                      </a:r>
                      <a:endParaRPr dirty="0" lang="en-US"/>
                    </a:p>
                    <a:p>
                      <a:r>
                        <a:rPr dirty="0" lang="en-US"/>
                        <a:t>Process ends with rejection notification.</a:t>
                      </a:r>
                      <a:endParaRPr dirty="0" lang="en-IN"/>
                    </a:p>
                  </a:txBody>
                </a:tc>
              </a:tr>
              <a:tr h="378460">
                <a:tc gridSpan="2">
                  <a:txBody>
                    <a:bodyPr/>
                    <a:p>
                      <a:r>
                        <a:rPr dirty="0" lang="en-US"/>
                        <a:t>Its</a:t>
                      </a:r>
                      <a:r>
                        <a:rPr baseline="0" dirty="0" lang="en-US"/>
                        <a:t> continuous for </a:t>
                      </a:r>
                      <a:r>
                        <a:rPr dirty="0" lang="en-US"/>
                        <a:t>Branch 5 – Manager Approves Loan</a:t>
                      </a:r>
                      <a:r>
                        <a:rPr dirty="0" lang="en-IN"/>
                        <a:t>(&gt; $10,000)</a:t>
                      </a:r>
                      <a:r>
                        <a:rPr dirty="0" lang="en-US"/>
                        <a:t>, Branch 6 – Manager Rejects Loan (&gt; $10,000)</a:t>
                      </a:r>
                      <a:endParaRPr dirty="0" lang="en-IN"/>
                    </a:p>
                  </a:txBody>
                </a:tc>
                <a:tc hMerge="1">
                  <a:txBody>
                    <a:bodyPr/>
                    <a:p>
                      <a:endParaRPr dirty="0" lang="en-IN"/>
                    </a:p>
                  </a:txBody>
                </a:tc>
              </a:tr>
            </a:tbl>
          </a:graphicData>
        </a:graphic>
      </p:graphicFrame>
      <p:sp>
        <p:nvSpPr>
          <p:cNvPr id="1049028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endParaRPr dirty="0" lang="en-IN"/>
          </a:p>
        </p:txBody>
      </p:sp>
      <p:sp>
        <p:nvSpPr>
          <p:cNvPr id="1049029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419EB57E-4223-4E76-97A2-35BADC9D6761}" type="datetime1">
              <a:rPr lang="en-US" smtClean="0"/>
              <a:t>9/1/2026</a:t>
            </a:fld>
            <a:endParaRPr lang="en-US"/>
          </a:p>
        </p:txBody>
      </p:sp>
      <p:sp>
        <p:nvSpPr>
          <p:cNvPr id="1049030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9031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2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(LMS) - Loan Approval Business Process</a:t>
            </a:r>
            <a:b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sz="2800" lang="en-IN">
                <a:solidFill>
                  <a:srgbClr val="FF0000"/>
                </a:solidFill>
              </a:rPr>
              <a:t>BPEL Implementation – </a:t>
            </a:r>
            <a:r>
              <a:rPr dirty="0" sz="2800" lang="en-IN"/>
              <a:t>Example 1 - </a:t>
            </a:r>
            <a:r>
              <a:rPr dirty="0" sz="2800" lang="en-IN">
                <a:solidFill>
                  <a:srgbClr val="FF0000"/>
                </a:solidFill>
              </a:rPr>
              <a:t>Receive </a:t>
            </a:r>
            <a:r>
              <a:rPr dirty="0" sz="2800" lang="en-IN" err="1">
                <a:solidFill>
                  <a:srgbClr val="FF0000"/>
                </a:solidFill>
              </a:rPr>
              <a:t>LogLoan</a:t>
            </a:r>
            <a:r>
              <a:rPr dirty="0" sz="2800" lang="en-IN">
                <a:solidFill>
                  <a:srgbClr val="FF0000"/>
                </a:solidFill>
              </a:rPr>
              <a:t> </a:t>
            </a:r>
            <a:endParaRPr dirty="0" sz="2800" lang="en-I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903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p>
            <a:pPr indent="0" marL="0">
              <a:buNone/>
            </a:pPr>
            <a:r>
              <a:rPr dirty="0" sz="3600" lang="en-IN"/>
              <a:t>&lt;</a:t>
            </a:r>
            <a:r>
              <a:rPr dirty="0" sz="3600" lang="en-IN" err="1"/>
              <a:t>bpel:receive</a:t>
            </a:r>
            <a:r>
              <a:rPr dirty="0" sz="3600" lang="en-IN"/>
              <a:t> name="</a:t>
            </a:r>
            <a:r>
              <a:rPr dirty="0" sz="3600" lang="en-IN" err="1"/>
              <a:t>ReceiveLogLoan</a:t>
            </a:r>
            <a:r>
              <a:rPr dirty="0" sz="3600" lang="en-IN"/>
              <a:t>" </a:t>
            </a:r>
            <a:r>
              <a:rPr dirty="0" sz="3600" lang="en-IN" err="1"/>
              <a:t>partnerLink</a:t>
            </a:r>
            <a:r>
              <a:rPr dirty="0" sz="3600" lang="en-IN"/>
              <a:t>="client“ </a:t>
            </a:r>
            <a:r>
              <a:rPr dirty="0" sz="3600" lang="en-IN" err="1"/>
              <a:t>portType</a:t>
            </a:r>
            <a:r>
              <a:rPr dirty="0" sz="3600" lang="en-IN"/>
              <a:t>="</a:t>
            </a:r>
            <a:r>
              <a:rPr dirty="0" sz="3600" lang="en-IN" err="1"/>
              <a:t>tns:LoanProcess</a:t>
            </a:r>
            <a:r>
              <a:rPr dirty="0" sz="3600" lang="en-IN"/>
              <a:t>" operation="</a:t>
            </a:r>
            <a:r>
              <a:rPr dirty="0" sz="3600" lang="en-IN" err="1"/>
              <a:t>logLoan</a:t>
            </a:r>
            <a:r>
              <a:rPr dirty="0" sz="3600" lang="en-IN"/>
              <a:t>" </a:t>
            </a:r>
            <a:r>
              <a:rPr dirty="0" sz="3600" lang="en-IN" err="1"/>
              <a:t>createInstance</a:t>
            </a:r>
            <a:r>
              <a:rPr dirty="0" sz="3600" lang="en-IN"/>
              <a:t>="yes“ variable="</a:t>
            </a:r>
            <a:r>
              <a:rPr dirty="0" sz="3600" lang="en-IN" err="1"/>
              <a:t>PLLogLoanRequest</a:t>
            </a:r>
            <a:r>
              <a:rPr dirty="0" sz="3600" lang="en-IN"/>
              <a:t>"&gt;</a:t>
            </a:r>
          </a:p>
          <a:p>
            <a:pPr indent="0" marL="0">
              <a:buNone/>
            </a:pPr>
            <a:r>
              <a:rPr dirty="0" sz="3600" lang="en-IN"/>
              <a:t>	&lt;</a:t>
            </a:r>
            <a:r>
              <a:rPr dirty="0" sz="3600" lang="en-IN" err="1"/>
              <a:t>bpel:correlations</a:t>
            </a:r>
            <a:r>
              <a:rPr dirty="0" sz="3600" lang="en-IN"/>
              <a:t>&gt;</a:t>
            </a:r>
          </a:p>
          <a:p>
            <a:pPr indent="0" marL="0">
              <a:buNone/>
            </a:pPr>
            <a:r>
              <a:rPr dirty="0" sz="3600" lang="en-IN"/>
              <a:t>		&lt;</a:t>
            </a:r>
            <a:r>
              <a:rPr dirty="0" sz="3600" lang="en-IN" err="1"/>
              <a:t>bpel:correlation</a:t>
            </a:r>
            <a:r>
              <a:rPr dirty="0" sz="3600" lang="en-IN"/>
              <a:t> set="</a:t>
            </a:r>
            <a:r>
              <a:rPr dirty="0" sz="3600" lang="en-IN" err="1"/>
              <a:t>CorrelationSet</a:t>
            </a:r>
            <a:r>
              <a:rPr dirty="0" sz="3600" lang="en-IN"/>
              <a:t>" initiate="yes"/&gt;</a:t>
            </a:r>
          </a:p>
          <a:p>
            <a:pPr indent="0" marL="0">
              <a:buNone/>
            </a:pPr>
            <a:r>
              <a:rPr dirty="0" sz="3600" lang="en-IN"/>
              <a:t>            &lt;</a:t>
            </a:r>
            <a:r>
              <a:rPr dirty="0" sz="3600" lang="en-IN" err="1"/>
              <a:t>bpel:correlation</a:t>
            </a:r>
            <a:endParaRPr dirty="0" sz="3600" lang="en-IN"/>
          </a:p>
          <a:p>
            <a:pPr indent="0" marL="0">
              <a:buNone/>
            </a:pPr>
            <a:r>
              <a:rPr dirty="0" sz="3600" lang="en-IN"/>
              <a:t>	&lt;/</a:t>
            </a:r>
            <a:r>
              <a:rPr dirty="0" sz="3600" lang="en-IN" err="1"/>
              <a:t>bpel:correlations</a:t>
            </a:r>
            <a:r>
              <a:rPr dirty="0" sz="3600" lang="en-IN"/>
              <a:t>&gt;</a:t>
            </a:r>
          </a:p>
          <a:p>
            <a:pPr indent="0" marL="0">
              <a:buNone/>
            </a:pPr>
            <a:r>
              <a:rPr dirty="0" sz="3600" lang="en-IN"/>
              <a:t>&lt;/</a:t>
            </a:r>
            <a:r>
              <a:rPr dirty="0" sz="3600" lang="en-IN" err="1"/>
              <a:t>bpel:receive</a:t>
            </a:r>
            <a:r>
              <a:rPr dirty="0" sz="3600" lang="en-IN"/>
              <a:t>&gt;</a:t>
            </a:r>
          </a:p>
          <a:p>
            <a:pPr indent="0" marL="0">
              <a:buNone/>
            </a:pPr>
            <a:br>
              <a:rPr dirty="0" lang="en-US"/>
            </a:br>
            <a:br>
              <a:rPr dirty="0" lang="en-US"/>
            </a:br>
            <a:endParaRPr dirty="0" lang="en-US"/>
          </a:p>
          <a:p>
            <a:endParaRPr dirty="0" lang="en-US"/>
          </a:p>
          <a:p>
            <a:endParaRPr dirty="0" lang="en-US"/>
          </a:p>
          <a:p>
            <a:endParaRPr dirty="0" lang="en-US"/>
          </a:p>
        </p:txBody>
      </p:sp>
      <p:sp>
        <p:nvSpPr>
          <p:cNvPr id="10490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730401-5B0C-49BB-AC69-00143353F9D6}" type="datetime1">
              <a:rPr lang="en-US" smtClean="0"/>
              <a:t>9/1/2026</a:t>
            </a:fld>
            <a:endParaRPr lang="en-US"/>
          </a:p>
        </p:txBody>
      </p:sp>
      <p:sp>
        <p:nvSpPr>
          <p:cNvPr id="10490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90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7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/>
          </a:bodyPr>
          <a:p>
            <a: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(LMS) - Loan Approval Business Process</a:t>
            </a:r>
            <a:b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sz="2800" lang="en-IN">
                <a:solidFill>
                  <a:srgbClr val="FF0000"/>
                </a:solidFill>
              </a:rPr>
              <a:t>BPEL Implementation – Receive </a:t>
            </a:r>
            <a:r>
              <a:rPr dirty="0" sz="2800" lang="en-IN" err="1">
                <a:solidFill>
                  <a:srgbClr val="FF0000"/>
                </a:solidFill>
              </a:rPr>
              <a:t>LogLoan</a:t>
            </a:r>
            <a:r>
              <a:rPr dirty="0" sz="2800" lang="en-IN">
                <a:solidFill>
                  <a:srgbClr val="FF0000"/>
                </a:solidFill>
              </a:rPr>
              <a:t> </a:t>
            </a:r>
            <a:r>
              <a:rPr dirty="0" sz="2800" lang="en-IN"/>
              <a:t>Example</a:t>
            </a:r>
            <a:endParaRPr dirty="0" sz="2800" lang="en-I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9038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55000" lnSpcReduction="20000"/>
          </a:bodyPr>
          <a:p>
            <a:r>
              <a:rPr dirty="0" sz="2800" lang="en-IN"/>
              <a:t>Explanation –</a:t>
            </a:r>
            <a:br>
              <a:rPr dirty="0" sz="2800" lang="en-IN"/>
            </a:br>
            <a:br>
              <a:rPr dirty="0" sz="2800" lang="en-IN"/>
            </a:br>
            <a:r>
              <a:rPr b="1" dirty="0" sz="2800" lang="en-IN">
                <a:solidFill>
                  <a:srgbClr val="FF0000"/>
                </a:solidFill>
              </a:rPr>
              <a:t> </a:t>
            </a:r>
            <a:r>
              <a:rPr b="1" dirty="0" lang="en-IN">
                <a:solidFill>
                  <a:srgbClr val="FF0000"/>
                </a:solidFill>
              </a:rPr>
              <a:t>Captures loan logging request from client.</a:t>
            </a:r>
          </a:p>
          <a:p>
            <a:r>
              <a:rPr b="1" dirty="0" lang="en-IN" err="1"/>
              <a:t>partnerLink</a:t>
            </a:r>
            <a:r>
              <a:rPr b="1" dirty="0" lang="en-IN"/>
              <a:t>="client"</a:t>
            </a:r>
            <a:r>
              <a:rPr dirty="0" lang="en-IN"/>
              <a:t>: Defines client as the communication partner.</a:t>
            </a:r>
          </a:p>
          <a:p>
            <a:r>
              <a:rPr b="1" dirty="0" lang="en-IN" err="1"/>
              <a:t>portType</a:t>
            </a:r>
            <a:r>
              <a:rPr b="1" dirty="0" lang="en-IN"/>
              <a:t>="</a:t>
            </a:r>
            <a:r>
              <a:rPr b="1" dirty="0" lang="en-IN" err="1"/>
              <a:t>tns:LoanProcess</a:t>
            </a:r>
            <a:r>
              <a:rPr b="1" dirty="0" lang="en-IN"/>
              <a:t>"</a:t>
            </a:r>
            <a:r>
              <a:rPr dirty="0" lang="en-IN"/>
              <a:t>: Specifies the loan process service.</a:t>
            </a:r>
          </a:p>
          <a:p>
            <a:r>
              <a:rPr b="1" dirty="0" lang="en-IN"/>
              <a:t>operation="</a:t>
            </a:r>
            <a:r>
              <a:rPr b="1" dirty="0" lang="en-IN" err="1"/>
              <a:t>logLoan</a:t>
            </a:r>
            <a:r>
              <a:rPr b="1" dirty="0" lang="en-IN"/>
              <a:t>"</a:t>
            </a:r>
            <a:r>
              <a:rPr dirty="0" lang="en-IN"/>
              <a:t>: Identifies invoked operation.</a:t>
            </a:r>
          </a:p>
          <a:p>
            <a:r>
              <a:rPr b="1" dirty="0" lang="en-IN" err="1"/>
              <a:t>createInstance</a:t>
            </a:r>
            <a:r>
              <a:rPr b="1" dirty="0" lang="en-IN"/>
              <a:t>="yes"</a:t>
            </a:r>
            <a:r>
              <a:rPr dirty="0" lang="en-IN"/>
              <a:t>: Starts a new process instance.</a:t>
            </a:r>
          </a:p>
          <a:p>
            <a:r>
              <a:rPr b="1" dirty="0" lang="en-IN"/>
              <a:t>variable</a:t>
            </a:r>
            <a:r>
              <a:rPr dirty="0" lang="en-IN"/>
              <a:t>: Holds the loan request payload.</a:t>
            </a:r>
            <a:br>
              <a:rPr dirty="0" lang="en-IN"/>
            </a:br>
            <a:br>
              <a:rPr dirty="0" lang="en-IN"/>
            </a:br>
            <a:r>
              <a:rPr b="1" dirty="0" lang="en-US">
                <a:solidFill>
                  <a:srgbClr val="FF0000"/>
                </a:solidFill>
              </a:rPr>
              <a:t>Correlation Handling</a:t>
            </a:r>
          </a:p>
          <a:p>
            <a:r>
              <a:rPr b="1" dirty="0" lang="en-US" err="1"/>
              <a:t>CorrelationSet</a:t>
            </a:r>
            <a:r>
              <a:rPr dirty="0" lang="en-US"/>
              <a:t>: Ensures continuity across multiple messages.</a:t>
            </a:r>
          </a:p>
          <a:p>
            <a:r>
              <a:rPr b="1" dirty="0" lang="en-US"/>
              <a:t>initiate="yes"</a:t>
            </a:r>
            <a:r>
              <a:rPr dirty="0" lang="en-US"/>
              <a:t>: Begins tracking a unique loan approval transaction.</a:t>
            </a:r>
          </a:p>
          <a:p>
            <a:r>
              <a:rPr dirty="0" lang="en-US"/>
              <a:t>Maintains </a:t>
            </a:r>
            <a:r>
              <a:rPr b="1" dirty="0" lang="en-US"/>
              <a:t>message consistency</a:t>
            </a:r>
            <a:r>
              <a:rPr dirty="0" lang="en-US"/>
              <a:t> during process execution.</a:t>
            </a:r>
          </a:p>
          <a:p>
            <a:pPr indent="0" marL="0">
              <a:buNone/>
            </a:pPr>
            <a:endParaRPr dirty="0" lang="en-IN"/>
          </a:p>
          <a:p>
            <a:pPr indent="0" marL="0">
              <a:buNone/>
            </a:pPr>
            <a:br>
              <a:rPr dirty="0" lang="en-US"/>
            </a:br>
            <a:br>
              <a:rPr dirty="0" lang="en-US"/>
            </a:br>
            <a:endParaRPr dirty="0" lang="en-US"/>
          </a:p>
          <a:p>
            <a:endParaRPr dirty="0" lang="en-US"/>
          </a:p>
          <a:p>
            <a:endParaRPr dirty="0" lang="en-US"/>
          </a:p>
          <a:p>
            <a:endParaRPr dirty="0" lang="en-US"/>
          </a:p>
        </p:txBody>
      </p:sp>
      <p:sp>
        <p:nvSpPr>
          <p:cNvPr id="10490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D82FE83-CB5E-498F-99CE-1F09F682EF2B}" type="datetime1">
              <a:rPr lang="en-US" smtClean="0"/>
              <a:t>9/1/2026</a:t>
            </a:fld>
            <a:endParaRPr lang="en-US"/>
          </a:p>
        </p:txBody>
      </p:sp>
      <p:sp>
        <p:nvSpPr>
          <p:cNvPr id="10490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90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2" name="Title 1"/>
          <p:cNvSpPr>
            <a:spLocks noGrp="1"/>
          </p:cNvSpPr>
          <p:nvPr>
            <p:ph type="title"/>
          </p:nvPr>
        </p:nvSpPr>
        <p:spPr>
          <a:xfrm>
            <a:off x="457200" y="185738"/>
            <a:ext cx="8229600" cy="11430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p>
            <a: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(LMS) - Loan Approval Business Process</a:t>
            </a:r>
            <a:br>
              <a:rPr b="1" dirty="0" sz="2800" lang="en-US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sz="2800" lang="en-IN">
                <a:solidFill>
                  <a:srgbClr val="FF0000"/>
                </a:solidFill>
              </a:rPr>
              <a:t>BPEL Implementation – </a:t>
            </a:r>
            <a:r>
              <a:rPr dirty="0" sz="2800" lang="en-IN"/>
              <a:t>Example 2 -</a:t>
            </a:r>
            <a:r>
              <a:rPr dirty="0" sz="2800" lang="en-IN">
                <a:solidFill>
                  <a:srgbClr val="FF0000"/>
                </a:solidFill>
              </a:rPr>
              <a:t> Invoke Loan Logging</a:t>
            </a:r>
            <a:endParaRPr dirty="0" sz="2800" lang="en-I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9043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 fontScale="32500" lnSpcReduction="20000"/>
          </a:bodyPr>
          <a:p>
            <a:pPr indent="0" marL="0">
              <a:buNone/>
            </a:pPr>
            <a:r>
              <a:rPr dirty="0" sz="5500" lang="en-IN"/>
              <a:t>&lt;</a:t>
            </a:r>
            <a:r>
              <a:rPr dirty="0" sz="5500" lang="en-IN" err="1"/>
              <a:t>bpel:invoke</a:t>
            </a:r>
            <a:r>
              <a:rPr dirty="0" sz="5500" lang="en-IN"/>
              <a:t> name="</a:t>
            </a:r>
            <a:r>
              <a:rPr dirty="0" sz="5500" lang="en-IN" err="1"/>
              <a:t>InvokeLogLoan</a:t>
            </a:r>
            <a:r>
              <a:rPr dirty="0" sz="5500" lang="en-IN"/>
              <a:t>"</a:t>
            </a:r>
          </a:p>
          <a:p>
            <a:pPr indent="0" marL="0">
              <a:buNone/>
            </a:pPr>
            <a:r>
              <a:rPr dirty="0" sz="5500" lang="en-IN"/>
              <a:t>	</a:t>
            </a:r>
            <a:r>
              <a:rPr dirty="0" sz="5500" lang="en-IN" err="1"/>
              <a:t>partnerLink</a:t>
            </a:r>
            <a:r>
              <a:rPr dirty="0" sz="5500" lang="en-IN"/>
              <a:t>="</a:t>
            </a:r>
            <a:r>
              <a:rPr dirty="0" sz="5500" lang="en-IN" err="1"/>
              <a:t>LoanProxyPL</a:t>
            </a:r>
            <a:r>
              <a:rPr dirty="0" sz="5500" lang="en-IN"/>
              <a:t>"</a:t>
            </a:r>
          </a:p>
          <a:p>
            <a:pPr indent="0" marL="0">
              <a:buNone/>
            </a:pPr>
            <a:r>
              <a:rPr dirty="0" sz="5500" lang="en-IN"/>
              <a:t>	operation="</a:t>
            </a:r>
            <a:r>
              <a:rPr dirty="0" sz="5500" lang="en-IN" err="1"/>
              <a:t>logLoan</a:t>
            </a:r>
            <a:r>
              <a:rPr dirty="0" sz="5500" lang="en-IN"/>
              <a:t>"</a:t>
            </a:r>
          </a:p>
          <a:p>
            <a:pPr indent="0" marL="0">
              <a:buNone/>
            </a:pPr>
            <a:r>
              <a:rPr dirty="0" sz="5500" lang="en-IN"/>
              <a:t>	</a:t>
            </a:r>
            <a:r>
              <a:rPr dirty="0" sz="5500" lang="en-IN" err="1"/>
              <a:t>portType</a:t>
            </a:r>
            <a:r>
              <a:rPr dirty="0" sz="5500" lang="en-IN"/>
              <a:t>="ns1:LoanProxyServicePortType"</a:t>
            </a:r>
          </a:p>
          <a:p>
            <a:pPr indent="0" marL="0">
              <a:buNone/>
            </a:pPr>
            <a:r>
              <a:rPr dirty="0" sz="5500" lang="en-IN"/>
              <a:t>	</a:t>
            </a:r>
            <a:r>
              <a:rPr dirty="0" sz="5500" lang="en-IN" err="1"/>
              <a:t>inputVariable</a:t>
            </a:r>
            <a:r>
              <a:rPr dirty="0" sz="5500" lang="en-IN"/>
              <a:t>="</a:t>
            </a:r>
            <a:r>
              <a:rPr dirty="0" sz="5500" lang="en-IN" err="1"/>
              <a:t>LogLoanRequest</a:t>
            </a:r>
            <a:r>
              <a:rPr dirty="0" sz="5500" lang="en-IN"/>
              <a:t>"&gt;</a:t>
            </a:r>
          </a:p>
          <a:p>
            <a:pPr indent="0" marL="0">
              <a:buNone/>
            </a:pPr>
            <a:r>
              <a:rPr dirty="0" sz="5500" lang="en-IN"/>
              <a:t>&lt;/</a:t>
            </a:r>
            <a:r>
              <a:rPr dirty="0" sz="5500" lang="en-IN" err="1"/>
              <a:t>bpel:invoke</a:t>
            </a:r>
            <a:r>
              <a:rPr dirty="0" sz="5500" lang="en-IN"/>
              <a:t>&gt;</a:t>
            </a:r>
          </a:p>
          <a:p>
            <a:endParaRPr dirty="0" sz="5000" lang="en-IN"/>
          </a:p>
          <a:p>
            <a:pPr indent="0" marL="0">
              <a:buNone/>
            </a:pPr>
            <a:br>
              <a:rPr dirty="0" sz="5000" lang="en-IN"/>
            </a:br>
            <a:r>
              <a:rPr b="1" dirty="0" sz="5500" lang="en-IN"/>
              <a:t>Explanation of Attributes</a:t>
            </a:r>
          </a:p>
          <a:p>
            <a:r>
              <a:rPr b="1" dirty="0" sz="5500" lang="en-IN"/>
              <a:t>name</a:t>
            </a:r>
            <a:r>
              <a:rPr dirty="0" sz="5500" lang="en-IN"/>
              <a:t>: Activity identifier → </a:t>
            </a:r>
            <a:r>
              <a:rPr dirty="0" sz="5500" lang="en-IN" err="1"/>
              <a:t>InvokeLogLoan</a:t>
            </a:r>
            <a:r>
              <a:rPr dirty="0" sz="5500" lang="en-IN"/>
              <a:t>.</a:t>
            </a:r>
          </a:p>
          <a:p>
            <a:r>
              <a:rPr b="1" dirty="0" sz="5500" lang="en-IN" err="1"/>
              <a:t>partnerLink</a:t>
            </a:r>
            <a:r>
              <a:rPr dirty="0" sz="5500" lang="en-IN"/>
              <a:t>: Communication partner → </a:t>
            </a:r>
            <a:r>
              <a:rPr dirty="0" sz="5500" lang="en-IN" err="1"/>
              <a:t>LoanProxyPL</a:t>
            </a:r>
            <a:r>
              <a:rPr dirty="0" sz="5500" lang="en-IN"/>
              <a:t>.</a:t>
            </a:r>
          </a:p>
          <a:p>
            <a:r>
              <a:rPr b="1" dirty="0" sz="5500" lang="en-IN"/>
              <a:t>operation</a:t>
            </a:r>
            <a:r>
              <a:rPr dirty="0" sz="5500" lang="en-IN"/>
              <a:t>: Service operation → </a:t>
            </a:r>
            <a:r>
              <a:rPr dirty="0" sz="5500" lang="en-IN" err="1"/>
              <a:t>logLoan</a:t>
            </a:r>
            <a:r>
              <a:rPr dirty="0" sz="5500" lang="en-IN"/>
              <a:t>.</a:t>
            </a:r>
          </a:p>
          <a:p>
            <a:r>
              <a:rPr b="1" dirty="0" sz="5500" lang="en-IN" err="1"/>
              <a:t>portType</a:t>
            </a:r>
            <a:r>
              <a:rPr dirty="0" sz="5500" lang="en-IN"/>
              <a:t>: Interface of web service → </a:t>
            </a:r>
            <a:r>
              <a:rPr dirty="0" sz="5500" lang="en-IN" err="1"/>
              <a:t>LoanProxyServicePortType</a:t>
            </a:r>
            <a:r>
              <a:rPr dirty="0" sz="5500" lang="en-IN"/>
              <a:t>.</a:t>
            </a:r>
          </a:p>
          <a:p>
            <a:r>
              <a:rPr b="1" dirty="0" sz="5500" lang="en-IN" err="1"/>
              <a:t>inputVariable</a:t>
            </a:r>
            <a:r>
              <a:rPr dirty="0" sz="5500" lang="en-IN"/>
              <a:t>: Input data for request → </a:t>
            </a:r>
            <a:r>
              <a:rPr dirty="0" sz="5500" lang="en-IN" err="1"/>
              <a:t>LogLoanRequest</a:t>
            </a:r>
            <a:r>
              <a:rPr dirty="0" sz="5500" lang="en-IN"/>
              <a:t>.</a:t>
            </a:r>
          </a:p>
          <a:p>
            <a:pPr indent="0" marL="0">
              <a:buNone/>
            </a:pPr>
            <a:endParaRPr dirty="0" sz="2800" lang="en-IN"/>
          </a:p>
          <a:p>
            <a:pPr indent="0" marL="0">
              <a:buNone/>
            </a:pPr>
            <a:br>
              <a:rPr dirty="0" lang="en-US"/>
            </a:br>
            <a:br>
              <a:rPr dirty="0" lang="en-US"/>
            </a:br>
            <a:endParaRPr dirty="0" lang="en-US"/>
          </a:p>
          <a:p>
            <a:endParaRPr dirty="0" lang="en-US"/>
          </a:p>
          <a:p>
            <a:endParaRPr dirty="0" lang="en-US"/>
          </a:p>
          <a:p>
            <a:endParaRPr dirty="0" lang="en-US"/>
          </a:p>
        </p:txBody>
      </p:sp>
      <p:sp>
        <p:nvSpPr>
          <p:cNvPr id="10490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044596C-F638-46BF-A339-072AB97A4C6F}" type="datetime1">
              <a:rPr lang="en-US" smtClean="0"/>
              <a:t>9/1/2026</a:t>
            </a:fld>
            <a:endParaRPr lang="en-US"/>
          </a:p>
        </p:txBody>
      </p:sp>
      <p:sp>
        <p:nvSpPr>
          <p:cNvPr id="10490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90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7" name="Content Placeholder 2"/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p>
            <a:pPr indent="0" marL="0">
              <a:buNone/>
            </a:pPr>
            <a:endParaRPr dirty="0" sz="2800" lang="en-IN"/>
          </a:p>
          <a:p>
            <a:pPr algn="ctr" indent="0" marL="0">
              <a:buNone/>
            </a:pPr>
            <a:br>
              <a:rPr dirty="0" lang="en-US"/>
            </a:br>
            <a:br>
              <a:rPr dirty="0" lang="en-US"/>
            </a:br>
            <a:r>
              <a:rPr dirty="0" sz="6000" lang="en-US">
                <a:solidFill>
                  <a:srgbClr val="FF0000"/>
                </a:solidFill>
              </a:rPr>
              <a:t>THANK YOU</a:t>
            </a:r>
          </a:p>
          <a:p>
            <a:pPr indent="0" marL="0">
              <a:buNone/>
            </a:pPr>
            <a:endParaRPr dirty="0" lang="en-US"/>
          </a:p>
        </p:txBody>
      </p:sp>
      <p:sp>
        <p:nvSpPr>
          <p:cNvPr id="104904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044596C-F638-46BF-A339-072AB97A4C6F}" type="datetime1">
              <a:rPr lang="en-US" smtClean="0"/>
              <a:t>9/1/2026</a:t>
            </a:fld>
            <a:endParaRPr lang="en-US"/>
          </a:p>
        </p:txBody>
      </p:sp>
      <p:sp>
        <p:nvSpPr>
          <p:cNvPr id="104904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en-US"/>
              <a:t>Unit 2 SOA</a:t>
            </a:r>
          </a:p>
        </p:txBody>
      </p:sp>
      <p:sp>
        <p:nvSpPr>
          <p:cNvPr id="104905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95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Introduction to SOAD</dc:title>
  <dc:creator>Admin</dc:creator>
  <cp:lastModifiedBy>Ashok Kumar</cp:lastModifiedBy>
  <dcterms:created xsi:type="dcterms:W3CDTF">2013-01-26T22:14:16Z</dcterms:created>
  <dcterms:modified xsi:type="dcterms:W3CDTF">2026-09-01T17:32:20Z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3e3c9e65467f4a49832f2776508d2013_23</vt:lpwstr>
  </property>
</Properties>
</file>