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60" r:id="rId1"/>
  </p:sldMasterIdLst>
  <p:notesMasterIdLst>
    <p:notesMasterId r:id="rId2"/>
  </p:notesMasterIdLst>
  <p:sldIdLst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tableStyles" Target="tableStyle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457F57-335B-479E-8008-A289129F9E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8AC27-6F34-409F-AEEB-571C0980D3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457F57-335B-479E-8008-A289129F9E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8AC27-6F34-409F-AEEB-571C0980D3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652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457F57-335B-479E-8008-A289129F9E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8AC27-6F34-409F-AEEB-571C0980D3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605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06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0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457F57-335B-479E-8008-A289129F9E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04860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8AC27-6F34-409F-AEEB-571C0980D3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657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658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5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660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6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457F57-335B-479E-8008-A289129F9E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04866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6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8AC27-6F34-409F-AEEB-571C0980D3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61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457F57-335B-479E-8008-A289129F9E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04861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8AC27-6F34-409F-AEEB-571C0980D3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457F57-335B-479E-8008-A289129F9E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04866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6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8AC27-6F34-409F-AEEB-571C0980D3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6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67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457F57-335B-479E-8008-A289129F9E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04867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8AC27-6F34-409F-AEEB-571C0980D3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641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4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64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457F57-335B-479E-8008-A289129F9E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04864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8AC27-6F34-409F-AEEB-571C0980D3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64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457F57-335B-479E-8008-A289129F9E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0486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8AC27-6F34-409F-AEEB-571C0980D3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63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457F57-335B-479E-8008-A289129F9E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0486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C8AC27-6F34-409F-AEEB-571C0980D37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7F57-335B-479E-8008-A289129F9E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8AC27-6F34-409F-AEEB-571C0980D378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hyperlink" Target="https://www.edureka.co/blog/microservice-architecture/" TargetMode="Externa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2209800" y="895986"/>
            <a:ext cx="7772400" cy="147002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b="1" dirty="0" lang="en-IN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ervice</a:t>
            </a:r>
            <a:r>
              <a:rPr b="1" dirty="0" lang="en-IN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b="1" dirty="0" lang="en-IN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riented</a:t>
            </a:r>
            <a:r>
              <a:rPr b="1" dirty="0" lang="en-IN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b="1" dirty="0" lang="en-IN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rchitecture</a:t>
            </a:r>
            <a:endParaRPr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2895600" y="2846070"/>
            <a:ext cx="6400800" cy="1752600"/>
          </a:xfrm>
          <a:ln>
            <a:solidFill>
              <a:schemeClr val="tx1"/>
            </a:solidFill>
          </a:ln>
        </p:spPr>
        <p:txBody>
          <a:bodyPr/>
          <a:p>
            <a:r>
              <a:rPr b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b="1" dirty="0" lang="en-IN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pared</a:t>
            </a:r>
            <a:r>
              <a:rPr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by: </a:t>
            </a:r>
            <a:r>
              <a:rPr b="1" dirty="0" lang="en-IN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b="1" dirty="0" lang="en-IN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b="1" dirty="0" lang="en-US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altLang="en-GB" b="1" dirty="0" lang="en-US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altLang="en-GB" b="1" dirty="0" lang="en-US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altLang="en-GB" b="1" dirty="0" lang="en-US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altLang="en-GB" b="1" dirty="0" lang="en-US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altLang="en-GB" b="1" dirty="0" lang="en-US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b="1" dirty="0" lang="en-US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Balasubramanian </a:t>
            </a:r>
            <a:endParaRPr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IN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  <a:endParaRPr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pPr algn="just"/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SOA and MSA Basics: Service Orientation in Daily Life, Evolution of SOA and MSA. Service oriented Architecture and 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– Drivers for SOA, Dimensions of SOA, Conceptual Model of SOA, Standards and Guidelines for SOA, Emergence of MSA Enterprise-Wide SOA: Considerations for Enterprise-wide SOA, Strawman Architecture for Enterprise-wide SOA, Enterprise SOA Reference Architecture, Object-oriented Analysis and Design (OOAD) Process, Service-oriented Analysis and Design (SOAD) Process, SOA Methodology for Enterpri</a:t>
            </a:r>
            <a:r>
              <a:rPr dirty="0" lang="en-US" smtClean="0"/>
              <a:t>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b="1" dirty="0" lang="en-US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 </a:t>
            </a:r>
            <a:r>
              <a:rPr b="1" dirty="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MSA Basics</a:t>
            </a:r>
            <a:endParaRPr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endParaRPr b="1" dirty="0" lang="en-US" smtClean="0"/>
          </a:p>
          <a:p>
            <a:r>
              <a:rPr b="1" dirty="0" lang="en-US" smtClean="0"/>
              <a:t>SOA</a:t>
            </a:r>
            <a:r>
              <a:rPr dirty="0" lang="en-US" smtClean="0"/>
              <a:t> (Service-Oriented Architecture) and </a:t>
            </a:r>
            <a:r>
              <a:rPr b="1" dirty="0" lang="en-US" smtClean="0"/>
              <a:t>MSA</a:t>
            </a:r>
            <a:r>
              <a:rPr dirty="0" lang="en-US" smtClean="0"/>
              <a:t> (</a:t>
            </a:r>
            <a:r>
              <a:rPr dirty="0" lang="en-US" err="1" smtClean="0"/>
              <a:t>Microservices</a:t>
            </a:r>
            <a:r>
              <a:rPr dirty="0" lang="en-US" smtClean="0"/>
              <a:t> Architecture) are architectural styles based on services</a:t>
            </a:r>
            <a:endParaRPr b="1" dirty="0" lang="en-US" smtClean="0"/>
          </a:p>
          <a:p>
            <a:r>
              <a:rPr b="1" dirty="0" lang="en-US" smtClean="0"/>
              <a:t>SOA</a:t>
            </a:r>
            <a:r>
              <a:rPr dirty="0" lang="en-US" smtClean="0"/>
              <a:t> (Service-Oriented Architecture) and </a:t>
            </a:r>
            <a:r>
              <a:rPr b="1" dirty="0" lang="en-US"/>
              <a:t>MSA</a:t>
            </a:r>
            <a:r>
              <a:rPr dirty="0" lang="en-US" smtClean="0"/>
              <a:t> (</a:t>
            </a:r>
            <a:r>
              <a:rPr dirty="0" lang="en-US" err="1" smtClean="0"/>
              <a:t>Microservices</a:t>
            </a:r>
            <a:r>
              <a:rPr dirty="0" lang="en-US" smtClean="0"/>
              <a:t> Architecture) are both frameworks that break large software systems into independent services, but they differ in scale, scope, and implementation.</a:t>
            </a:r>
          </a:p>
          <a:p>
            <a:r>
              <a:rPr dirty="0" lang="en-US" smtClean="0"/>
              <a:t>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Agility, Reuse,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b="1" dirty="0" lang="en-US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 </a:t>
            </a:r>
            <a:r>
              <a:rPr b="1" dirty="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MSA Basics</a:t>
            </a:r>
            <a:endParaRPr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6429" lnSpcReduction="10000"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dirty="0"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Monolithic is similar to a big container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wherein all the software components of an application are assembled together and tightly packaged.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 Service-Oriented Architecture is essentially a </a:t>
            </a:r>
            <a:r>
              <a:rPr dirty="0"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services. These services communicate with each other.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communication can involve either simple </a:t>
            </a:r>
            <a:r>
              <a:rPr dirty="0"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passing or it could involve two or more services coordinating some activity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Some means of connecting services to each other is needed.</a:t>
            </a:r>
          </a:p>
          <a:p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Microservice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Architecture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is an architectural style that structures an application as a collection of small autonomous services, modeled around a business domain.</a:t>
            </a:r>
          </a:p>
          <a:p>
            <a:pPr indent="0" marL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b="1" dirty="0" lang="en-US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 </a:t>
            </a:r>
            <a:r>
              <a:rPr b="1" dirty="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MSA Basics</a:t>
            </a:r>
            <a:endParaRPr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2" name="Content Placeholder 3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554214" y="1825625"/>
            <a:ext cx="7083572" cy="4351338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99291" y="9670"/>
            <a:ext cx="11261436" cy="1325563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algn="ctr"/>
            <a:r>
              <a:rPr b="1" dirty="0" lang="en-IN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endParaRPr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99291" y="1381415"/>
            <a:ext cx="11261436" cy="5032375"/>
          </a:xfrm>
          <a:ln>
            <a:solidFill>
              <a:schemeClr val="tx1"/>
            </a:solidFill>
          </a:ln>
        </p:spPr>
        <p:txBody>
          <a:bodyPr>
            <a:normAutofit fontScale="47143" lnSpcReduction="20000"/>
          </a:bodyPr>
          <a:p>
            <a:endParaRPr b="1" dirty="0" lang="en-US" smtClean="0"/>
          </a:p>
          <a:p>
            <a:pPr>
              <a:lnSpc>
                <a:spcPct val="110000"/>
              </a:lnSpc>
            </a:pPr>
            <a:r>
              <a:rPr dirty="0" sz="5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service is a self-contained unit of functionality that performs a specific business task and can be used by different applications over a network.</a:t>
            </a:r>
          </a:p>
          <a:p>
            <a:pPr>
              <a:lnSpc>
                <a:spcPct val="110000"/>
              </a:lnSpc>
            </a:pPr>
            <a:r>
              <a:rPr dirty="0" sz="5000"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lnSpc>
                <a:spcPct val="110000"/>
              </a:lnSpc>
            </a:pPr>
            <a:r>
              <a:rPr dirty="0" sz="5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Imagine an Online Shopping Website.</a:t>
            </a:r>
          </a:p>
          <a:p>
            <a:pPr>
              <a:lnSpc>
                <a:spcPct val="110000"/>
              </a:lnSpc>
            </a:pPr>
            <a:r>
              <a:rPr dirty="0" sz="5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Different services exist independently:</a:t>
            </a:r>
          </a:p>
          <a:p>
            <a:pPr>
              <a:lnSpc>
                <a:spcPct val="110000"/>
              </a:lnSpc>
            </a:pPr>
            <a:r>
              <a:rPr dirty="0" sz="5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Login Service </a:t>
            </a:r>
          </a:p>
          <a:p>
            <a:pPr>
              <a:lnSpc>
                <a:spcPct val="110000"/>
              </a:lnSpc>
            </a:pPr>
            <a:r>
              <a:rPr dirty="0" sz="5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Payment Service </a:t>
            </a:r>
          </a:p>
          <a:p>
            <a:pPr>
              <a:lnSpc>
                <a:spcPct val="110000"/>
              </a:lnSpc>
            </a:pPr>
            <a:r>
              <a:rPr dirty="0" sz="5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Order Service </a:t>
            </a:r>
          </a:p>
          <a:p>
            <a:pPr>
              <a:lnSpc>
                <a:spcPct val="110000"/>
              </a:lnSpc>
            </a:pPr>
            <a:r>
              <a:rPr dirty="0" sz="5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Delivery Service </a:t>
            </a:r>
          </a:p>
          <a:p>
            <a:pPr>
              <a:lnSpc>
                <a:spcPct val="110000"/>
              </a:lnSpc>
            </a:pPr>
            <a:r>
              <a:rPr dirty="0" sz="5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 Service </a:t>
            </a:r>
          </a:p>
          <a:p>
            <a:pPr>
              <a:lnSpc>
                <a:spcPct val="110000"/>
              </a:lnSpc>
            </a:pPr>
            <a:r>
              <a:rPr dirty="0" sz="5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Each service performs only one job and communicates with other services using messages.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99291" y="9670"/>
            <a:ext cx="11261436" cy="1325563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algn="ctr"/>
            <a:r>
              <a:rPr b="1" dirty="0" lang="en-IN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endParaRPr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>
          <a:xfrm>
            <a:off x="99291" y="1381415"/>
            <a:ext cx="11261436" cy="5032375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Autonomous: 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service works 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independently.Example:Payment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Service can work even if Delivery Service is updated.</a:t>
            </a:r>
          </a:p>
          <a:p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Loosely </a:t>
            </a:r>
            <a:r>
              <a:rPr dirty="0"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Coupled :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do not depend heavily on each 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other.They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only know what request to send and what response to 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expect.This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makes maintenance easy.</a:t>
            </a:r>
          </a:p>
          <a:p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Stateless: 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service does not remember previous 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requests.Example:Customer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checks 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balance.Later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checks 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again.The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service treats both requests independently.</a:t>
            </a:r>
          </a:p>
          <a:p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Accessed through an 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Applications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cannot directly access the internal 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code.Instead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they use an interface (API).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pPr algn="ctr"/>
            <a:r>
              <a:rPr b="1" dirty="0" lang="en-US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b="1" dirty="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Provider and Service Provider</a:t>
            </a:r>
            <a:br>
              <a:rPr b="1" dirty="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1" name="Content Placeholder 2"/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lnSpcReduction="10000"/>
          </a:bodyPr>
          <a:p>
            <a:r>
              <a:rPr b="1" dirty="0" lang="en-US" smtClean="0"/>
              <a:t>Service Provider </a:t>
            </a:r>
          </a:p>
          <a:p>
            <a:r>
              <a:rPr dirty="0" lang="en-US" smtClean="0"/>
              <a:t>The application that offers the service.</a:t>
            </a:r>
          </a:p>
          <a:p>
            <a:r>
              <a:rPr dirty="0" lang="en-US" smtClean="0"/>
              <a:t>Example</a:t>
            </a:r>
          </a:p>
          <a:p>
            <a:r>
              <a:rPr dirty="0" lang="en-US" smtClean="0"/>
              <a:t>Bank Payment Service</a:t>
            </a:r>
          </a:p>
          <a:p>
            <a:r>
              <a:rPr dirty="0" lang="en-US" smtClean="0"/>
              <a:t>It provides</a:t>
            </a:r>
          </a:p>
          <a:p>
            <a:r>
              <a:rPr dirty="0" lang="en-US" smtClean="0"/>
              <a:t>Pay Money </a:t>
            </a:r>
          </a:p>
          <a:p>
            <a:r>
              <a:rPr dirty="0" lang="en-US" smtClean="0"/>
              <a:t>Check Balance </a:t>
            </a:r>
          </a:p>
          <a:p>
            <a:r>
              <a:rPr dirty="0" lang="en-US" smtClean="0"/>
              <a:t>Refund </a:t>
            </a:r>
          </a:p>
          <a:p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2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p>
            <a:r>
              <a:rPr b="1" dirty="0" lang="en-US" smtClean="0"/>
              <a:t>Service Consumer</a:t>
            </a:r>
          </a:p>
          <a:p>
            <a:r>
              <a:rPr dirty="0" lang="en-US" smtClean="0"/>
              <a:t>The application that uses the service.</a:t>
            </a:r>
          </a:p>
          <a:p>
            <a:r>
              <a:rPr dirty="0" lang="en-US" smtClean="0"/>
              <a:t>Example</a:t>
            </a:r>
          </a:p>
          <a:p>
            <a:r>
              <a:rPr dirty="0" lang="en-US" smtClean="0"/>
              <a:t>Amazon uses the Bank's Payment Service.</a:t>
            </a:r>
          </a:p>
          <a:p>
            <a:r>
              <a:rPr dirty="0" lang="en-US" smtClean="0"/>
              <a:t>Amazon is the </a:t>
            </a:r>
            <a:r>
              <a:rPr b="1" dirty="0" lang="en-US" smtClean="0"/>
              <a:t>consumer</a:t>
            </a:r>
            <a:r>
              <a:rPr dirty="0" lang="en-US" smtClean="0"/>
              <a:t>.</a:t>
            </a:r>
          </a:p>
          <a:p>
            <a:r>
              <a:rPr dirty="0" lang="en-US" smtClean="0"/>
              <a:t>Bank is the </a:t>
            </a:r>
            <a:r>
              <a:rPr b="1" dirty="0" lang="en-US" smtClean="0"/>
              <a:t>provider</a:t>
            </a:r>
            <a:r>
              <a:rPr dirty="0" lang="en-US" smtClean="0"/>
              <a:t>.</a:t>
            </a:r>
          </a:p>
          <a:p>
            <a:endParaRPr b="1" dirty="0" lang="en-US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pPr algn="ctr"/>
            <a:r>
              <a:rPr b="1" dirty="0" lang="en-US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b="1" dirty="0" lang="en-US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 lang="en-US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b="1" dirty="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br>
              <a:rPr b="1" dirty="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Data Contract </a:t>
            </a:r>
            <a:br>
              <a:rPr b="1" dirty="0" 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4" name="Content Placeholder 2"/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US" smtClean="0"/>
              <a:t>Service Contract</a:t>
            </a:r>
          </a:p>
          <a:p>
            <a:r>
              <a:rPr dirty="0" lang="en-US" smtClean="0"/>
              <a:t>A </a:t>
            </a:r>
            <a:r>
              <a:rPr b="1" dirty="0" lang="en-US" smtClean="0"/>
              <a:t>Service Contract</a:t>
            </a:r>
            <a:r>
              <a:rPr dirty="0" lang="en-US" smtClean="0"/>
              <a:t> defines</a:t>
            </a:r>
          </a:p>
          <a:p>
            <a:r>
              <a:rPr dirty="0" lang="en-US" smtClean="0"/>
              <a:t>What operations are available </a:t>
            </a:r>
          </a:p>
          <a:p>
            <a:r>
              <a:rPr dirty="0" lang="en-US" smtClean="0"/>
              <a:t>Input format </a:t>
            </a:r>
          </a:p>
          <a:p>
            <a:r>
              <a:rPr dirty="0" lang="en-US" smtClean="0"/>
              <a:t>Output format </a:t>
            </a:r>
          </a:p>
          <a:p>
            <a:r>
              <a:rPr dirty="0" lang="en-US" smtClean="0"/>
              <a:t>Rules for communication</a:t>
            </a:r>
          </a:p>
          <a:p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5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p>
            <a:r>
              <a:rPr dirty="0" lang="en-US" smtClean="0"/>
              <a:t>A </a:t>
            </a:r>
            <a:r>
              <a:rPr b="1" dirty="0" lang="en-US" smtClean="0"/>
              <a:t>Data Contract</a:t>
            </a:r>
            <a:r>
              <a:rPr dirty="0" lang="en-US" smtClean="0"/>
              <a:t> defines </a:t>
            </a:r>
            <a:r>
              <a:rPr b="1" dirty="0" lang="en-US" smtClean="0"/>
              <a:t>what data is exchanged</a:t>
            </a:r>
            <a:r>
              <a:rPr dirty="0" lang="en-US" smtClean="0"/>
              <a:t>.</a:t>
            </a:r>
          </a:p>
          <a:p>
            <a:r>
              <a:rPr dirty="0" lang="en-US" smtClean="0"/>
              <a:t>Example</a:t>
            </a:r>
          </a:p>
          <a:p>
            <a:r>
              <a:rPr dirty="0" lang="en-US" smtClean="0"/>
              <a:t>Customer Data</a:t>
            </a:r>
          </a:p>
          <a:p>
            <a:endParaRPr b="1" dirty="0" lang="en-US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2574636" y="217343"/>
            <a:ext cx="10515600" cy="1325563"/>
          </a:xfrm>
        </p:spPr>
        <p:txBody>
          <a:bodyPr>
            <a:normAutofit/>
          </a:bodyPr>
          <a:p>
            <a:r>
              <a:rPr b="1" dirty="0" lang="en-IN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VS Service</a:t>
            </a: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1493982" y="2020556"/>
          <a:ext cx="10515600" cy="283464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p>
                      <a:r>
                        <a:rPr lang="en-IN">
                          <a:solidFill>
                            <a:srgbClr val="FF0000"/>
                          </a:solidFill>
                        </a:rPr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dirty="0" lang="en-IN">
                          <a:solidFill>
                            <a:srgbClr val="FF0000"/>
                          </a:solidFill>
                        </a:rPr>
                        <a:t>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dirty="0" lang="en-US"/>
                        <a:t>Exists inside the same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Exists independently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Called locally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dirty="0" lang="en-IN"/>
                        <a:t>Called over a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Tight coupling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Loose coupling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Language dependent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Language independent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/>
                        <a:t>Cannot usually be reused by other applications directly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Can be reused by many 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Uses function 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dirty="0" lang="en-IN"/>
                        <a:t>Uses messages/API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>
          <a:xfrm>
            <a:off x="99291" y="9670"/>
            <a:ext cx="11261436" cy="1325563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algn="ctr"/>
            <a:r>
              <a:rPr dirty="0" lang="en-US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Service-Oriented Architecture (SOA)</a:t>
            </a:r>
            <a:endParaRPr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Content Placeholder 2"/>
          <p:cNvSpPr>
            <a:spLocks noGrp="1"/>
          </p:cNvSpPr>
          <p:nvPr>
            <p:ph idx="1"/>
          </p:nvPr>
        </p:nvSpPr>
        <p:spPr>
          <a:xfrm>
            <a:off x="99291" y="1381415"/>
            <a:ext cx="11261436" cy="5032375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Service-Oriented Architecture (SOA) is an architectural style in which software applications are built by combining reusable, loosely coupled services that communicate over a network.</a:t>
            </a:r>
          </a:p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dirty="0"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reuse of services, Integrate different enterprise applications, Improve interoperability between systems.</a:t>
            </a:r>
          </a:p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Consider a university management system.</a:t>
            </a:r>
          </a:p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departments have their own applications: Admissions, Library, Examination, Hostel, Finance.</a:t>
            </a:r>
          </a:p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department exposes its functionality as a service.</a:t>
            </a:r>
          </a:p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Service: All these services communicate through a common integration layer called the </a:t>
            </a:r>
            <a:r>
              <a:rPr dirty="0"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Service Bus (ESB).</a:t>
            </a:r>
            <a:endParaRPr dirty="0"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9291" y="9670"/>
            <a:ext cx="11261436" cy="1325563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algn="ctr"/>
            <a:r>
              <a:rPr dirty="0"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dirty="0" lang="en-US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dirty="0"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Architecture?</a:t>
            </a:r>
            <a:endParaRPr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4" name="Content Placeholder 2"/>
          <p:cNvSpPr>
            <a:spLocks noGrp="1"/>
          </p:cNvSpPr>
          <p:nvPr>
            <p:ph idx="1"/>
          </p:nvPr>
        </p:nvSpPr>
        <p:spPr>
          <a:xfrm>
            <a:off x="99291" y="1381415"/>
            <a:ext cx="11261436" cy="5032375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algn="just"/>
            <a:r>
              <a:rPr dirty="0"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is an architectural style where an application is divided into many small, independent services, each responsible for a single business capability.</a:t>
            </a:r>
          </a:p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servicehas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its own database, can be developed independently, can be deployed independently.</a:t>
            </a:r>
          </a:p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Think about Amazon.</a:t>
            </a:r>
          </a:p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one huge application, Amazon has separate </a:t>
            </a:r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microservices:Login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Service,Product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Service,Cart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Service, Payment Service, Order Service, Notification Service, Delivery Service.</a:t>
            </a:r>
          </a:p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service works independently.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99291" y="9670"/>
            <a:ext cx="11261436" cy="1325563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algn="ctr"/>
            <a:r>
              <a:rPr dirty="0"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dirty="0" lang="en-US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dirty="0"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Architecture?</a:t>
            </a:r>
            <a:endParaRPr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Content Placeholder 2"/>
          <p:cNvSpPr>
            <a:spLocks noGrp="1"/>
          </p:cNvSpPr>
          <p:nvPr>
            <p:ph idx="1"/>
          </p:nvPr>
        </p:nvSpPr>
        <p:spPr>
          <a:xfrm>
            <a:off x="99291" y="1381415"/>
            <a:ext cx="11261436" cy="5032375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Difference </a:t>
            </a:r>
          </a:p>
          <a:p>
            <a:pPr algn="just"/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SOA:One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organization has many large business services. </a:t>
            </a:r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Example:BankCustomer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Service, Loan Service, Insurance Service, Account Service</a:t>
            </a:r>
          </a:p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are generally larger. </a:t>
            </a:r>
          </a:p>
          <a:p>
            <a:pPr algn="just"/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Microservices:Each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large service is further divided into many smaller services.</a:t>
            </a:r>
          </a:p>
          <a:p>
            <a:pPr algn="just"/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Example:Loan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Service↓Loan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ApplicationLoan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ApprovalLoan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EMILoan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InterestLoan</a:t>
            </a:r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Status.</a:t>
            </a:r>
          </a:p>
          <a:p>
            <a:pPr algn="just"/>
            <a:r>
              <a:rPr dirty="0"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performs only one function.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>
          <a:xfrm>
            <a:off x="99291" y="9670"/>
            <a:ext cx="11261436" cy="1325563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algn="ctr"/>
            <a:r>
              <a:rPr dirty="0"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SOA and </a:t>
            </a:r>
            <a:r>
              <a:rPr dirty="0" lang="en-US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endParaRPr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94305" name="Content Placeholder 3"/>
          <p:cNvGraphicFramePr>
            <a:graphicFrameLocks noGrp="1"/>
          </p:cNvGraphicFramePr>
          <p:nvPr>
            <p:ph idx="1"/>
          </p:nvPr>
        </p:nvGraphicFramePr>
        <p:xfrm>
          <a:off x="666245" y="1571596"/>
          <a:ext cx="10515600" cy="4023360"/>
        </p:xfrm>
        <a:graphic>
          <a:graphicData uri="http://schemas.openxmlformats.org/drawingml/2006/table">
            <a:tbl>
              <a:tblPr/>
              <a:tblGrid>
                <a:gridCol w="3434700"/>
                <a:gridCol w="3575700"/>
                <a:gridCol w="3505200"/>
              </a:tblGrid>
              <a:tr h="0">
                <a:tc>
                  <a:txBody>
                    <a:bodyPr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SOA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Microservices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Integrate enterprise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Build scalable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Service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Large business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Small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Coupling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Loose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Very loose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ESB, SOAP, 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Mostly REST, gRPC, messaging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Deployment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Often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Independently deployable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Often shared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Separate database per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Usually same enterprise standards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Technology-independent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Fault Isolation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Higher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IN"/>
                        <a:t>Development Team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lang="en-IN"/>
                        <a:t>Large centralized team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r>
                        <a:rPr dirty="0" lang="en-IN"/>
                        <a:t>Small independent teams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1447800" y="97272"/>
            <a:ext cx="10515600" cy="632402"/>
          </a:xfrm>
        </p:spPr>
        <p:txBody>
          <a:bodyPr>
            <a:normAutofit fontScale="90000"/>
          </a:bodyPr>
          <a:p>
            <a:pPr algn="ctr"/>
            <a:r>
              <a:rPr dirty="0" lang="en-US" smtClean="0"/>
              <a:t>Drivers for SOA</a:t>
            </a:r>
            <a:endParaRPr dirty="0" lang="en-IN"/>
          </a:p>
        </p:txBody>
      </p:sp>
      <p:sp>
        <p:nvSpPr>
          <p:cNvPr id="1048629" name="Content Placeholder 2"/>
          <p:cNvSpPr>
            <a:spLocks noGrp="1"/>
          </p:cNvSpPr>
          <p:nvPr>
            <p:ph idx="1"/>
          </p:nvPr>
        </p:nvSpPr>
        <p:spPr>
          <a:xfrm>
            <a:off x="90054" y="809624"/>
            <a:ext cx="12009582" cy="6048375"/>
          </a:xfrm>
        </p:spPr>
        <p:txBody>
          <a:bodyPr>
            <a:normAutofit/>
          </a:bodyPr>
          <a:p>
            <a:r>
              <a:rPr dirty="0" lang="en-US" smtClean="0"/>
              <a:t>As businesses became larger and more competitive, companies needed software that was:</a:t>
            </a:r>
          </a:p>
          <a:p>
            <a:pPr indent="574675"/>
            <a:r>
              <a:rPr dirty="0" lang="en-US" smtClean="0"/>
              <a:t>Flexible</a:t>
            </a:r>
          </a:p>
          <a:p>
            <a:pPr indent="574675"/>
            <a:r>
              <a:rPr dirty="0" lang="en-US" smtClean="0"/>
              <a:t>Reusable</a:t>
            </a:r>
          </a:p>
          <a:p>
            <a:pPr indent="574675"/>
            <a:r>
              <a:rPr dirty="0" lang="en-US" smtClean="0"/>
              <a:t>Faster</a:t>
            </a:r>
          </a:p>
          <a:p>
            <a:pPr indent="574675"/>
            <a:r>
              <a:rPr dirty="0" lang="en-US" smtClean="0"/>
              <a:t>Less expensive</a:t>
            </a:r>
          </a:p>
          <a:p>
            <a:pPr indent="574675"/>
            <a:r>
              <a:rPr dirty="0" lang="en-US" smtClean="0"/>
              <a:t>Easier to integrate</a:t>
            </a:r>
          </a:p>
          <a:p>
            <a:r>
              <a:rPr dirty="0" lang="en-US" smtClean="0"/>
              <a:t>These needs became the drivers for SOA.</a:t>
            </a:r>
          </a:p>
          <a:p>
            <a:r>
              <a:rPr dirty="0" lang="en-US" smtClean="0"/>
              <a:t>The drivers are classified into two categories:</a:t>
            </a:r>
          </a:p>
          <a:p>
            <a:pPr indent="574675" marL="628650"/>
            <a:r>
              <a:rPr dirty="0" lang="en-US" smtClean="0">
                <a:solidFill>
                  <a:srgbClr val="FF0000"/>
                </a:solidFill>
              </a:rPr>
              <a:t>Business Drivers</a:t>
            </a:r>
          </a:p>
          <a:p>
            <a:pPr indent="574675" marL="628650"/>
            <a:r>
              <a:rPr dirty="0" lang="en-US" smtClean="0">
                <a:solidFill>
                  <a:srgbClr val="FF0000"/>
                </a:solidFill>
              </a:rPr>
              <a:t>Technology Drivers</a:t>
            </a:r>
            <a:endParaRPr dirty="0" lang="en-I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>
          <a:xfrm>
            <a:off x="838200" y="235817"/>
            <a:ext cx="10515600" cy="715530"/>
          </a:xfrm>
        </p:spPr>
        <p:txBody>
          <a:bodyPr/>
          <a:p>
            <a:r>
              <a:rPr b="1" dirty="0" lang="en-US" smtClean="0">
                <a:solidFill>
                  <a:srgbClr val="00B0F0"/>
                </a:solidFill>
              </a:rPr>
              <a:t>Driver 1: Rapid Business Process Changes</a:t>
            </a:r>
          </a:p>
        </p:txBody>
      </p:sp>
      <p:sp>
        <p:nvSpPr>
          <p:cNvPr id="1048631" name="Content Placeholder 2"/>
          <p:cNvSpPr>
            <a:spLocks noGrp="1"/>
          </p:cNvSpPr>
          <p:nvPr>
            <p:ph idx="1"/>
          </p:nvPr>
        </p:nvSpPr>
        <p:spPr>
          <a:xfrm>
            <a:off x="182418" y="951347"/>
            <a:ext cx="11907981" cy="5791198"/>
          </a:xfrm>
        </p:spPr>
        <p:txBody>
          <a:bodyPr>
            <a:normAutofit fontScale="85000" lnSpcReduction="20000"/>
          </a:bodyPr>
          <a:p>
            <a:r>
              <a:rPr b="1" dirty="0" lang="en-US" smtClean="0"/>
              <a:t>Meaning</a:t>
            </a:r>
          </a:p>
          <a:p>
            <a:pPr indent="131763"/>
            <a:r>
              <a:rPr dirty="0" lang="en-US" smtClean="0"/>
              <a:t>Business requirements change frequently.</a:t>
            </a:r>
          </a:p>
          <a:p>
            <a:pPr indent="131763"/>
            <a:r>
              <a:rPr dirty="0" lang="en-US" smtClean="0"/>
              <a:t>Companies should be able to update their software quickly.</a:t>
            </a:r>
          </a:p>
          <a:p>
            <a:r>
              <a:rPr b="1" dirty="0" lang="en-US" smtClean="0"/>
              <a:t>Example</a:t>
            </a:r>
          </a:p>
          <a:p>
            <a:pPr indent="492125"/>
            <a:r>
              <a:rPr dirty="0" lang="en-US" smtClean="0"/>
              <a:t>Suppose Amazon introduces</a:t>
            </a:r>
          </a:p>
          <a:p>
            <a:pPr indent="492125"/>
            <a:r>
              <a:rPr dirty="0" lang="en-US" smtClean="0"/>
              <a:t>Same-day delivery </a:t>
            </a:r>
          </a:p>
          <a:p>
            <a:pPr indent="492125"/>
            <a:r>
              <a:rPr dirty="0" lang="en-US" smtClean="0"/>
              <a:t>EMI payment </a:t>
            </a:r>
          </a:p>
          <a:p>
            <a:pPr indent="492125"/>
            <a:r>
              <a:rPr dirty="0" lang="en-US" smtClean="0"/>
              <a:t>Cash on Delivery </a:t>
            </a:r>
          </a:p>
          <a:p>
            <a:r>
              <a:rPr dirty="0" lang="en-US" smtClean="0"/>
              <a:t>Without SOA:</a:t>
            </a:r>
          </a:p>
          <a:p>
            <a:pPr indent="0" marL="0">
              <a:buNone/>
            </a:pPr>
            <a:r>
              <a:rPr dirty="0" lang="en-US" smtClean="0"/>
              <a:t>          </a:t>
            </a:r>
            <a:r>
              <a:rPr dirty="0" lang="en-US" smtClean="0">
                <a:solidFill>
                  <a:srgbClr val="FF0000"/>
                </a:solidFill>
              </a:rPr>
              <a:t>Entire application must be modified. </a:t>
            </a:r>
          </a:p>
          <a:p>
            <a:r>
              <a:rPr dirty="0" lang="en-US" smtClean="0"/>
              <a:t>With SOA:</a:t>
            </a:r>
          </a:p>
          <a:p>
            <a:pPr indent="0" marL="0">
              <a:buNone/>
            </a:pPr>
            <a:r>
              <a:rPr dirty="0" lang="en-US" smtClean="0"/>
              <a:t>           Only the </a:t>
            </a:r>
            <a:r>
              <a:rPr b="1" dirty="0" lang="en-US" smtClean="0">
                <a:solidFill>
                  <a:srgbClr val="FF0000"/>
                </a:solidFill>
              </a:rPr>
              <a:t>Delivery Service</a:t>
            </a:r>
            <a:r>
              <a:rPr dirty="0" lang="en-US" smtClean="0">
                <a:solidFill>
                  <a:srgbClr val="FF0000"/>
                </a:solidFill>
              </a:rPr>
              <a:t> or </a:t>
            </a:r>
            <a:r>
              <a:rPr b="1" dirty="0" lang="en-US" smtClean="0">
                <a:solidFill>
                  <a:srgbClr val="FF0000"/>
                </a:solidFill>
              </a:rPr>
              <a:t>Payment Service</a:t>
            </a:r>
            <a:r>
              <a:rPr dirty="0" lang="en-US" smtClean="0">
                <a:solidFill>
                  <a:srgbClr val="FF0000"/>
                </a:solidFill>
              </a:rPr>
              <a:t> </a:t>
            </a:r>
            <a:r>
              <a:rPr dirty="0" lang="en-US" smtClean="0"/>
              <a:t>is updated. </a:t>
            </a:r>
          </a:p>
          <a:p>
            <a:r>
              <a:rPr b="1" dirty="0" lang="en-US" smtClean="0"/>
              <a:t>Benefit</a:t>
            </a:r>
          </a:p>
          <a:p>
            <a:pPr indent="0" marL="0">
              <a:buNone/>
            </a:pPr>
            <a:r>
              <a:rPr dirty="0" lang="en-US" smtClean="0"/>
              <a:t>           ✔ Faster adaptation to market changes.</a:t>
            </a:r>
            <a:endParaRPr dirty="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Content Placeholder 2"/>
          <p:cNvSpPr>
            <a:spLocks noGrp="1"/>
          </p:cNvSpPr>
          <p:nvPr>
            <p:ph idx="1"/>
          </p:nvPr>
        </p:nvSpPr>
        <p:spPr>
          <a:xfrm>
            <a:off x="117763" y="249383"/>
            <a:ext cx="11907981" cy="5791198"/>
          </a:xfrm>
        </p:spPr>
        <p:txBody>
          <a:bodyPr>
            <a:normAutofit fontScale="85000" lnSpcReduction="20000"/>
          </a:bodyPr>
          <a:p>
            <a:r>
              <a:rPr b="1" dirty="0" sz="2400" lang="en-US" smtClean="0"/>
              <a:t>Driver 2: Reduction of Process Cycle Time</a:t>
            </a:r>
          </a:p>
          <a:p>
            <a:r>
              <a:rPr dirty="0" sz="2400" lang="en-US" smtClean="0"/>
              <a:t>Cycle time means the total time required to complete a business process.</a:t>
            </a:r>
          </a:p>
          <a:p>
            <a:r>
              <a:rPr dirty="0" sz="2400" lang="en-US" smtClean="0"/>
              <a:t>The goal is to reduce the time taken.</a:t>
            </a:r>
          </a:p>
          <a:p>
            <a:endParaRPr dirty="0" sz="2400" lang="en-US" smtClean="0"/>
          </a:p>
          <a:p>
            <a:r>
              <a:rPr b="1" dirty="0" sz="2400" lang="en-US" smtClean="0"/>
              <a:t>Driver 3: Promotion of Business Through Multiple Channels</a:t>
            </a:r>
          </a:p>
          <a:p>
            <a:r>
              <a:rPr dirty="0" sz="2400" lang="en-US" smtClean="0"/>
              <a:t>Customers access the same business using different channels.</a:t>
            </a:r>
          </a:p>
          <a:p>
            <a:r>
              <a:rPr dirty="0" sz="2400" lang="en-US" err="1" smtClean="0"/>
              <a:t>Examples:Website</a:t>
            </a:r>
            <a:r>
              <a:rPr dirty="0" sz="2400" lang="en-US" smtClean="0"/>
              <a:t> ,Mobile App ,ATM </a:t>
            </a:r>
            <a:r>
              <a:rPr dirty="0" sz="2400" lang="en-US"/>
              <a:t>,</a:t>
            </a:r>
            <a:r>
              <a:rPr dirty="0" sz="2400" lang="en-US" smtClean="0"/>
              <a:t>Smart TV ,Voice Assistant </a:t>
            </a:r>
          </a:p>
          <a:p>
            <a:r>
              <a:rPr dirty="0" sz="2400" lang="en-US" smtClean="0"/>
              <a:t>Instead of writing separate software for each platform, all use the same backend services.</a:t>
            </a:r>
          </a:p>
          <a:p>
            <a:endParaRPr dirty="0" sz="2400" lang="en-US" smtClean="0"/>
          </a:p>
          <a:p>
            <a:r>
              <a:rPr b="1" dirty="0" sz="2400" lang="en-US" smtClean="0"/>
              <a:t>Driver 4: Protection of Investments in Legacy Applications</a:t>
            </a:r>
          </a:p>
          <a:p>
            <a:r>
              <a:rPr dirty="0" sz="2400" lang="en-US" smtClean="0"/>
              <a:t>Companies already invested millions in older software.</a:t>
            </a:r>
          </a:p>
          <a:p>
            <a:r>
              <a:rPr dirty="0" sz="2400" lang="en-US" smtClean="0"/>
              <a:t>Instead of replacing it completely, SOA allows reuse.</a:t>
            </a:r>
          </a:p>
          <a:p>
            <a:r>
              <a:rPr b="1" dirty="0" sz="2400" lang="en-US" smtClean="0"/>
              <a:t>Example</a:t>
            </a:r>
          </a:p>
          <a:p>
            <a:r>
              <a:rPr dirty="0" lang="en-US" smtClean="0"/>
              <a:t>A bank has a 20-year-old account management system.</a:t>
            </a:r>
          </a:p>
          <a:p>
            <a:r>
              <a:rPr dirty="0" lang="en-US" smtClean="0"/>
              <a:t>Rather than rewriting it,</a:t>
            </a:r>
          </a:p>
          <a:p>
            <a:r>
              <a:rPr dirty="0" lang="en-US" smtClean="0"/>
              <a:t>they expose it as an </a:t>
            </a:r>
            <a:r>
              <a:rPr b="1" dirty="0" lang="en-US" smtClean="0"/>
              <a:t>Account Service</a:t>
            </a:r>
            <a:r>
              <a:rPr dirty="0" lang="en-US" smtClean="0"/>
              <a:t>.</a:t>
            </a:r>
          </a:p>
          <a:p>
            <a:endParaRPr dirty="0" lang="en-US" smtClean="0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838200" y="235817"/>
            <a:ext cx="10515600" cy="715530"/>
          </a:xfrm>
        </p:spPr>
        <p:txBody>
          <a:bodyPr/>
          <a:p>
            <a:pPr algn="ctr"/>
            <a:r>
              <a:rPr b="1" dirty="0" lang="en-US" smtClean="0">
                <a:solidFill>
                  <a:srgbClr val="00B0F0"/>
                </a:solidFill>
              </a:rPr>
              <a:t>Technology Drivers</a:t>
            </a:r>
          </a:p>
        </p:txBody>
      </p:sp>
      <p:sp>
        <p:nvSpPr>
          <p:cNvPr id="1048634" name="Content Placeholder 2"/>
          <p:cNvSpPr>
            <a:spLocks noGrp="1"/>
          </p:cNvSpPr>
          <p:nvPr>
            <p:ph idx="1"/>
          </p:nvPr>
        </p:nvSpPr>
        <p:spPr>
          <a:xfrm>
            <a:off x="219364" y="1117601"/>
            <a:ext cx="11907981" cy="4442689"/>
          </a:xfrm>
        </p:spPr>
        <p:txBody>
          <a:bodyPr>
            <a:normAutofit/>
          </a:bodyPr>
          <a:p>
            <a:r>
              <a:rPr b="1" dirty="0" lang="en-US" smtClean="0"/>
              <a:t>Driver 1: Application Modernization</a:t>
            </a:r>
          </a:p>
          <a:p>
            <a:r>
              <a:rPr dirty="0" lang="en-US" smtClean="0"/>
              <a:t>Old software should work with modern technologies.</a:t>
            </a:r>
          </a:p>
          <a:p>
            <a:r>
              <a:rPr b="1" dirty="0" lang="en-US" smtClean="0"/>
              <a:t>Driver 2: Technology Change Management</a:t>
            </a:r>
          </a:p>
          <a:p>
            <a:r>
              <a:rPr dirty="0" lang="en-US" smtClean="0"/>
              <a:t>Technology changes rapidly.</a:t>
            </a:r>
          </a:p>
          <a:p>
            <a:r>
              <a:rPr dirty="0" lang="en-US" smtClean="0"/>
              <a:t>SOA allows organizations to change technologies without affecting users.</a:t>
            </a:r>
          </a:p>
          <a:p>
            <a:r>
              <a:rPr b="1" dirty="0" lang="en-US" smtClean="0"/>
              <a:t>Driver 3: Integration and Interoperability</a:t>
            </a:r>
          </a:p>
          <a:p>
            <a:r>
              <a:rPr dirty="0" lang="en-US" smtClean="0"/>
              <a:t>Different applications should communicate even if they use different technologies.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00363" y="525528"/>
            <a:ext cx="9790545" cy="5806943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SOA Methodology for Enterprise</dc:title>
  <dc:creator>Megala</dc:creator>
  <cp:lastModifiedBy>Megala</cp:lastModifiedBy>
  <dcterms:created xsi:type="dcterms:W3CDTF">2026-07-21T19:25:11Z</dcterms:created>
  <dcterms:modified xsi:type="dcterms:W3CDTF">2026-09-01T04:07:38Z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3b5183c77b5247498b337c641c234170_23</vt:lpwstr>
  </property>
</Properties>
</file>