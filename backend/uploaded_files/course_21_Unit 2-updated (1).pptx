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1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10" r:id="rId52"/>
    <p:sldId id="311" r:id="rId53"/>
    <p:sldId id="312" r:id="rId54"/>
    <p:sldId id="313" r:id="rId55"/>
    <p:sldId id="314" r:id="rId56"/>
    <p:sldId id="315" r:id="rId57"/>
    <p:sldId id="307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08" r:id="rId66"/>
    <p:sldId id="309" r:id="rId67"/>
    <p:sldId id="323" r:id="rId68"/>
    <p:sldId id="324" r:id="rId69"/>
    <p:sldId id="325" r:id="rId70"/>
    <p:sldId id="326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8705D-F1A0-4728-8245-F456A483C817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B9938-6B31-47C0-B43A-B9101D0C1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9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64B3B0-7163-E549-D551-914258C4F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454813-A8B8-CC05-BADE-4F1708F0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D3B1A40-92C1-1E06-2C28-15E8C92E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29FD8-16DA-4FE0-89BB-DA9D3FD9B371}" type="datetime1">
              <a:rPr lang="en-IN" smtClean="0"/>
              <a:t>05-09-2025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04A085B-BE53-0AAA-6AC8-0D60DE55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9613BD-EB77-67DD-F8C9-2B764F7C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78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4B46-5A20-D5D4-E02B-649CC449B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EF8C-F373-246C-6323-F50B30BD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949C-D81D-C2CC-61F2-F9DABA1D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147A0-1E50-4CB1-86AB-13E8DB95622F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6789-290A-CDB4-E18F-D5F972ED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4DF03-364D-EF01-8E3A-99BEB9C1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1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5DE8-CFFE-CA83-3BD1-FF6F8D63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0F584-A0FC-62D2-4B6A-44A061DEA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98C1-F109-A555-75FF-2214C434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13782-666F-4959-8D07-9D2AD97B36FF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BEC37-9C7D-9D50-101D-AF91925A7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2EF6-302C-5870-AC4A-412CE2B7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95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9739-512A-6109-938B-CE5ECA20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92C4-CD5A-6526-89BA-532B5C835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C42E5-E81E-DCAC-86D9-F1F38763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1ED36-CB54-2770-E21E-7694E1EC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EE847-7682-42D8-BC2A-C5315505B764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7C833-DF63-35F7-7570-0322D127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7FB8D-5B8C-B0EF-B98B-4BF6B7D5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93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B137-D651-4ACF-4DF4-E30C6C16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2563E-4B10-04E4-06FB-1EB43F631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CCF5A-6A10-328D-2E6A-D28122670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39856-63BE-DEBC-C35A-3DF62176B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E2D58-3063-4D0A-1B80-203CEE4AB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5DCF8-BBB7-B0D8-0DDC-AE3EEC31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1C0B-AC2C-4008-83A6-EFEAF52155EB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2BB01-2A52-2648-B0ED-49FE09E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B773BA-A3D1-615F-A7E9-F5729DE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18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C202-06C1-A63D-F12F-15058056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43E75-40FE-A34F-2D03-0CDD9DD90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F95-C8C7-4679-A282-A0ACE5A62D9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07295-9E56-D0B4-A178-261726C2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9E903-E4F3-173D-EB36-4C7FE00A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81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A9B3A-0DBD-7029-FB19-6B53C667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515E7-28B2-4F40-9989-DC8D65AC2215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5E17A-4CA1-EAB1-8222-78E0D7C2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BAB32-8CA8-EE0A-FA23-70A3210F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4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B8C0-1CBE-08CC-BAA0-8FF79804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C8B93-84D0-5BA0-345F-BE9C1CF68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F1917-7EDE-8655-19DF-4DA1DBE39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822B1-424C-A335-2566-74A44FE9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1391-FB6A-4A5E-9980-96E80B7E8FB1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B8398-BCE2-0C4C-FFCA-ABDDBB6A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0A404-CE52-71A0-479E-49683768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6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7FAB-03B2-FDAE-D322-A69A7D03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86928-6315-D5CD-F407-E13B59F2A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457B6-FF45-9003-F62A-C04171221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7AF9C-7FBF-2C79-D748-591DAFF6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CF7A9-00FA-4313-918E-FA4767F8924F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80817-733B-A530-5117-CEFEFBC2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36208-9439-9080-18D5-C9C6AC1E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57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4C4C-D92D-7B0B-3C81-0A943264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4E372-C72C-4A17-1E0A-E5568A60E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51CEF-64CC-10FF-94D9-AB08161C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84A2-1D02-49DC-8FB5-8551FC2B907A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FB23-DE84-2014-112F-0E79646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FBC74-EA14-28D2-F44E-C6E78DFF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46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4C546-68C9-E251-CA04-E50F69375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DE444-0755-995E-79F5-4F1610351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0D33-7467-CD93-40EB-C097B4B7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6011F-24A3-4A8E-AC28-C3C9D152514F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90E0-DD4D-1C3D-A6EF-E7BCD123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9CD25-9E96-E2AC-322C-A7A21D1C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18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794F6-9882-0AFC-0FA9-98AB4239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319BC-45A3-DFBE-03A7-EA387B14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203E1-458B-2B0E-9DAE-CE06EFBCD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FE29FD8-16DA-4FE0-89BB-DA9D3FD9B371}" type="datetime1">
              <a:rPr lang="en-IN" smtClean="0"/>
              <a:t>05-09-2025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8A64-FB21-49ED-B443-0B7937173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/>
              <a:t>Prepared by Dr.K.Rajeshkumar, Assistant Professor, Networking and Commmunications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666A3-7149-AA1B-3DCB-47CB935D5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F5487B71-82E0-4676-A522-1E56BCBD2F93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26452-A9B7-2DA4-1B3A-CE55421D41F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9016" y="0"/>
            <a:ext cx="1902984" cy="900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060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500D-CB83-35AD-7538-DE0CC3FEC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9837"/>
          </a:xfrm>
        </p:spPr>
        <p:txBody>
          <a:bodyPr/>
          <a:lstStyle/>
          <a:p>
            <a:pPr algn="ctr"/>
            <a:r>
              <a:rPr lang="en-IN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237A-A7CF-8FC0-7CA3-146982CBA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/>
          <a:p>
            <a:r>
              <a:rPr lang="en-IN" sz="5400"/>
              <a:t>Ontology and their Role in the Semantic Web</a:t>
            </a:r>
            <a:endParaRPr lang="en-IN" sz="5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67D6-3C45-BAAD-184E-FC1F7ACA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7533" y="6356350"/>
            <a:ext cx="6620934" cy="365125"/>
          </a:xfrm>
        </p:spPr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E718-67A1-59CC-DAEF-5D83D386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5487B71-82E0-4676-A522-1E56BCBD2F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5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45DC-17C2-363D-C03D-DF4F8B5F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of Ontology in the Semantic Web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1A43-8B07-84B3-FD97-3324017A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Introduction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Semantic Web</a:t>
            </a:r>
            <a:r>
              <a:rPr lang="en-US" dirty="0"/>
              <a:t> is an extension of the current web, where information is given </a:t>
            </a:r>
            <a:r>
              <a:rPr lang="en-US" b="1" dirty="0"/>
              <a:t>well-defined meaning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Ontologies form the </a:t>
            </a:r>
            <a:r>
              <a:rPr lang="en-US" b="1" dirty="0"/>
              <a:t>backbone</a:t>
            </a:r>
            <a:r>
              <a:rPr lang="en-US" dirty="0"/>
              <a:t> of the Semantic Web by providing structured vocabularies and shared understanding.</a:t>
            </a:r>
          </a:p>
          <a:p>
            <a:pPr algn="just"/>
            <a:r>
              <a:rPr lang="en-US" dirty="0"/>
              <a:t>They help machines </a:t>
            </a:r>
            <a:r>
              <a:rPr lang="en-US" b="1" dirty="0"/>
              <a:t>interpret</a:t>
            </a:r>
            <a:r>
              <a:rPr lang="en-US" dirty="0"/>
              <a:t>, </a:t>
            </a:r>
            <a:r>
              <a:rPr lang="en-US" b="1" dirty="0"/>
              <a:t>integrate</a:t>
            </a:r>
            <a:r>
              <a:rPr lang="en-US" dirty="0"/>
              <a:t>, and </a:t>
            </a:r>
            <a:r>
              <a:rPr lang="en-US" b="1" dirty="0"/>
              <a:t>reason</a:t>
            </a:r>
            <a:r>
              <a:rPr lang="en-US" dirty="0"/>
              <a:t> over heterogeneous web data.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7717A-997D-EC16-49A0-E24F57C4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93D3D-B888-0B02-4208-D149D373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00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B5A8-214B-DAE6-9C38-8F979A3A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of Ontology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7B8477-3E9C-9540-A645-8BDFDF07AD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2"/>
            <a:ext cx="74985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 computer science: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“An ontology is a formal, explicit specification of a shared conceptualization.”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It defines: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Concepts (Classes)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Relationships (Properties)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Instances (Individuals)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Constraints and Axioms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31C85-50CC-D33C-C523-427A0768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F1113-8478-12B0-5405-E6AAA6D1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63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D6E74-77C1-F375-B447-1ABE2CEA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Roles of Ontology in Semantic Web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CA372-9271-2E9C-4140-F5623F0EB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Knowledge Representation</a:t>
            </a:r>
          </a:p>
          <a:p>
            <a:pPr algn="just"/>
            <a:r>
              <a:rPr lang="en-US" dirty="0"/>
              <a:t>Provides </a:t>
            </a:r>
            <a:r>
              <a:rPr lang="en-US" b="1" dirty="0"/>
              <a:t>standardized representation</a:t>
            </a:r>
            <a:r>
              <a:rPr lang="en-US" dirty="0"/>
              <a:t> of concepts and their relationships.</a:t>
            </a:r>
          </a:p>
          <a:p>
            <a:pPr algn="just"/>
            <a:r>
              <a:rPr lang="en-US" dirty="0"/>
              <a:t>Helps computers understand domain-specific terms.</a:t>
            </a:r>
          </a:p>
          <a:p>
            <a:pPr algn="just"/>
            <a:r>
              <a:rPr lang="en-US" dirty="0"/>
              <a:t>Example: "Doctor treats Patient" in healthcare ontology.</a:t>
            </a:r>
          </a:p>
          <a:p>
            <a:pPr marL="0" indent="0" algn="just">
              <a:buNone/>
            </a:pPr>
            <a:r>
              <a:rPr lang="en-US" b="1" dirty="0"/>
              <a:t>3.2 Semantic Interoperability</a:t>
            </a:r>
          </a:p>
          <a:p>
            <a:pPr algn="just"/>
            <a:r>
              <a:rPr lang="en-US" dirty="0"/>
              <a:t>Enables data exchange between </a:t>
            </a:r>
            <a:r>
              <a:rPr lang="en-US" b="1" dirty="0"/>
              <a:t>heterogeneous systems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Bridges the gap between </a:t>
            </a:r>
            <a:r>
              <a:rPr lang="en-US" b="1" dirty="0"/>
              <a:t>different vocabularies</a:t>
            </a:r>
            <a:r>
              <a:rPr lang="en-US" dirty="0"/>
              <a:t> used across applications.</a:t>
            </a:r>
          </a:p>
          <a:p>
            <a:pPr algn="just"/>
            <a:r>
              <a:rPr lang="en-US" dirty="0"/>
              <a:t>Example: “Car” in one dataset = “Automobile” in another.</a:t>
            </a:r>
          </a:p>
          <a:p>
            <a:pPr marL="0" indent="0" algn="just">
              <a:buNone/>
            </a:pPr>
            <a:r>
              <a:rPr lang="en-US" b="1" dirty="0"/>
              <a:t>Information Integration</a:t>
            </a:r>
          </a:p>
          <a:p>
            <a:pPr algn="just"/>
            <a:r>
              <a:rPr lang="en-US" dirty="0"/>
              <a:t>Facilitates merging of information from multiple sources.</a:t>
            </a:r>
          </a:p>
          <a:p>
            <a:pPr algn="just"/>
            <a:r>
              <a:rPr lang="en-US" dirty="0"/>
              <a:t>Example: Combining weather data (temperature, humidity) from different APIs.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9DD36-312A-A7D3-9009-2BCF6E4B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6EEB-11DC-418E-E408-4C3508E0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9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B6BF-34C7-FE30-00D7-991BA330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Roles of Ontology in Semantic Web(Cont.,)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E2245-64DB-F627-B16D-44BC207B5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b="1" dirty="0"/>
              <a:t>Knowledge Sharing &amp; Reuse</a:t>
            </a:r>
          </a:p>
          <a:p>
            <a:pPr algn="just"/>
            <a:r>
              <a:rPr lang="en-IN" dirty="0"/>
              <a:t>Provides a </a:t>
            </a:r>
            <a:r>
              <a:rPr lang="en-IN" b="1" dirty="0"/>
              <a:t>shared vocabulary</a:t>
            </a:r>
            <a:r>
              <a:rPr lang="en-IN" dirty="0"/>
              <a:t> for communication.</a:t>
            </a:r>
          </a:p>
          <a:p>
            <a:pPr algn="just"/>
            <a:r>
              <a:rPr lang="en-IN" dirty="0"/>
              <a:t>Ontologies can be reused across applications (e.g., FOAF for people, Dublin Core for metadata).</a:t>
            </a:r>
          </a:p>
          <a:p>
            <a:pPr marL="0" indent="0" algn="just">
              <a:buNone/>
            </a:pPr>
            <a:r>
              <a:rPr lang="en-IN" b="1" dirty="0"/>
              <a:t>Reasoning and Inference</a:t>
            </a:r>
          </a:p>
          <a:p>
            <a:pPr algn="just"/>
            <a:r>
              <a:rPr lang="en-IN" dirty="0"/>
              <a:t>Enables </a:t>
            </a:r>
            <a:r>
              <a:rPr lang="en-IN" b="1" dirty="0"/>
              <a:t>automated reasoning</a:t>
            </a:r>
            <a:r>
              <a:rPr lang="en-IN" dirty="0"/>
              <a:t> using logic-based rules.</a:t>
            </a:r>
          </a:p>
          <a:p>
            <a:pPr algn="just"/>
            <a:r>
              <a:rPr lang="en-IN" dirty="0"/>
              <a:t>Helps derive new facts from existing data.</a:t>
            </a:r>
          </a:p>
          <a:p>
            <a:pPr algn="just"/>
            <a:r>
              <a:rPr lang="en-IN" dirty="0"/>
              <a:t>Example: If “All mammals are warm-blooded” and “Dolphin is a mammal” → infer “Dolphin is warm-blooded.”</a:t>
            </a:r>
          </a:p>
          <a:p>
            <a:pPr marL="0" indent="0" algn="just">
              <a:buNone/>
            </a:pPr>
            <a:r>
              <a:rPr lang="en-IN" b="1" dirty="0"/>
              <a:t>Improved Information Retrieval</a:t>
            </a:r>
          </a:p>
          <a:p>
            <a:pPr algn="just"/>
            <a:r>
              <a:rPr lang="en-IN" dirty="0"/>
              <a:t>Enhances </a:t>
            </a:r>
            <a:r>
              <a:rPr lang="en-IN" b="1" dirty="0"/>
              <a:t>search engines</a:t>
            </a:r>
            <a:r>
              <a:rPr lang="en-IN" dirty="0"/>
              <a:t> by retrieving semantically relevant results.</a:t>
            </a:r>
          </a:p>
          <a:p>
            <a:pPr algn="just"/>
            <a:r>
              <a:rPr lang="en-IN" dirty="0"/>
              <a:t>Example: Searching for “heart specialist” also finds results about “cardiologist.”</a:t>
            </a:r>
          </a:p>
          <a:p>
            <a:pPr marL="0" indent="0" algn="just">
              <a:buNone/>
            </a:pPr>
            <a:r>
              <a:rPr lang="en-IN" b="1" dirty="0"/>
              <a:t>Data Annotation</a:t>
            </a:r>
          </a:p>
          <a:p>
            <a:pPr algn="just"/>
            <a:r>
              <a:rPr lang="en-IN" dirty="0"/>
              <a:t>Ontologies provide a </a:t>
            </a:r>
            <a:r>
              <a:rPr lang="en-IN" b="1" dirty="0"/>
              <a:t>framework for annotating web content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Example: Tagging a webpage with ontology-based metadata (RDF/OWL).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5F25D-27B9-CE59-EA5B-909A2B2B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3EFCB-AB8A-E850-A75A-8EECD264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388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6DB8-8D17-199F-C2F9-71C6709E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Ontology Languages in Semantic Web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C842-07F5-D8AC-D810-34899BE34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RDF (Resource Description Framework)</a:t>
            </a:r>
            <a:r>
              <a:rPr lang="en-IN" dirty="0"/>
              <a:t> – Basic data representation.</a:t>
            </a:r>
          </a:p>
          <a:p>
            <a:pPr algn="just"/>
            <a:r>
              <a:rPr lang="en-IN" b="1" dirty="0"/>
              <a:t>RDFS (RDF Schema)</a:t>
            </a:r>
            <a:r>
              <a:rPr lang="en-IN" dirty="0"/>
              <a:t> – Vocabulary description.</a:t>
            </a:r>
          </a:p>
          <a:p>
            <a:pPr algn="just"/>
            <a:r>
              <a:rPr lang="en-IN" b="1" dirty="0"/>
              <a:t>OWL (Web Ontology Language)</a:t>
            </a:r>
            <a:r>
              <a:rPr lang="en-IN" dirty="0"/>
              <a:t> – Rich ontology </a:t>
            </a:r>
            <a:r>
              <a:rPr lang="en-IN" dirty="0" err="1"/>
              <a:t>modeling</a:t>
            </a:r>
            <a:r>
              <a:rPr lang="en-IN" dirty="0"/>
              <a:t> and reasoning.</a:t>
            </a:r>
          </a:p>
          <a:p>
            <a:pPr algn="just"/>
            <a:r>
              <a:rPr lang="en-IN" b="1" dirty="0"/>
              <a:t>SPARQL</a:t>
            </a:r>
            <a:r>
              <a:rPr lang="en-IN" dirty="0"/>
              <a:t> – Query language for semantic data.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2A700-95D2-127B-1030-276D7AA3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772AB-BA72-C97C-B00B-F971A287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55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339E-55BD-B426-E015-53CD0DAF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Applications of Ontologies in Semantic Web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4B9EA-8041-0F1C-D1CA-2819408E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Healthcare:</a:t>
            </a:r>
            <a:r>
              <a:rPr lang="en-IN" dirty="0"/>
              <a:t> Clinical decision support using medical ontologies (SNOMED, UMLS).</a:t>
            </a:r>
          </a:p>
          <a:p>
            <a:pPr algn="just"/>
            <a:r>
              <a:rPr lang="en-IN" b="1" dirty="0"/>
              <a:t>E-commerce:</a:t>
            </a:r>
            <a:r>
              <a:rPr lang="en-IN" dirty="0"/>
              <a:t> Product categorization and recommendation.</a:t>
            </a:r>
          </a:p>
          <a:p>
            <a:pPr algn="just"/>
            <a:r>
              <a:rPr lang="en-IN" b="1" dirty="0"/>
              <a:t>Education:</a:t>
            </a:r>
            <a:r>
              <a:rPr lang="en-IN" dirty="0"/>
              <a:t> Semantic learning systems.</a:t>
            </a:r>
          </a:p>
          <a:p>
            <a:pPr algn="just"/>
            <a:r>
              <a:rPr lang="en-IN" b="1" dirty="0"/>
              <a:t>Search Engines:</a:t>
            </a:r>
            <a:r>
              <a:rPr lang="en-IN" dirty="0"/>
              <a:t> Google Knowledge Graph, Bing Semantic Search.</a:t>
            </a:r>
          </a:p>
          <a:p>
            <a:pPr algn="just"/>
            <a:r>
              <a:rPr lang="en-IN" b="1" dirty="0"/>
              <a:t>Social Networks:</a:t>
            </a:r>
            <a:r>
              <a:rPr lang="en-IN" dirty="0"/>
              <a:t> FOAF ontology for relationships.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F490A-1917-3315-32E6-23930AF3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E825E-C800-A0A5-E86F-7264F3EF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22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59C4-161F-FC6D-C316-C59BC945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in Using Ontologies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C7F8F-D03D-C8C6-835F-B99495B3C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in designing ontologies.</a:t>
            </a:r>
          </a:p>
          <a:p>
            <a:r>
              <a:rPr lang="en-US" dirty="0"/>
              <a:t>Alignment and merging of multiple ontologies.</a:t>
            </a:r>
          </a:p>
          <a:p>
            <a:r>
              <a:rPr lang="en-US" dirty="0"/>
              <a:t>Scalability for large-scale web applications.</a:t>
            </a:r>
          </a:p>
          <a:p>
            <a:r>
              <a:rPr lang="en-US" dirty="0"/>
              <a:t>Keeping ontologies updated with evolving knowledge.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93987-DC6B-4265-C991-BED2DC27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32989-7886-8CD2-2227-FE725105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69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F5EF-6A6F-F08A-FD59-5D5F3D16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Ontology-Based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F58E1-255A-E4A7-58FB-B6FE2BABE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r>
              <a:rPr lang="en-US" b="1" dirty="0"/>
              <a:t>Knowledge Representation (KR):</a:t>
            </a:r>
            <a:r>
              <a:rPr lang="en-US" dirty="0"/>
              <a:t> A field in AI that deals with representing information about the world in a form that a computer system can use to solve complex tasks.</a:t>
            </a:r>
          </a:p>
          <a:p>
            <a:r>
              <a:rPr lang="en-US" b="1" dirty="0"/>
              <a:t>Ontology-Based KR:</a:t>
            </a:r>
            <a:r>
              <a:rPr lang="en-US" dirty="0"/>
              <a:t> Uses ontologies as a structured, formalized method of representing knowledge.</a:t>
            </a:r>
          </a:p>
          <a:p>
            <a:r>
              <a:rPr lang="en-US" dirty="0"/>
              <a:t>It goes beyond simple data storage by providing </a:t>
            </a:r>
            <a:r>
              <a:rPr lang="en-US" b="1" dirty="0"/>
              <a:t>semantics</a:t>
            </a:r>
            <a:r>
              <a:rPr lang="en-US" dirty="0"/>
              <a:t> (meaning).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31BF7-AB18-B675-FBB0-A8886977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2FEAF-0070-7D39-458A-4A16D7BD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99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EEB1-4B71-F864-8479-BCC801B4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Ontology in KR?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018E-99D0-ED13-13BE-15FDF23FC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ontology</a:t>
            </a:r>
            <a:r>
              <a:rPr lang="en-US" dirty="0"/>
              <a:t> defines:</a:t>
            </a:r>
          </a:p>
          <a:p>
            <a:pPr lvl="1"/>
            <a:r>
              <a:rPr lang="en-US" b="1" dirty="0"/>
              <a:t>Concepts (Classes):</a:t>
            </a:r>
            <a:r>
              <a:rPr lang="en-US" dirty="0"/>
              <a:t> Abstract groups or categories (e.g., Person, Disease, Car).</a:t>
            </a:r>
          </a:p>
          <a:p>
            <a:pPr lvl="1"/>
            <a:r>
              <a:rPr lang="en-US" b="1" dirty="0"/>
              <a:t>Instances (Individuals):</a:t>
            </a:r>
            <a:r>
              <a:rPr lang="en-US" dirty="0"/>
              <a:t> Actual examples of classes (e.g., "Rajesh is a Person").</a:t>
            </a:r>
          </a:p>
          <a:p>
            <a:pPr lvl="1"/>
            <a:r>
              <a:rPr lang="en-US" b="1" dirty="0"/>
              <a:t>Properties (Relations):</a:t>
            </a:r>
            <a:r>
              <a:rPr lang="en-US" dirty="0"/>
              <a:t> Associations between concepts (e.g., Person </a:t>
            </a:r>
            <a:r>
              <a:rPr lang="en-US" b="1" dirty="0"/>
              <a:t>drives</a:t>
            </a:r>
            <a:r>
              <a:rPr lang="en-US" dirty="0"/>
              <a:t> Car).</a:t>
            </a:r>
          </a:p>
          <a:p>
            <a:pPr lvl="1"/>
            <a:r>
              <a:rPr lang="en-US" b="1" dirty="0"/>
              <a:t>Axioms &amp; Constraints:</a:t>
            </a:r>
            <a:r>
              <a:rPr lang="en-US" dirty="0"/>
              <a:t> Logical rules (e.g., "All doctors are persons").</a:t>
            </a:r>
          </a:p>
          <a:p>
            <a:r>
              <a:rPr lang="en-US" dirty="0"/>
              <a:t>Ontologies serve as </a:t>
            </a:r>
            <a:r>
              <a:rPr lang="en-US" b="1" dirty="0"/>
              <a:t>shared vocabularies</a:t>
            </a:r>
            <a:r>
              <a:rPr lang="en-US" dirty="0"/>
              <a:t> to ensure consistent meaning across applications.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34ACF-EDD9-AD19-6C5F-C2CD875A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3BAE4-E38E-C2B5-CB0A-3896D1F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83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7224-EEB3-9EC5-C64F-742CB58B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Ontology-Based KR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4E-3E20-45EB-2CC4-A54257D6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Formal</a:t>
            </a:r>
            <a:r>
              <a:rPr lang="en-US" dirty="0"/>
              <a:t> – Based on logic and machine-processable.</a:t>
            </a:r>
          </a:p>
          <a:p>
            <a:r>
              <a:rPr lang="en-US" b="1" dirty="0"/>
              <a:t>Explicit</a:t>
            </a:r>
            <a:r>
              <a:rPr lang="en-US" dirty="0"/>
              <a:t> – All concepts and relationships are clearly defined.</a:t>
            </a:r>
          </a:p>
          <a:p>
            <a:r>
              <a:rPr lang="en-US" b="1" dirty="0"/>
              <a:t>Shared</a:t>
            </a:r>
            <a:r>
              <a:rPr lang="en-US" dirty="0"/>
              <a:t> – Provides common understanding across systems/users.</a:t>
            </a:r>
          </a:p>
          <a:p>
            <a:r>
              <a:rPr lang="en-US" b="1" dirty="0"/>
              <a:t>Semantic-rich</a:t>
            </a:r>
            <a:r>
              <a:rPr lang="en-US" dirty="0"/>
              <a:t> – Supports reasoning and inference.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87B9B-CEC5-4153-2881-771FE1535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DA964-D928-0553-5F96-5E00CC54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2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7FBD-A9A1-622D-35B1-0CE5BF92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Role of Ontology in Knowledge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0458-45A8-D317-49B4-8046D81C5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Standardized Representation</a:t>
            </a:r>
          </a:p>
          <a:p>
            <a:r>
              <a:rPr lang="en-US" dirty="0"/>
              <a:t>Provides a common framework for defining domain knowledge.</a:t>
            </a:r>
          </a:p>
          <a:p>
            <a:pPr marL="0" indent="0">
              <a:buNone/>
            </a:pPr>
            <a:r>
              <a:rPr lang="en-US" b="1" dirty="0"/>
              <a:t>Semantic Interoperability</a:t>
            </a:r>
          </a:p>
          <a:p>
            <a:r>
              <a:rPr lang="en-US" dirty="0"/>
              <a:t>Enables different systems to communicate using shared semantics.</a:t>
            </a:r>
          </a:p>
          <a:p>
            <a:pPr marL="0" indent="0">
              <a:buNone/>
            </a:pPr>
            <a:r>
              <a:rPr lang="en-US" b="1" dirty="0"/>
              <a:t>Reasoning &amp; Inference</a:t>
            </a:r>
          </a:p>
          <a:p>
            <a:r>
              <a:rPr lang="en-US" dirty="0"/>
              <a:t>Supports logical reasoning to infer new knowledge.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Rule: "If X is a parent of Y, and Y is a parent of Z → X is a grandparent of Z."</a:t>
            </a:r>
          </a:p>
          <a:p>
            <a:pPr lvl="1"/>
            <a:r>
              <a:rPr lang="en-US" dirty="0"/>
              <a:t>Ontology allows automated reasoning to derive this fact.</a:t>
            </a:r>
          </a:p>
          <a:p>
            <a:pPr marL="0" indent="0">
              <a:buNone/>
            </a:pPr>
            <a:r>
              <a:rPr lang="en-US" b="1" dirty="0"/>
              <a:t>Reusability &amp; Modularity</a:t>
            </a:r>
          </a:p>
          <a:p>
            <a:r>
              <a:rPr lang="en-US" dirty="0"/>
              <a:t>Ontologies can be reused across applications (e.g., medical ontology in multiple healthcare systems).</a:t>
            </a:r>
          </a:p>
          <a:p>
            <a:pPr marL="0" indent="0">
              <a:buNone/>
            </a:pPr>
            <a:r>
              <a:rPr lang="en-US" b="1" dirty="0"/>
              <a:t>Enhanced Information Retrieval</a:t>
            </a:r>
          </a:p>
          <a:p>
            <a:r>
              <a:rPr lang="en-US" dirty="0"/>
              <a:t>Search engines can retrieve </a:t>
            </a:r>
            <a:r>
              <a:rPr lang="en-US" b="1" dirty="0"/>
              <a:t>semantically relevant</a:t>
            </a:r>
            <a:r>
              <a:rPr lang="en-US" dirty="0"/>
              <a:t> information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AAEBFE-4268-2985-60A0-4A55B173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F3DF8-BDD8-F55E-70F1-4AFA3878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290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2F3C-FDA8-36DF-6FCF-C278A8D5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Ontology Representation Languages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D90D-8BA1-4CC8-F3B2-6938E7A53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RDF (Resource Description Framework)</a:t>
            </a:r>
            <a:r>
              <a:rPr lang="en-IN" dirty="0"/>
              <a:t> – Data representation using triples (subject–predicate–object).</a:t>
            </a:r>
          </a:p>
          <a:p>
            <a:pPr algn="just"/>
            <a:r>
              <a:rPr lang="en-IN" b="1" dirty="0"/>
              <a:t>RDFS (RDF Schema)</a:t>
            </a:r>
            <a:r>
              <a:rPr lang="en-IN" dirty="0"/>
              <a:t> – Adds hierarchy and constraints.</a:t>
            </a:r>
          </a:p>
          <a:p>
            <a:pPr algn="just"/>
            <a:r>
              <a:rPr lang="en-IN" b="1" dirty="0"/>
              <a:t>OWL (Web Ontology Language)</a:t>
            </a:r>
            <a:r>
              <a:rPr lang="en-IN" dirty="0"/>
              <a:t> – Rich logic-based representation, supports reasoning.</a:t>
            </a:r>
          </a:p>
          <a:p>
            <a:pPr algn="just"/>
            <a:r>
              <a:rPr lang="en-IN" b="1" dirty="0"/>
              <a:t>SPARQL</a:t>
            </a:r>
            <a:r>
              <a:rPr lang="en-IN" dirty="0"/>
              <a:t> – Query language for RDF data.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0BA9C-C549-78B0-6A81-C0892BA3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147EF-02B9-6A84-58F7-F404A03E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352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14F4-36BA-FBFD-109C-25A8D44D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Examples of Ontology-Based KR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050-690C-21E0-9C15-931F7A7C5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Healthcare:</a:t>
            </a:r>
            <a:r>
              <a:rPr lang="en-IN" dirty="0"/>
              <a:t> Ontology for diseases, symptoms, and treatments (SNOMED CT).</a:t>
            </a:r>
          </a:p>
          <a:p>
            <a:pPr algn="just"/>
            <a:r>
              <a:rPr lang="en-IN" b="1" dirty="0"/>
              <a:t>E-commerce:</a:t>
            </a:r>
            <a:r>
              <a:rPr lang="en-IN" dirty="0"/>
              <a:t> Ontology for product categories, customer preferences.</a:t>
            </a:r>
          </a:p>
          <a:p>
            <a:pPr algn="just"/>
            <a:r>
              <a:rPr lang="en-IN" b="1" dirty="0"/>
              <a:t>Education:</a:t>
            </a:r>
            <a:r>
              <a:rPr lang="en-IN" dirty="0"/>
              <a:t> Learning object ontology for personalized learning.</a:t>
            </a:r>
          </a:p>
          <a:p>
            <a:pPr algn="just"/>
            <a:r>
              <a:rPr lang="en-IN" b="1" dirty="0"/>
              <a:t>Semantic Web:</a:t>
            </a:r>
            <a:r>
              <a:rPr lang="en-IN" dirty="0"/>
              <a:t> Google Knowledge Graph uses ontology principles.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04C8D-3C84-A1BB-A411-DE3350BA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41F3B0-50E4-CD74-739F-0C3C6C53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9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03D4-B440-7EA1-F8FB-7CC7453F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4C9B-CA1A-B4C4-87E1-8EBC1045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Facilitates </a:t>
            </a:r>
            <a:r>
              <a:rPr lang="en-US" b="1" dirty="0"/>
              <a:t>automation</a:t>
            </a:r>
            <a:r>
              <a:rPr lang="en-US" dirty="0"/>
              <a:t> in reasoning.</a:t>
            </a:r>
          </a:p>
          <a:p>
            <a:r>
              <a:rPr lang="en-US" dirty="0"/>
              <a:t>Reduces </a:t>
            </a:r>
            <a:r>
              <a:rPr lang="en-US" b="1" dirty="0"/>
              <a:t>ambiguity</a:t>
            </a:r>
            <a:r>
              <a:rPr lang="en-US" dirty="0"/>
              <a:t> in data interpretation.</a:t>
            </a:r>
          </a:p>
          <a:p>
            <a:r>
              <a:rPr lang="en-US" dirty="0"/>
              <a:t>Enables </a:t>
            </a:r>
            <a:r>
              <a:rPr lang="en-US" b="1" dirty="0"/>
              <a:t>integration</a:t>
            </a:r>
            <a:r>
              <a:rPr lang="en-US" dirty="0"/>
              <a:t> of heterogeneous data sources.</a:t>
            </a:r>
          </a:p>
          <a:p>
            <a:r>
              <a:rPr lang="en-US" dirty="0"/>
              <a:t>Provides </a:t>
            </a:r>
            <a:r>
              <a:rPr lang="en-US" b="1" dirty="0"/>
              <a:t>machine-understandable semantics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1F4FF-F7E2-4B00-0A8B-8148765A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4D7EC-AC40-EB7C-F648-D41F687E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820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CAE22-5176-9761-17C6-20165BB9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1193800"/>
            <a:ext cx="4395340" cy="1024106"/>
          </a:xfrm>
        </p:spPr>
        <p:txBody>
          <a:bodyPr anchor="b">
            <a:normAutofit fontScale="90000"/>
          </a:bodyPr>
          <a:lstStyle/>
          <a:p>
            <a:r>
              <a:rPr lang="en-US" sz="6000" b="1" dirty="0"/>
              <a:t>Explanation:</a:t>
            </a:r>
            <a:endParaRPr lang="en-IN" sz="5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822E27D9-D288-E3E1-2323-513256A06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r="2" b="2"/>
          <a:stretch>
            <a:fillRect/>
          </a:stretch>
        </p:blipFill>
        <p:spPr>
          <a:xfrm>
            <a:off x="279143" y="335281"/>
            <a:ext cx="5221625" cy="615865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5CE8C6B-65C5-2469-F109-11D0C885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 fontScale="70000" lnSpcReduction="20000"/>
          </a:bodyPr>
          <a:lstStyle/>
          <a:p>
            <a:pPr algn="just"/>
            <a:r>
              <a:rPr lang="en-US" sz="2000" b="1" dirty="0"/>
              <a:t>Root Node:</a:t>
            </a:r>
            <a:r>
              <a:rPr lang="en-US" sz="2000" dirty="0"/>
              <a:t> </a:t>
            </a:r>
            <a:r>
              <a:rPr lang="en-US" sz="2000" i="1" dirty="0"/>
              <a:t>Thing</a:t>
            </a:r>
            <a:r>
              <a:rPr lang="en-US" sz="2000" dirty="0"/>
              <a:t> (represents everything that exists).</a:t>
            </a:r>
          </a:p>
          <a:p>
            <a:pPr algn="just"/>
            <a:r>
              <a:rPr lang="en-US" sz="2000" b="1" dirty="0"/>
              <a:t>First Level:</a:t>
            </a:r>
            <a:r>
              <a:rPr lang="en-US" sz="2000" dirty="0"/>
              <a:t> Split into </a:t>
            </a:r>
            <a:r>
              <a:rPr lang="en-US" sz="2000" i="1" dirty="0"/>
              <a:t>Living Being</a:t>
            </a:r>
            <a:r>
              <a:rPr lang="en-US" sz="2000" dirty="0"/>
              <a:t> and </a:t>
            </a:r>
            <a:r>
              <a:rPr lang="en-US" sz="2000" i="1" dirty="0"/>
              <a:t>Non-Living Being</a:t>
            </a:r>
            <a:r>
              <a:rPr lang="en-US" sz="2000" dirty="0"/>
              <a:t>.</a:t>
            </a:r>
          </a:p>
          <a:p>
            <a:pPr algn="just"/>
            <a:r>
              <a:rPr lang="en-US" sz="2000" b="1" dirty="0"/>
              <a:t>Living Being → Animal, Plant</a:t>
            </a:r>
            <a:endParaRPr lang="en-US" sz="2000" dirty="0"/>
          </a:p>
          <a:p>
            <a:pPr algn="just"/>
            <a:r>
              <a:rPr lang="en-US" sz="2000" b="1" dirty="0"/>
              <a:t>Animal → Mammal, Bird</a:t>
            </a:r>
            <a:endParaRPr lang="en-US" sz="2000" dirty="0"/>
          </a:p>
          <a:p>
            <a:pPr algn="just"/>
            <a:r>
              <a:rPr lang="en-US" sz="2000" b="1" dirty="0"/>
              <a:t>Mammal → Human, Dog</a:t>
            </a:r>
            <a:endParaRPr lang="en-US" sz="2000" dirty="0"/>
          </a:p>
          <a:p>
            <a:pPr algn="just"/>
            <a:r>
              <a:rPr lang="en-US" sz="2000" b="1" dirty="0"/>
              <a:t>Bird → Parrot, Eagle</a:t>
            </a:r>
            <a:endParaRPr lang="en-US" sz="2000" dirty="0"/>
          </a:p>
          <a:p>
            <a:pPr algn="just"/>
            <a:r>
              <a:rPr lang="en-US" sz="2000" dirty="0"/>
              <a:t>This hierarchy shows how </a:t>
            </a:r>
            <a:r>
              <a:rPr lang="en-US" sz="2000" b="1" dirty="0"/>
              <a:t>general concepts (Thing, Living Being, Animal)</a:t>
            </a:r>
            <a:r>
              <a:rPr lang="en-US" sz="2000" dirty="0"/>
              <a:t> break down into </a:t>
            </a:r>
            <a:r>
              <a:rPr lang="en-US" sz="2000" b="1" dirty="0"/>
              <a:t>specific subclasses (Human, Dog, Parrot, Eagle).</a:t>
            </a:r>
            <a:endParaRPr lang="en-US" sz="2000" dirty="0"/>
          </a:p>
          <a:p>
            <a:pPr algn="just"/>
            <a:r>
              <a:rPr lang="en-US" sz="2000" dirty="0"/>
              <a:t>💡 In ontology-based knowledge representation:</a:t>
            </a:r>
          </a:p>
          <a:p>
            <a:pPr algn="just"/>
            <a:r>
              <a:rPr lang="en-US" sz="2000" dirty="0"/>
              <a:t>Each subclass </a:t>
            </a:r>
            <a:r>
              <a:rPr lang="en-US" sz="2000" b="1" dirty="0"/>
              <a:t>inherits properties</a:t>
            </a:r>
            <a:r>
              <a:rPr lang="en-US" sz="2000" dirty="0"/>
              <a:t> from its parent.</a:t>
            </a:r>
          </a:p>
          <a:p>
            <a:pPr algn="just"/>
            <a:r>
              <a:rPr lang="en-US" sz="2000" dirty="0"/>
              <a:t>Example: If </a:t>
            </a:r>
            <a:r>
              <a:rPr lang="en-US" sz="2000" i="1" dirty="0"/>
              <a:t>Animal has the property “needs oxygen”</a:t>
            </a:r>
            <a:r>
              <a:rPr lang="en-US" sz="2000" dirty="0"/>
              <a:t>, then both </a:t>
            </a:r>
            <a:r>
              <a:rPr lang="en-US" sz="2000" i="1" dirty="0"/>
              <a:t>Mammal</a:t>
            </a:r>
            <a:r>
              <a:rPr lang="en-US" sz="2000" dirty="0"/>
              <a:t> and </a:t>
            </a:r>
            <a:r>
              <a:rPr lang="en-US" sz="2000" i="1" dirty="0"/>
              <a:t>Bird</a:t>
            </a:r>
            <a:r>
              <a:rPr lang="en-US" sz="2000" dirty="0"/>
              <a:t> (and their subclasses like </a:t>
            </a:r>
            <a:r>
              <a:rPr lang="en-US" sz="2000" i="1" dirty="0"/>
              <a:t>Human, Dog, Parrot, Eagle</a:t>
            </a:r>
            <a:r>
              <a:rPr lang="en-US" sz="2000" dirty="0"/>
              <a:t>) </a:t>
            </a:r>
            <a:r>
              <a:rPr lang="en-US" sz="2000" b="1" dirty="0"/>
              <a:t>inherit</a:t>
            </a:r>
            <a:r>
              <a:rPr lang="en-US" sz="2000" dirty="0"/>
              <a:t> this property automatically.</a:t>
            </a:r>
          </a:p>
          <a:p>
            <a:pPr algn="just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EDD78-B4D4-41AF-476D-910C292A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5CB71-A0AB-142F-F5C0-F5B1FE55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2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E0620-A43D-22E1-70AE-3BC6DE8C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2"/>
            <a:ext cx="4395340" cy="1021456"/>
          </a:xfrm>
        </p:spPr>
        <p:txBody>
          <a:bodyPr anchor="b">
            <a:normAutofit/>
          </a:bodyPr>
          <a:lstStyle/>
          <a:p>
            <a:r>
              <a:rPr lang="en-IN" sz="2000" b="1" dirty="0"/>
              <a:t>Explanation of Relationships:</a:t>
            </a:r>
            <a:br>
              <a:rPr lang="en-IN" sz="2000" b="1" dirty="0"/>
            </a:br>
            <a:endParaRPr lang="en-I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5" name="Content Placeholder 4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DBDCC80D-318E-A02B-1483-5361B98FD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1523107"/>
            <a:ext cx="5221625" cy="3811786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D4B4CD-788D-5587-F9EE-CC1013447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1744134"/>
            <a:ext cx="4434721" cy="4612216"/>
          </a:xfrm>
        </p:spPr>
        <p:txBody>
          <a:bodyPr anchor="t">
            <a:normAutofit fontScale="85000" lnSpcReduction="20000"/>
          </a:bodyPr>
          <a:lstStyle/>
          <a:p>
            <a:pPr algn="just"/>
            <a:r>
              <a:rPr lang="en-IN" sz="2000" b="1" dirty="0"/>
              <a:t>Patient → Symptom</a:t>
            </a:r>
            <a:r>
              <a:rPr lang="en-IN" sz="2000" dirty="0"/>
              <a:t>: Patients exhibit symptoms (e.g., fever, cough).</a:t>
            </a:r>
          </a:p>
          <a:p>
            <a:pPr algn="just"/>
            <a:r>
              <a:rPr lang="en-IN" sz="2000" b="1" dirty="0"/>
              <a:t>Patient → Disease</a:t>
            </a:r>
            <a:r>
              <a:rPr lang="en-IN" sz="2000" dirty="0"/>
              <a:t>: Patients are diagnosed with diseases.</a:t>
            </a:r>
          </a:p>
          <a:p>
            <a:pPr algn="just"/>
            <a:r>
              <a:rPr lang="en-IN" sz="2000" b="1" dirty="0"/>
              <a:t>Disease → Symptom</a:t>
            </a:r>
            <a:r>
              <a:rPr lang="en-IN" sz="2000" dirty="0"/>
              <a:t>: Diseases are characterized by certain symptoms.</a:t>
            </a:r>
          </a:p>
          <a:p>
            <a:pPr algn="just"/>
            <a:r>
              <a:rPr lang="en-IN" sz="2000" b="1" dirty="0"/>
              <a:t>Disease → Treatment/Medication</a:t>
            </a:r>
            <a:r>
              <a:rPr lang="en-IN" sz="2000" dirty="0"/>
              <a:t>: Each disease has associated treatments (e.g., diabetes → insulin).</a:t>
            </a:r>
          </a:p>
          <a:p>
            <a:pPr algn="just"/>
            <a:r>
              <a:rPr lang="en-IN" sz="2000" b="1" dirty="0"/>
              <a:t>Patient → Doctor</a:t>
            </a:r>
            <a:r>
              <a:rPr lang="en-IN" sz="2000" dirty="0"/>
              <a:t>: Doctors are responsible for diagnosing and treating patients.</a:t>
            </a:r>
          </a:p>
          <a:p>
            <a:pPr algn="just"/>
            <a:r>
              <a:rPr lang="en-IN" sz="2000" b="1" dirty="0"/>
              <a:t>Doctor → Disease</a:t>
            </a:r>
            <a:r>
              <a:rPr lang="en-IN" sz="2000" dirty="0"/>
              <a:t>: Doctors specialize in and manage specific diseases.</a:t>
            </a:r>
          </a:p>
          <a:p>
            <a:pPr algn="just"/>
            <a:r>
              <a:rPr lang="en-IN" sz="2000" b="1" dirty="0"/>
              <a:t>Hospital → Doctor</a:t>
            </a:r>
            <a:r>
              <a:rPr lang="en-IN" sz="2000" dirty="0"/>
              <a:t>: Hospitals employ or host doctors.</a:t>
            </a:r>
          </a:p>
          <a:p>
            <a:pPr algn="just"/>
            <a:r>
              <a:rPr lang="en-IN" sz="2000" b="1" dirty="0"/>
              <a:t>Patient → Hospital</a:t>
            </a:r>
            <a:r>
              <a:rPr lang="en-IN" sz="2000" dirty="0"/>
              <a:t>: Patients receive care in hospitals.</a:t>
            </a:r>
          </a:p>
          <a:p>
            <a:pPr algn="just"/>
            <a:r>
              <a:rPr lang="en-IN" sz="2000" b="1" dirty="0"/>
              <a:t>Treatment/Medication → Doctor</a:t>
            </a:r>
            <a:r>
              <a:rPr lang="en-IN" sz="2000" dirty="0"/>
              <a:t>: Doctors prescribe treatments.</a:t>
            </a:r>
          </a:p>
          <a:p>
            <a:pPr algn="just"/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20CBD-2F6B-B442-77CB-A4D07EB1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25E46-F52D-ED6B-38E6-A8082DB1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388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CD5C-9D15-0798-1CC4-4E59A618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Languages: RDF and OWL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9B4E-9AD9-A56D-93CC-CF696F1EA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Introduction</a:t>
            </a:r>
          </a:p>
          <a:p>
            <a:pPr algn="just"/>
            <a:r>
              <a:rPr lang="en-US" dirty="0"/>
              <a:t>Ontology languages are formal languages used to </a:t>
            </a:r>
            <a:r>
              <a:rPr lang="en-US" b="1" dirty="0"/>
              <a:t>define, represent, and share knowledge</a:t>
            </a:r>
            <a:r>
              <a:rPr lang="en-US" dirty="0"/>
              <a:t> on the Semantic Web.</a:t>
            </a:r>
          </a:p>
          <a:p>
            <a:pPr algn="just"/>
            <a:r>
              <a:rPr lang="en-US" dirty="0"/>
              <a:t>They allow machines to understand relationships between data and perform </a:t>
            </a:r>
            <a:r>
              <a:rPr lang="en-US" b="1" dirty="0"/>
              <a:t>reasoning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two core ontology languages are </a:t>
            </a:r>
            <a:r>
              <a:rPr lang="en-US" b="1" dirty="0"/>
              <a:t>RDF (Resource Description Framework)</a:t>
            </a:r>
            <a:r>
              <a:rPr lang="en-US" dirty="0"/>
              <a:t> and </a:t>
            </a:r>
            <a:r>
              <a:rPr lang="en-US" b="1" dirty="0"/>
              <a:t>OWL (Web Ontology Language)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DF465-7B7E-92DD-1337-14108AD2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DDDFA-795A-1BD4-86B8-E65330BD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286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A7CB-8B28-7020-4A9D-F08CA1D5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Languages: RDF and OWL(Cont.,)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571BD8-3173-783C-FCBB-F4568BA7A1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0"/>
            <a:ext cx="897072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RDF (Resource Description Framework)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Definition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W3C standard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for describing resources on the web.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Represents knowledge as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triples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Subject – Predicate – Object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EB689-F5F7-554D-ABD5-A9D73414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68776-91B0-FC5F-574F-8FF3554D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126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4E318-E7FF-B5F7-36D7-254F034B5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Ontology Languages: RDF and OWL(Cont.,)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72B5-BC66-9905-AEF6-06E7A820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000"/>
            <a:ext cx="10515600" cy="492759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highlight>
                  <a:srgbClr val="FFFF00"/>
                </a:highlight>
                <a:cs typeface="Times New Roman" panose="02020603050405020304" pitchFamily="18" charset="0"/>
              </a:rPr>
              <a:t>:Patient123 		:</a:t>
            </a:r>
            <a:r>
              <a:rPr lang="en-US" altLang="en-US" sz="2400" dirty="0" err="1">
                <a:highlight>
                  <a:srgbClr val="FFFF00"/>
                </a:highlight>
                <a:cs typeface="Times New Roman" panose="02020603050405020304" pitchFamily="18" charset="0"/>
              </a:rPr>
              <a:t>hasDisease</a:t>
            </a:r>
            <a:r>
              <a:rPr lang="en-US" altLang="en-US" sz="2400" dirty="0">
                <a:highlight>
                  <a:srgbClr val="FFFF00"/>
                </a:highlight>
                <a:cs typeface="Times New Roman" panose="02020603050405020304" pitchFamily="18" charset="0"/>
              </a:rPr>
              <a:t> 	:Diabetes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r>
              <a:rPr lang="en-IN" sz="2400" dirty="0">
                <a:cs typeface="Times New Roman" panose="02020603050405020304" pitchFamily="18" charset="0"/>
              </a:rPr>
              <a:t>Meaning: Patient123 has the disease Diabetes.</a:t>
            </a:r>
          </a:p>
          <a:p>
            <a:r>
              <a:rPr lang="en-IN" sz="2400" dirty="0">
                <a:cs typeface="Times New Roman" panose="02020603050405020304" pitchFamily="18" charset="0"/>
              </a:rPr>
              <a:t> Features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Simple, flexible model for representing relationships.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Provides a graph-based data model.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Foundation for other Semantic Web languages.🔹 </a:t>
            </a:r>
          </a:p>
          <a:p>
            <a:r>
              <a:rPr lang="en-IN" sz="2400" dirty="0">
                <a:cs typeface="Times New Roman" panose="02020603050405020304" pitchFamily="18" charset="0"/>
              </a:rPr>
              <a:t>RDF Schema (RDFS)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Extension of RDF.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Provides vocabulary for classes, properties, and hierarchies.</a:t>
            </a:r>
          </a:p>
          <a:p>
            <a:pPr lvl="1"/>
            <a:r>
              <a:rPr lang="en-IN" dirty="0">
                <a:cs typeface="Times New Roman" panose="02020603050405020304" pitchFamily="18" charset="0"/>
              </a:rPr>
              <a:t>Example:</a:t>
            </a:r>
          </a:p>
          <a:p>
            <a:pPr lvl="2"/>
            <a:r>
              <a:rPr lang="en-IN" sz="2400" dirty="0">
                <a:cs typeface="Times New Roman" panose="02020603050405020304" pitchFamily="18" charset="0"/>
              </a:rPr>
              <a:t>:Doctor </a:t>
            </a:r>
            <a:r>
              <a:rPr lang="en-IN" sz="2400" dirty="0" err="1">
                <a:cs typeface="Times New Roman" panose="02020603050405020304" pitchFamily="18" charset="0"/>
              </a:rPr>
              <a:t>rdfs:subClassOf</a:t>
            </a:r>
            <a:r>
              <a:rPr lang="en-IN" sz="2400" dirty="0">
                <a:cs typeface="Times New Roman" panose="02020603050405020304" pitchFamily="18" charset="0"/>
              </a:rPr>
              <a:t> :Person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C1469-87F8-7D29-8F98-76086F43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C545B-E926-6B86-009C-A045CFCC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113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6347-7059-EB9F-8BB6-EE6DF6E5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45530-534E-7781-7D06-1F0490A8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US" dirty="0"/>
              <a:t>High complexity in building and maintaining ontologies.</a:t>
            </a:r>
          </a:p>
          <a:p>
            <a:r>
              <a:rPr lang="en-US" dirty="0"/>
              <a:t>Difficulties in aligning multiple ontologies.</a:t>
            </a:r>
          </a:p>
          <a:p>
            <a:r>
              <a:rPr lang="en-US" dirty="0"/>
              <a:t>Scalability issues with large datasets.</a:t>
            </a:r>
          </a:p>
          <a:p>
            <a:r>
              <a:rPr lang="en-US" dirty="0"/>
              <a:t>Need for domain expertise.</a:t>
            </a:r>
          </a:p>
          <a:p>
            <a:endParaRPr lang="en-IN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E0FE0A-BB70-1447-DE08-FB702C23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8ACF13-FF36-2BB0-389B-1EA074CC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58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1C5A-7F01-4530-D419-E816D2EC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OWL (Web Ontology Language)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D0DCA-F791-5C4F-3A22-14DCB3596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Definition</a:t>
            </a:r>
          </a:p>
          <a:p>
            <a:pPr algn="just"/>
            <a:r>
              <a:rPr lang="en-US" dirty="0"/>
              <a:t>A more expressive ontology language built on RDF/RDFS.</a:t>
            </a:r>
          </a:p>
          <a:p>
            <a:pPr algn="just"/>
            <a:r>
              <a:rPr lang="en-US" dirty="0"/>
              <a:t>Enables </a:t>
            </a:r>
            <a:r>
              <a:rPr lang="en-US" b="1" dirty="0"/>
              <a:t>reasoning, constraints, and richer semantics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Features</a:t>
            </a:r>
          </a:p>
          <a:p>
            <a:pPr algn="just"/>
            <a:r>
              <a:rPr lang="en-US" dirty="0"/>
              <a:t>Allows definition of </a:t>
            </a:r>
            <a:r>
              <a:rPr lang="en-US" b="1" dirty="0"/>
              <a:t>classes, properties, individuals, and axioms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Supports </a:t>
            </a:r>
            <a:r>
              <a:rPr lang="en-US" b="1" dirty="0"/>
              <a:t>class hierarchies, equivalence, </a:t>
            </a:r>
            <a:r>
              <a:rPr lang="en-US" b="1" dirty="0" err="1"/>
              <a:t>disjointness</a:t>
            </a:r>
            <a:r>
              <a:rPr lang="en-US" b="1" dirty="0"/>
              <a:t>, and restrictions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Provides </a:t>
            </a:r>
            <a:r>
              <a:rPr lang="en-US" b="1" dirty="0"/>
              <a:t>logical reasoning</a:t>
            </a:r>
            <a:r>
              <a:rPr lang="en-US" dirty="0"/>
              <a:t> capabilities.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881BC-359A-8E49-6C1F-F8E6A6AA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A32A4-B601-BB12-3151-4A463938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513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D4833-0E53-78EA-C4A7-BBE6501C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IN" dirty="0"/>
              <a:t>Example: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B8D0-374E-C5B8-0F79-844CD9F0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51" y="1040546"/>
            <a:ext cx="9776766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6F54-CB31-CE4D-35B5-9F02DB20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>
            <a:normAutofit/>
          </a:bodyPr>
          <a:lstStyle/>
          <a:p>
            <a:r>
              <a:rPr lang="en-US" sz="2400" b="1" dirty="0"/>
              <a:t>OWL Species</a:t>
            </a:r>
          </a:p>
          <a:p>
            <a:r>
              <a:rPr lang="en-US" sz="2400" b="1" dirty="0"/>
              <a:t>OWL Lite</a:t>
            </a:r>
            <a:r>
              <a:rPr lang="en-US" sz="2400" dirty="0"/>
              <a:t> – Simple, lightweight ontologies.</a:t>
            </a:r>
          </a:p>
          <a:p>
            <a:r>
              <a:rPr lang="en-US" sz="2400" b="1" dirty="0"/>
              <a:t>OWL DL</a:t>
            </a:r>
            <a:r>
              <a:rPr lang="en-US" sz="2400" dirty="0"/>
              <a:t> – Description Logic-based, balances expressiveness and decidability.</a:t>
            </a:r>
          </a:p>
          <a:p>
            <a:r>
              <a:rPr lang="en-US" sz="2400" b="1" dirty="0"/>
              <a:t>OWL Full</a:t>
            </a:r>
            <a:r>
              <a:rPr lang="en-US" sz="2400" dirty="0"/>
              <a:t> – Most expressive but undecidable.</a:t>
            </a:r>
          </a:p>
          <a:p>
            <a:endParaRPr lang="en-IN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883DF-18C0-1BBA-E3D6-D687403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7431A-0D48-6410-7848-0692ADC3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41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66831-0A63-6478-89EC-B5179B52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altLang="en-US" sz="6200" b="1" kern="1200" dirty="0">
                <a:ea typeface="+mj-ea"/>
                <a:cs typeface="+mj-cs"/>
              </a:rPr>
              <a:t>Comparison: RDF vs OWL</a:t>
            </a:r>
            <a:endParaRPr lang="en-US" sz="6200" kern="1200" dirty="0">
              <a:ea typeface="+mj-ea"/>
              <a:cs typeface="+mj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28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1923D7-387F-F578-6777-4DBD10AAAD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594305"/>
              </p:ext>
            </p:extLst>
          </p:nvPr>
        </p:nvGraphicFramePr>
        <p:xfrm>
          <a:off x="1188062" y="2236978"/>
          <a:ext cx="9356109" cy="357149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838624">
                  <a:extLst>
                    <a:ext uri="{9D8B030D-6E8A-4147-A177-3AD203B41FA5}">
                      <a16:colId xmlns:a16="http://schemas.microsoft.com/office/drawing/2014/main" val="3543070065"/>
                    </a:ext>
                  </a:extLst>
                </a:gridCol>
                <a:gridCol w="3070785">
                  <a:extLst>
                    <a:ext uri="{9D8B030D-6E8A-4147-A177-3AD203B41FA5}">
                      <a16:colId xmlns:a16="http://schemas.microsoft.com/office/drawing/2014/main" val="3237661458"/>
                    </a:ext>
                  </a:extLst>
                </a:gridCol>
                <a:gridCol w="3446700">
                  <a:extLst>
                    <a:ext uri="{9D8B030D-6E8A-4147-A177-3AD203B41FA5}">
                      <a16:colId xmlns:a16="http://schemas.microsoft.com/office/drawing/2014/main" val="720734583"/>
                    </a:ext>
                  </a:extLst>
                </a:gridCol>
              </a:tblGrid>
              <a:tr h="51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Aspect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RDF / RDFS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OWL (Web Ontology Language)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795119"/>
                  </a:ext>
                </a:extLst>
              </a:tr>
              <a:tr h="51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Purpose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Basic data representation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Rich semantic representation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570277"/>
                  </a:ext>
                </a:extLst>
              </a:tr>
              <a:tr h="765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Model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Subject–Predicate–Object triples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Classes, properties, restrictions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991100"/>
                  </a:ext>
                </a:extLst>
              </a:tr>
              <a:tr h="51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Reasoning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Limited (simple hierarchy)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Advanced logical reasoning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65401"/>
                  </a:ext>
                </a:extLst>
              </a:tr>
              <a:tr h="765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Expressiveness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Low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High (can define complex ontologies)</a:t>
                      </a:r>
                      <a:endParaRPr lang="en-US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762411"/>
                  </a:ext>
                </a:extLst>
              </a:tr>
              <a:tr h="510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Use Case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Metadata, linked data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Ontology </a:t>
                      </a:r>
                      <a:r>
                        <a:rPr lang="en-IN" sz="1700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modeling</a:t>
                      </a:r>
                      <a:r>
                        <a:rPr lang="en-IN" sz="17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, AI reasoning</a:t>
                      </a:r>
                      <a:endParaRPr lang="en-IN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7718" marR="105937" marT="105937" marB="10593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2780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ABB79-E025-A80C-BEA9-F02B372B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F4118-AE0E-FEA3-A2D3-FAB1D64E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805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ea typeface="+mj-ea"/>
                <a:cs typeface="+mj-cs"/>
              </a:rPr>
              <a:t>RDF Triple Graph (Subject–Predicate–Object)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 b="0"/>
            </a:pPr>
            <a:r>
              <a:rPr lang="en-US" sz="2000" dirty="0">
                <a:latin typeface="Times New Roman" panose="02020603050405020304" pitchFamily="18" charset="0"/>
              </a:rPr>
              <a:t>RDF represents data as triples: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Subject: Patient123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Predicate: </a:t>
            </a:r>
            <a:r>
              <a:rPr lang="en-US" sz="2000" dirty="0" err="1">
                <a:latin typeface="Times New Roman" panose="02020603050405020304" pitchFamily="18" charset="0"/>
              </a:rPr>
              <a:t>hasDisease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Object: Diabetes</a:t>
            </a:r>
            <a:br>
              <a:rPr lang="en-US" sz="2000" dirty="0">
                <a:latin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This allows data to be connected in a graph-based structure.</a:t>
            </a:r>
          </a:p>
        </p:txBody>
      </p:sp>
      <p:pic>
        <p:nvPicPr>
          <p:cNvPr id="3" name="Picture 2" descr="rdf_tr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68" y="2484255"/>
            <a:ext cx="4642805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CA7A7-2E31-4471-462C-24BF72AD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C6F34-FBFF-D7A2-C866-835A90D6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ea typeface="+mj-ea"/>
                <a:cs typeface="+mj-cs"/>
              </a:rPr>
              <a:t>RDF Schema Hierarchy (Doctor subclass of Person)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 b="0"/>
            </a:pPr>
            <a:r>
              <a:rPr lang="en-US" sz="2000" dirty="0">
                <a:latin typeface="Times New Roman" panose="02020603050405020304" pitchFamily="18" charset="0"/>
              </a:rPr>
              <a:t>RDF Schema (RDFS) adds hierarchy: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Example: Doctor </a:t>
            </a:r>
            <a:r>
              <a:rPr lang="en-US" sz="2000" dirty="0" err="1">
                <a:latin typeface="Times New Roman" panose="02020603050405020304" pitchFamily="18" charset="0"/>
              </a:rPr>
              <a:t>rdfs:subClassOf</a:t>
            </a:r>
            <a:r>
              <a:rPr lang="en-US" sz="2000" dirty="0">
                <a:latin typeface="Times New Roman" panose="02020603050405020304" pitchFamily="18" charset="0"/>
              </a:rPr>
              <a:t> Person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Meaning: Every Doctor is also a Person.</a:t>
            </a:r>
            <a:br>
              <a:rPr lang="en-US" sz="2000" dirty="0">
                <a:latin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This supports inheritance of properties.</a:t>
            </a:r>
          </a:p>
        </p:txBody>
      </p:sp>
      <p:pic>
        <p:nvPicPr>
          <p:cNvPr id="3" name="Picture 2" descr="rdf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68" y="2484255"/>
            <a:ext cx="4642805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CE51-FA33-C62B-502D-54CBCE88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9C29-130E-134B-AE8B-0753D8F4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ea typeface="+mj-ea"/>
                <a:cs typeface="+mj-cs"/>
              </a:rPr>
              <a:t>OWL Reasoning Example (Doctor ≡ Human ∧ </a:t>
            </a:r>
            <a:r>
              <a:rPr lang="en-US" kern="1200" dirty="0" err="1">
                <a:solidFill>
                  <a:schemeClr val="tx1"/>
                </a:solidFill>
                <a:ea typeface="+mj-ea"/>
                <a:cs typeface="+mj-cs"/>
              </a:rPr>
              <a:t>hasRole</a:t>
            </a:r>
            <a:r>
              <a:rPr lang="en-US" kern="1200" dirty="0">
                <a:solidFill>
                  <a:schemeClr val="tx1"/>
                </a:solidFill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+mj-ea"/>
                <a:cs typeface="+mj-cs"/>
              </a:rPr>
              <a:t>MedicalProfessional</a:t>
            </a:r>
            <a:r>
              <a:rPr lang="en-US" kern="1200" dirty="0">
                <a:solidFill>
                  <a:schemeClr val="tx1"/>
                </a:solidFill>
                <a:ea typeface="+mj-ea"/>
                <a:cs typeface="+mj-cs"/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3" name="Picture 2" descr="owl_reas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5" y="2662933"/>
            <a:ext cx="5460705" cy="3437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6429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200" b="0"/>
            </a:pPr>
            <a:r>
              <a:rPr lang="en-US" sz="2000" dirty="0">
                <a:latin typeface="Times New Roman" panose="02020603050405020304" pitchFamily="18" charset="0"/>
              </a:rPr>
              <a:t>OWL allows reasoning with axioms: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Doctor ≡ Human ∧ </a:t>
            </a:r>
            <a:r>
              <a:rPr lang="en-US" sz="2000" dirty="0" err="1">
                <a:latin typeface="Times New Roman" panose="02020603050405020304" pitchFamily="18" charset="0"/>
              </a:rPr>
              <a:t>hasRole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</a:rPr>
              <a:t>MedicalProfessional</a:t>
            </a: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• Meaning: A Doctor is a Human with the role of </a:t>
            </a:r>
            <a:r>
              <a:rPr lang="en-US" sz="2000" dirty="0" err="1">
                <a:latin typeface="Times New Roman" panose="02020603050405020304" pitchFamily="18" charset="0"/>
              </a:rPr>
              <a:t>MedicalProfessional</a:t>
            </a:r>
            <a:r>
              <a:rPr lang="en-US" sz="2000" dirty="0">
                <a:latin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</a:rPr>
              <a:t>OWL enables logical inference in ontologies.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D9F6F-B334-AF61-9782-85B66A01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FAA1-6CC5-81CA-9A58-0070EA36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0601-0F7D-AF5D-46C2-55D63D1F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Resource Description Framework (RDF)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5EDD-65CC-F327-8471-8DEF007EE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What is RDF?</a:t>
            </a:r>
          </a:p>
          <a:p>
            <a:pPr algn="just"/>
            <a:r>
              <a:rPr lang="en-US" b="1" dirty="0"/>
              <a:t>RDF (Resource Description Framework)</a:t>
            </a:r>
            <a:r>
              <a:rPr lang="en-US" dirty="0"/>
              <a:t> is a </a:t>
            </a:r>
            <a:r>
              <a:rPr lang="en-US" b="1" dirty="0"/>
              <a:t>W3C standard</a:t>
            </a:r>
            <a:r>
              <a:rPr lang="en-US" dirty="0"/>
              <a:t> for representing information about resources on the Web.</a:t>
            </a:r>
          </a:p>
          <a:p>
            <a:pPr algn="just"/>
            <a:r>
              <a:rPr lang="en-US" dirty="0"/>
              <a:t>It provides a </a:t>
            </a:r>
            <a:r>
              <a:rPr lang="en-US" b="1" dirty="0"/>
              <a:t>graph-based model</a:t>
            </a:r>
            <a:r>
              <a:rPr lang="en-US" dirty="0"/>
              <a:t> that describes relationships between resources in the form of </a:t>
            </a:r>
            <a:r>
              <a:rPr lang="en-US" b="1" dirty="0"/>
              <a:t>triples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Goal: Make data </a:t>
            </a:r>
            <a:r>
              <a:rPr lang="en-US" b="1" dirty="0"/>
              <a:t>machine-readable</a:t>
            </a:r>
            <a:r>
              <a:rPr lang="en-US" dirty="0"/>
              <a:t> and enable </a:t>
            </a:r>
            <a:r>
              <a:rPr lang="en-US" b="1" dirty="0"/>
              <a:t>interoperability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E7750E-7F4E-DFA0-B7AB-99F2662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669E0-DD01-BAD1-2043-C239DE76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153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36F1-6432-CD14-9840-42F9A6B1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3CC84-D635-A30D-2575-4E3368BA9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RDF Data Model</a:t>
            </a:r>
          </a:p>
          <a:p>
            <a:r>
              <a:rPr lang="en-US" dirty="0"/>
              <a:t>RDF expresses data as </a:t>
            </a:r>
            <a:r>
              <a:rPr lang="en-US" b="1" dirty="0"/>
              <a:t>triples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Subject</a:t>
            </a:r>
            <a:r>
              <a:rPr lang="en-US" dirty="0"/>
              <a:t> – the resource being described</a:t>
            </a:r>
          </a:p>
          <a:p>
            <a:pPr lvl="1"/>
            <a:r>
              <a:rPr lang="en-US" b="1" dirty="0"/>
              <a:t>Predicate</a:t>
            </a:r>
            <a:r>
              <a:rPr lang="en-US" dirty="0"/>
              <a:t> – the property/relationship</a:t>
            </a:r>
          </a:p>
          <a:p>
            <a:pPr lvl="1"/>
            <a:r>
              <a:rPr lang="en-US" b="1" dirty="0"/>
              <a:t>Object</a:t>
            </a:r>
            <a:r>
              <a:rPr lang="en-US" dirty="0"/>
              <a:t> – the value or another resource</a:t>
            </a:r>
          </a:p>
          <a:p>
            <a:r>
              <a:rPr lang="en-IN" dirty="0">
                <a:highlight>
                  <a:srgbClr val="FFFF00"/>
                </a:highlight>
              </a:rPr>
              <a:t>:Patient123   :</a:t>
            </a:r>
            <a:r>
              <a:rPr lang="en-IN" dirty="0" err="1">
                <a:highlight>
                  <a:srgbClr val="FFFF00"/>
                </a:highlight>
              </a:rPr>
              <a:t>hasDisease</a:t>
            </a:r>
            <a:r>
              <a:rPr lang="en-IN" dirty="0">
                <a:highlight>
                  <a:srgbClr val="FFFF00"/>
                </a:highlight>
              </a:rPr>
              <a:t>   :Diabetes</a:t>
            </a:r>
          </a:p>
          <a:p>
            <a:r>
              <a:rPr lang="en-IN" b="1" dirty="0"/>
              <a:t>Subject</a:t>
            </a:r>
            <a:r>
              <a:rPr lang="en-IN" dirty="0"/>
              <a:t> = Patient123</a:t>
            </a:r>
          </a:p>
          <a:p>
            <a:r>
              <a:rPr lang="en-IN" b="1" dirty="0"/>
              <a:t>Predicate</a:t>
            </a:r>
            <a:r>
              <a:rPr lang="en-IN" dirty="0"/>
              <a:t> = </a:t>
            </a:r>
            <a:r>
              <a:rPr lang="en-IN" dirty="0" err="1"/>
              <a:t>hasDisease</a:t>
            </a:r>
            <a:endParaRPr lang="en-IN" dirty="0"/>
          </a:p>
          <a:p>
            <a:r>
              <a:rPr lang="en-IN" b="1" dirty="0"/>
              <a:t>Object</a:t>
            </a:r>
            <a:r>
              <a:rPr lang="en-IN" dirty="0"/>
              <a:t> = Diabetes</a:t>
            </a:r>
          </a:p>
          <a:p>
            <a:r>
              <a:rPr lang="en-IN" dirty="0"/>
              <a:t>Represented as a </a:t>
            </a:r>
            <a:r>
              <a:rPr lang="en-IN" b="1" dirty="0"/>
              <a:t>graph</a:t>
            </a:r>
            <a:r>
              <a:rPr lang="en-IN" dirty="0"/>
              <a:t>: Patient123 → </a:t>
            </a:r>
            <a:r>
              <a:rPr lang="en-IN" dirty="0" err="1"/>
              <a:t>hasDisease</a:t>
            </a:r>
            <a:r>
              <a:rPr lang="en-IN" dirty="0"/>
              <a:t> → Diabetes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0A67D-0226-CE4A-9004-6F68E4C7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411CF-9100-7B76-F814-22335BF1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532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154E-58FC-F786-DE59-EA76370A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2609-1BAE-1A7B-A8A9-077D5A8F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Concepts in RDF</a:t>
            </a:r>
          </a:p>
          <a:p>
            <a:r>
              <a:rPr lang="en-IN" b="1" dirty="0"/>
              <a:t>Resource</a:t>
            </a:r>
            <a:r>
              <a:rPr lang="en-IN" dirty="0"/>
              <a:t> – Anything that can be identified (people, places, documents, concepts).</a:t>
            </a:r>
          </a:p>
          <a:p>
            <a:r>
              <a:rPr lang="en-IN" b="1" dirty="0"/>
              <a:t>URI (Uniform Resource Identifier)</a:t>
            </a:r>
            <a:r>
              <a:rPr lang="en-IN" dirty="0"/>
              <a:t> – Unique identifier for resources.</a:t>
            </a:r>
          </a:p>
          <a:p>
            <a:r>
              <a:rPr lang="en-IN" b="1" dirty="0"/>
              <a:t>Literal</a:t>
            </a:r>
            <a:r>
              <a:rPr lang="en-IN" dirty="0"/>
              <a:t> – Data values (e.g., strings, numbers, dates).</a:t>
            </a:r>
          </a:p>
          <a:p>
            <a:r>
              <a:rPr lang="en-IN" b="1" dirty="0"/>
              <a:t>Blank Node</a:t>
            </a:r>
            <a:r>
              <a:rPr lang="en-IN" dirty="0"/>
              <a:t> – Represents resources without a URI (anonymous nodes).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E1BA5-D89B-D4DC-9957-3B2D4F8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39205-E219-EC42-1ECC-1D32FB54C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844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2D24-3FDF-C9E4-1469-3D2E3BBD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6CE0E-C345-C36A-D3B2-3026F36FF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dirty="0"/>
              <a:t>Advantages of RDF</a:t>
            </a:r>
          </a:p>
          <a:p>
            <a:pPr algn="just"/>
            <a:r>
              <a:rPr lang="en-IN" dirty="0"/>
              <a:t>Provides interoperability across systems.</a:t>
            </a:r>
          </a:p>
          <a:p>
            <a:pPr algn="just"/>
            <a:r>
              <a:rPr lang="en-IN" dirty="0"/>
              <a:t>Enables data linking across domains (Linked Data).</a:t>
            </a:r>
          </a:p>
          <a:p>
            <a:pPr algn="just"/>
            <a:r>
              <a:rPr lang="en-IN" dirty="0"/>
              <a:t>Supports semantic search and integration.</a:t>
            </a:r>
          </a:p>
          <a:p>
            <a:pPr algn="just"/>
            <a:r>
              <a:rPr lang="en-IN" dirty="0"/>
              <a:t>Foundation for higher-level ontology languages (like OWL).</a:t>
            </a:r>
          </a:p>
          <a:p>
            <a:pPr marL="0" indent="0" algn="just">
              <a:buNone/>
            </a:pPr>
            <a:r>
              <a:rPr lang="en-IN" dirty="0"/>
              <a:t>Applications of RDF</a:t>
            </a:r>
          </a:p>
          <a:p>
            <a:pPr algn="just"/>
            <a:r>
              <a:rPr lang="en-IN" dirty="0"/>
              <a:t>Linked Data (</a:t>
            </a:r>
            <a:r>
              <a:rPr lang="en-IN" dirty="0" err="1"/>
              <a:t>DBpedia</a:t>
            </a:r>
            <a:r>
              <a:rPr lang="en-IN" dirty="0"/>
              <a:t>, </a:t>
            </a:r>
            <a:r>
              <a:rPr lang="en-IN" dirty="0" err="1"/>
              <a:t>Wikidata</a:t>
            </a:r>
            <a:r>
              <a:rPr lang="en-IN" dirty="0"/>
              <a:t>).</a:t>
            </a:r>
          </a:p>
          <a:p>
            <a:pPr algn="just"/>
            <a:r>
              <a:rPr lang="en-IN" dirty="0"/>
              <a:t>Metadata description for digital libraries.</a:t>
            </a:r>
          </a:p>
          <a:p>
            <a:pPr algn="just"/>
            <a:r>
              <a:rPr lang="en-IN" dirty="0"/>
              <a:t>Semantic Web search engines (Google Knowledge Graph).</a:t>
            </a:r>
          </a:p>
          <a:p>
            <a:pPr algn="just"/>
            <a:r>
              <a:rPr lang="en-IN" dirty="0"/>
              <a:t>Healthcare systems for interoperability of patient data.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F22DE-3D4B-8E23-0A00-35F97C0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79F67C-3E7A-B58D-70DD-E158B3CE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15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6297-C4C4-7B3A-B136-D4815849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Ontology Language (OWL): Features &amp;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6D8D1-78BA-C52B-4CEE-B5968CA2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Introduction</a:t>
            </a:r>
          </a:p>
          <a:p>
            <a:pPr algn="just"/>
            <a:r>
              <a:rPr lang="en-US" b="1" dirty="0"/>
              <a:t>OWL (Web Ontology Language)</a:t>
            </a:r>
            <a:r>
              <a:rPr lang="en-US" dirty="0"/>
              <a:t> is a </a:t>
            </a:r>
            <a:r>
              <a:rPr lang="en-US" b="1" dirty="0"/>
              <a:t>W3C standard</a:t>
            </a:r>
            <a:r>
              <a:rPr lang="en-US" dirty="0"/>
              <a:t> ontology language used in the Semantic Web.</a:t>
            </a:r>
          </a:p>
          <a:p>
            <a:pPr algn="just"/>
            <a:r>
              <a:rPr lang="en-US" dirty="0"/>
              <a:t>Built on top of </a:t>
            </a:r>
            <a:r>
              <a:rPr lang="en-US" b="1" dirty="0"/>
              <a:t>RDF and RDFS</a:t>
            </a:r>
            <a:r>
              <a:rPr lang="en-US" dirty="0"/>
              <a:t>, OWL adds </a:t>
            </a:r>
            <a:r>
              <a:rPr lang="en-US" b="1" dirty="0"/>
              <a:t>more expressiveness and reasoning capabilities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is designed to represent </a:t>
            </a:r>
            <a:r>
              <a:rPr lang="en-US" b="1" dirty="0"/>
              <a:t>rich and complex knowledge</a:t>
            </a:r>
            <a:r>
              <a:rPr lang="en-US" dirty="0"/>
              <a:t> about things, groups of things, and relations between them.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7D1B5-A6C4-5D2A-352C-E8AC1D3D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7CEA2-A9C0-3070-CCAC-F2C9F4D9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327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1C0F-433B-17FD-4555-6DEE3F2B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OWL?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8961-4EE9-380E-2AD6-978F19ED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RDF/RDFS are limited to </a:t>
            </a:r>
            <a:r>
              <a:rPr lang="en-US" b="1" dirty="0"/>
              <a:t>basic hierarchies</a:t>
            </a:r>
            <a:r>
              <a:rPr lang="en-US" dirty="0"/>
              <a:t>.</a:t>
            </a:r>
          </a:p>
          <a:p>
            <a:r>
              <a:rPr lang="en-US" dirty="0"/>
              <a:t>OWL allows:</a:t>
            </a:r>
            <a:br>
              <a:rPr lang="en-US" dirty="0"/>
            </a:br>
            <a:r>
              <a:rPr lang="en-US" dirty="0"/>
              <a:t>	Defining </a:t>
            </a:r>
            <a:r>
              <a:rPr lang="en-US" b="1" dirty="0"/>
              <a:t>equivalent classes</a:t>
            </a:r>
            <a:br>
              <a:rPr lang="en-US" dirty="0"/>
            </a:br>
            <a:r>
              <a:rPr lang="en-US" dirty="0"/>
              <a:t>	Declaring </a:t>
            </a:r>
            <a:r>
              <a:rPr lang="en-US" b="1" dirty="0"/>
              <a:t>disjoint classes</a:t>
            </a:r>
            <a:br>
              <a:rPr lang="en-US" dirty="0"/>
            </a:br>
            <a:r>
              <a:rPr lang="en-US" dirty="0"/>
              <a:t>	Adding </a:t>
            </a:r>
            <a:r>
              <a:rPr lang="en-US" b="1" dirty="0"/>
              <a:t>restrictions</a:t>
            </a:r>
            <a:r>
              <a:rPr lang="en-US" dirty="0"/>
              <a:t> on properties</a:t>
            </a:r>
            <a:br>
              <a:rPr lang="en-US" dirty="0"/>
            </a:br>
            <a:r>
              <a:rPr lang="en-US" dirty="0"/>
              <a:t>	Performing </a:t>
            </a:r>
            <a:r>
              <a:rPr lang="en-US" b="1" dirty="0"/>
              <a:t>reasoning</a:t>
            </a:r>
            <a:r>
              <a:rPr lang="en-US" dirty="0"/>
              <a:t> to infer new knowledge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9C8D9-B03C-D559-3717-95542914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2E2CF-6F6B-2B12-3B3B-BE01D609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345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221A-C2BC-BAAA-89F2-0522756C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cs typeface="Times New Roman" panose="02020603050405020304" pitchFamily="18" charset="0"/>
              </a:rPr>
              <a:t>Features of OWL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2C9219-B94A-77A9-872F-DCE7DBF0C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2426" y="1985358"/>
            <a:ext cx="684033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Class Hierarchies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Supports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subclass–superclass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relationships.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 Doctor ⊆ Person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Equivalence &amp;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Disjointness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Classes can be declared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equivalent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(same meaning)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disjoint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(mutually exclusive).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 Man ⊓ Woman = ⊥ (disjoint)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Property Characteristics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Properties can be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functional, transitive, symmetric, inverse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hasParent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is inverse of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hasChild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Restrictions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Define constraints on class membership.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 Person ⊓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≥ 18) → Adult.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Reasoning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Enables logical inference.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Example: If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Doctor ⊆ Human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and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Rajesh is a Doctor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we infer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Rajesh is a Human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Individuals (Instances)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Real-world entities can be defined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instances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of classes.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64E47-AEB4-A8BA-1D85-7EAF5817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DC7F-5D98-F2E4-1C1D-D8D3E8A4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0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30D3-4391-29EC-2558-E7267B4BA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Examples of OWL Statements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7B5228-090A-8E5A-8D16-2B18311B6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1668" y="1493520"/>
            <a:ext cx="5108466" cy="468344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E9205-AAC9-4C20-6495-BEEFBBFB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C6F7-9927-BA4F-AAB7-0BA08C9A4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095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63D0-E4F8-1DCE-4B0E-97DAF60D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 of OWL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9AEB2-5C6E-2AB0-C63A-9B25BB20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Healthcare:</a:t>
            </a:r>
            <a:r>
              <a:rPr lang="en-IN" dirty="0"/>
              <a:t> Disease–Symptom–Treatment </a:t>
            </a:r>
            <a:r>
              <a:rPr lang="en-IN" dirty="0" err="1"/>
              <a:t>modeling</a:t>
            </a:r>
            <a:r>
              <a:rPr lang="en-IN" dirty="0"/>
              <a:t> (SNOMED CT).</a:t>
            </a:r>
          </a:p>
          <a:p>
            <a:r>
              <a:rPr lang="en-IN" b="1" dirty="0"/>
              <a:t>E-commerce:</a:t>
            </a:r>
            <a:r>
              <a:rPr lang="en-IN" dirty="0"/>
              <a:t> Product classification &amp; recommendations.</a:t>
            </a:r>
          </a:p>
          <a:p>
            <a:r>
              <a:rPr lang="en-IN" b="1" dirty="0"/>
              <a:t>Knowledge Graphs:</a:t>
            </a:r>
            <a:r>
              <a:rPr lang="en-IN" dirty="0"/>
              <a:t> Google Knowledge Graph, </a:t>
            </a:r>
            <a:r>
              <a:rPr lang="en-IN" dirty="0" err="1"/>
              <a:t>DBpedia</a:t>
            </a:r>
            <a:r>
              <a:rPr lang="en-IN" dirty="0"/>
              <a:t>, </a:t>
            </a:r>
            <a:r>
              <a:rPr lang="en-IN" dirty="0" err="1"/>
              <a:t>Wikidata</a:t>
            </a:r>
            <a:r>
              <a:rPr lang="en-IN" dirty="0"/>
              <a:t>.</a:t>
            </a:r>
          </a:p>
          <a:p>
            <a:r>
              <a:rPr lang="en-IN" b="1" dirty="0"/>
              <a:t>Education:</a:t>
            </a:r>
            <a:r>
              <a:rPr lang="en-IN" dirty="0"/>
              <a:t> Smart learning systems.</a:t>
            </a:r>
          </a:p>
          <a:p>
            <a:r>
              <a:rPr lang="en-IN" b="1" dirty="0"/>
              <a:t>AI &amp; NLP:</a:t>
            </a:r>
            <a:r>
              <a:rPr lang="en-IN" dirty="0"/>
              <a:t> Semantic reasoning for intelligent agents.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FB3D9-C703-5BDE-6C71-E58D727A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FC92F-BC63-26E2-5793-255391A1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92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306705-DC71-4CE4-8F1D-A1CC2CC34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6D6A8-3BB5-4959-BE37-5611070FF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83F08-430F-E89F-55B7-980DDCE9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825" y="900622"/>
            <a:ext cx="4821519" cy="1893524"/>
          </a:xfrm>
        </p:spPr>
        <p:txBody>
          <a:bodyPr anchor="b">
            <a:normAutofit/>
          </a:bodyPr>
          <a:lstStyle/>
          <a:p>
            <a:pPr lvl="0" algn="just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Explanation:</a:t>
            </a: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Adult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is defined as a subclass of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with an additional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restriction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The property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must have a value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greater than or equal to 18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 OWL: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Class: Adult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EquivalentTo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 Person and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≥ 18)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endParaRPr lang="en-IN" sz="1400" dirty="0"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diagram of a property restriction example&#10;&#10;AI-generated content may be incorrect.">
            <a:extLst>
              <a:ext uri="{FF2B5EF4-FFF2-40B4-BE49-F238E27FC236}">
                <a16:creationId xmlns:a16="http://schemas.microsoft.com/office/drawing/2014/main" id="{1D292FA9-4773-2CFB-8088-FEA83878C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42" y="1379802"/>
            <a:ext cx="5287612" cy="4111118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69620B36-664D-6B8D-C79F-D9FFC9AAEA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64288" y="4147729"/>
            <a:ext cx="3776996" cy="57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Meaning: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If an individual is a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Person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and their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hasAge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value is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18 or more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then the system can automatically classify them as an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Adult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6DB4313-45DC-C37B-62FA-D2DDD407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1C30876-0B32-C441-2F93-94FEF3F1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237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2C52-0C5B-2275-9E07-C9692A2A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and Aggregating Social Network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49D97-F83D-4F95-3FA6-94405077E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Introduction</a:t>
            </a:r>
          </a:p>
          <a:p>
            <a:pPr algn="just"/>
            <a:r>
              <a:rPr lang="en-US" dirty="0"/>
              <a:t>Social networks (Facebook, Twitter, LinkedIn, etc.) generate </a:t>
            </a:r>
            <a:r>
              <a:rPr lang="en-US" b="1" dirty="0"/>
              <a:t>huge volumes of structured and unstructured data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Modeling</a:t>
            </a:r>
            <a:r>
              <a:rPr lang="en-US" dirty="0"/>
              <a:t> helps represent this data as </a:t>
            </a:r>
            <a:r>
              <a:rPr lang="en-US" b="1" dirty="0"/>
              <a:t>graphs</a:t>
            </a:r>
            <a:r>
              <a:rPr lang="en-US" dirty="0"/>
              <a:t> for analysis.</a:t>
            </a:r>
          </a:p>
          <a:p>
            <a:pPr algn="just"/>
            <a:r>
              <a:rPr lang="en-US" b="1" dirty="0"/>
              <a:t>Aggregation</a:t>
            </a:r>
            <a:r>
              <a:rPr lang="en-US" dirty="0"/>
              <a:t> combines data from different users, groups, or platforms to gain insights.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C8710-B5F3-A602-D9CE-966631CF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DC70F-AE6A-0C20-1BCA-C4B94719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15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E25F-682B-12BF-5FA0-68DDC953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Modeling Social Network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ADE44-FA6E-66EB-3A53-F706AE9F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Social network data is usually represented as a </a:t>
            </a:r>
            <a:r>
              <a:rPr lang="en-US" b="1" dirty="0"/>
              <a:t>graph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Nodes (Vertices):</a:t>
            </a:r>
            <a:r>
              <a:rPr lang="en-US" dirty="0"/>
              <a:t> Represent entities (users, groups, pages).</a:t>
            </a:r>
          </a:p>
          <a:p>
            <a:pPr algn="just"/>
            <a:r>
              <a:rPr lang="en-US" b="1" dirty="0"/>
              <a:t>Edges (Links):</a:t>
            </a:r>
            <a:r>
              <a:rPr lang="en-US" dirty="0"/>
              <a:t> Represent relationships (friendship, follow, like, comment).</a:t>
            </a:r>
          </a:p>
          <a:p>
            <a:pPr algn="just"/>
            <a:r>
              <a:rPr lang="en-US" b="1" dirty="0"/>
              <a:t>Attributes:</a:t>
            </a:r>
            <a:r>
              <a:rPr lang="en-US" dirty="0"/>
              <a:t> Extra information (age, location, post type, timestamp).</a:t>
            </a:r>
          </a:p>
          <a:p>
            <a:pPr algn="just"/>
            <a:r>
              <a:rPr lang="en-US" b="1" dirty="0"/>
              <a:t>Example Models:</a:t>
            </a:r>
          </a:p>
          <a:p>
            <a:pPr algn="just"/>
            <a:r>
              <a:rPr lang="en-US" b="1" dirty="0"/>
              <a:t>Friendship Graph:</a:t>
            </a:r>
            <a:r>
              <a:rPr lang="en-US" dirty="0"/>
              <a:t> Undirected graph showing mutual relationships.</a:t>
            </a:r>
          </a:p>
          <a:p>
            <a:pPr algn="just"/>
            <a:r>
              <a:rPr lang="en-US" b="1" dirty="0"/>
              <a:t>Follower Graph (Twitter):</a:t>
            </a:r>
            <a:r>
              <a:rPr lang="en-US" dirty="0"/>
              <a:t> Directed graph (A → B means A follows B).</a:t>
            </a:r>
          </a:p>
          <a:p>
            <a:pPr algn="just"/>
            <a:r>
              <a:rPr lang="en-US" b="1" dirty="0"/>
              <a:t>Interaction Graph:</a:t>
            </a:r>
            <a:r>
              <a:rPr lang="en-US" dirty="0"/>
              <a:t> Weighted graph showing frequency of interactions (likes, comments).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61F16-F217-D6CA-FC1D-D1688E51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AF973-A53C-9EB7-11D0-0D0AE5B6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942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FBBC-B1A7-F772-22A4-CCFA189F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Aggregating Social Network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50B99-E401-DC3D-2F18-C7CA47C0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Aggregation means </a:t>
            </a:r>
            <a:r>
              <a:rPr lang="en-US" b="1" dirty="0"/>
              <a:t>combining multiple data points</a:t>
            </a:r>
            <a:r>
              <a:rPr lang="en-US" dirty="0"/>
              <a:t> for higher-level analysis.</a:t>
            </a:r>
          </a:p>
          <a:p>
            <a:pPr algn="just"/>
            <a:r>
              <a:rPr lang="en-US" b="1" dirty="0"/>
              <a:t>Types of Aggregation:</a:t>
            </a:r>
          </a:p>
          <a:p>
            <a:pPr algn="just"/>
            <a:r>
              <a:rPr lang="en-US" b="1" dirty="0"/>
              <a:t>User-Level Aggregation</a:t>
            </a:r>
            <a:endParaRPr lang="en-US" dirty="0"/>
          </a:p>
          <a:p>
            <a:pPr lvl="1" algn="just"/>
            <a:r>
              <a:rPr lang="en-US" dirty="0"/>
              <a:t>Combine data of individual users (e.g., total posts, total followers).</a:t>
            </a:r>
          </a:p>
          <a:p>
            <a:pPr algn="just"/>
            <a:r>
              <a:rPr lang="en-US" b="1" dirty="0"/>
              <a:t>Community-Level Aggregation</a:t>
            </a:r>
            <a:endParaRPr lang="en-US" dirty="0"/>
          </a:p>
          <a:p>
            <a:pPr lvl="1" algn="just"/>
            <a:r>
              <a:rPr lang="en-US" dirty="0"/>
              <a:t>Group data based on communities (e.g., political groups, interest groups).</a:t>
            </a:r>
          </a:p>
          <a:p>
            <a:pPr algn="just"/>
            <a:r>
              <a:rPr lang="en-US" b="1" dirty="0"/>
              <a:t>Network-Level Aggregation</a:t>
            </a:r>
            <a:endParaRPr lang="en-US" dirty="0"/>
          </a:p>
          <a:p>
            <a:pPr lvl="1" algn="just"/>
            <a:r>
              <a:rPr lang="en-US" dirty="0"/>
              <a:t>Metrics like </a:t>
            </a:r>
            <a:r>
              <a:rPr lang="en-US" b="1" dirty="0"/>
              <a:t>average degree, clustering coefficient, modularity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5A997-662A-5438-105B-B6F194BC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48D3D-34D5-90B3-AEC0-D80FC934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11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F466-947C-22B4-8E7C-7391EA8A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36FD6-8701-DF0F-80DF-61C44DF71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Graph </a:t>
            </a:r>
            <a:r>
              <a:rPr lang="en-IN" b="1" dirty="0" err="1"/>
              <a:t>Modeling</a:t>
            </a:r>
            <a:endParaRPr lang="en-IN" dirty="0"/>
          </a:p>
          <a:p>
            <a:pPr lvl="1"/>
            <a:r>
              <a:rPr lang="en-IN" dirty="0"/>
              <a:t>Represent social data using </a:t>
            </a:r>
            <a:r>
              <a:rPr lang="en-IN" b="1" dirty="0"/>
              <a:t>graph structures</a:t>
            </a:r>
            <a:r>
              <a:rPr lang="en-IN" dirty="0"/>
              <a:t>.</a:t>
            </a:r>
          </a:p>
          <a:p>
            <a:r>
              <a:rPr lang="en-IN" b="1" dirty="0"/>
              <a:t>Community Detection</a:t>
            </a:r>
            <a:endParaRPr lang="en-IN" dirty="0"/>
          </a:p>
          <a:p>
            <a:pPr lvl="1"/>
            <a:r>
              <a:rPr lang="en-IN" dirty="0"/>
              <a:t>Algorithms like </a:t>
            </a:r>
            <a:r>
              <a:rPr lang="en-IN" b="1" dirty="0"/>
              <a:t>Louvain, Girvan–Newman</a:t>
            </a:r>
            <a:r>
              <a:rPr lang="en-IN" dirty="0"/>
              <a:t> to identify clusters.</a:t>
            </a:r>
          </a:p>
          <a:p>
            <a:r>
              <a:rPr lang="en-IN" b="1" dirty="0"/>
              <a:t>Link Prediction</a:t>
            </a:r>
            <a:endParaRPr lang="en-IN" dirty="0"/>
          </a:p>
          <a:p>
            <a:pPr lvl="1"/>
            <a:r>
              <a:rPr lang="en-IN" dirty="0"/>
              <a:t>Predict future connections using similarity measures.</a:t>
            </a:r>
          </a:p>
          <a:p>
            <a:r>
              <a:rPr lang="en-IN" b="1" dirty="0"/>
              <a:t>Information Diffusion Models</a:t>
            </a:r>
            <a:endParaRPr lang="en-IN" dirty="0"/>
          </a:p>
          <a:p>
            <a:pPr lvl="1"/>
            <a:r>
              <a:rPr lang="en-IN" dirty="0"/>
              <a:t>Model how information spreads (e.g., </a:t>
            </a:r>
            <a:r>
              <a:rPr lang="en-IN" dirty="0" err="1"/>
              <a:t>rumors</a:t>
            </a:r>
            <a:r>
              <a:rPr lang="en-IN" dirty="0"/>
              <a:t>, viral content).</a:t>
            </a:r>
          </a:p>
          <a:p>
            <a:r>
              <a:rPr lang="en-IN" b="1" dirty="0"/>
              <a:t>Sentiment &amp; </a:t>
            </a:r>
            <a:r>
              <a:rPr lang="en-IN" b="1" dirty="0" err="1"/>
              <a:t>Behavior</a:t>
            </a:r>
            <a:r>
              <a:rPr lang="en-IN" b="1" dirty="0"/>
              <a:t> Aggregation</a:t>
            </a:r>
            <a:endParaRPr lang="en-IN" dirty="0"/>
          </a:p>
          <a:p>
            <a:pPr lvl="1"/>
            <a:r>
              <a:rPr lang="en-IN" dirty="0"/>
              <a:t>Aggregate posts and interactions to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b="1" dirty="0"/>
              <a:t>emotions, trends, public opinion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56C30-962D-5150-FEC4-57400A16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55AE0-DD9D-BB34-4C62-7AF6E7E0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8501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FC42-EFD6-9943-8DEB-0BD8BC0D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8AD63-5778-DE96-0ECA-E3A3F2D61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Marketing:</a:t>
            </a:r>
            <a:r>
              <a:rPr lang="en-US" dirty="0"/>
              <a:t> Identify influencers and target audiences.</a:t>
            </a:r>
          </a:p>
          <a:p>
            <a:r>
              <a:rPr lang="en-US" b="1" dirty="0"/>
              <a:t>Epidemiology:</a:t>
            </a:r>
            <a:r>
              <a:rPr lang="en-US" dirty="0"/>
              <a:t> Model spread of diseases (COVID contact tracing networks).</a:t>
            </a:r>
          </a:p>
          <a:p>
            <a:r>
              <a:rPr lang="en-US" b="1" dirty="0"/>
              <a:t>Politics:</a:t>
            </a:r>
            <a:r>
              <a:rPr lang="en-US" dirty="0"/>
              <a:t> Analyze opinion clusters, misinformation spread.</a:t>
            </a:r>
          </a:p>
          <a:p>
            <a:r>
              <a:rPr lang="en-US" b="1" dirty="0"/>
              <a:t>Recommender Systems:</a:t>
            </a:r>
            <a:r>
              <a:rPr lang="en-US" dirty="0"/>
              <a:t> Suggest friends, groups, or content.</a:t>
            </a:r>
          </a:p>
          <a:p>
            <a:r>
              <a:rPr lang="en-US" b="1" dirty="0"/>
              <a:t>Security:</a:t>
            </a:r>
            <a:r>
              <a:rPr lang="en-US" dirty="0"/>
              <a:t> Detect fraud, fake accounts, or suspicious communities.</a:t>
            </a:r>
          </a:p>
          <a:p>
            <a:endParaRPr lang="en-IN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CF295-1360-F041-9CD6-21DF30CA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B895BE-0A90-8087-E4AA-160B8D84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55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155D-AB55-AEED-3B93-643F7C12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4F84-35A3-3D58-ADE6-75D00CE9D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Scalability:</a:t>
            </a:r>
            <a:r>
              <a:rPr lang="en-IN" dirty="0"/>
              <a:t> Handling billions of nodes/edges.</a:t>
            </a:r>
          </a:p>
          <a:p>
            <a:r>
              <a:rPr lang="en-IN" b="1" dirty="0"/>
              <a:t>Data Privacy:</a:t>
            </a:r>
            <a:r>
              <a:rPr lang="en-IN" dirty="0"/>
              <a:t> Protecting user information.</a:t>
            </a:r>
          </a:p>
          <a:p>
            <a:r>
              <a:rPr lang="en-IN" b="1" dirty="0"/>
              <a:t>Heterogeneity:</a:t>
            </a:r>
            <a:r>
              <a:rPr lang="en-IN" dirty="0"/>
              <a:t> Combining structured (graphs) and unstructured (posts, images) data.</a:t>
            </a:r>
          </a:p>
          <a:p>
            <a:r>
              <a:rPr lang="en-IN" b="1" dirty="0"/>
              <a:t>Dynamic Nature:</a:t>
            </a:r>
            <a:r>
              <a:rPr lang="en-IN" dirty="0"/>
              <a:t> Social networks evolve quickly.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72A2A-CCD9-7DB7-E92D-46F8C046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60F6F-238C-8079-8762-A8E69A83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78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BE9D-C454-F482-0768-20099595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Graphical representation of Community Detection (Clusters)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Content Placeholder 7" descr="A diagram of a network&#10;&#10;AI-generated content may be incorrect.">
            <a:extLst>
              <a:ext uri="{FF2B5EF4-FFF2-40B4-BE49-F238E27FC236}">
                <a16:creationId xmlns:a16="http://schemas.microsoft.com/office/drawing/2014/main" id="{746C3A24-6921-4EBB-E0ED-9D829236D2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62" y="2505075"/>
            <a:ext cx="4710639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A48EE-B2F6-46EA-9AE2-816EC5B02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Explanation: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82986-CBC0-BD11-04D9-07E72D5004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The graph shown is the </a:t>
            </a:r>
            <a:r>
              <a:rPr lang="en-US" b="1" dirty="0"/>
              <a:t>Zachary’s Karate Club network</a:t>
            </a:r>
            <a:r>
              <a:rPr lang="en-US" dirty="0"/>
              <a:t>, a famous dataset in social network analysis.</a:t>
            </a:r>
          </a:p>
          <a:p>
            <a:pPr algn="just"/>
            <a:r>
              <a:rPr lang="en-US" b="1" dirty="0"/>
              <a:t>Nodes (0–33):</a:t>
            </a:r>
            <a:r>
              <a:rPr lang="en-US" dirty="0"/>
              <a:t> Individuals in the network.</a:t>
            </a:r>
          </a:p>
          <a:p>
            <a:pPr algn="just"/>
            <a:r>
              <a:rPr lang="en-US" b="1" dirty="0"/>
              <a:t>Edges:</a:t>
            </a:r>
            <a:r>
              <a:rPr lang="en-US" dirty="0"/>
              <a:t> Friendships between individuals.</a:t>
            </a:r>
          </a:p>
          <a:p>
            <a:pPr algn="just"/>
            <a:r>
              <a:rPr lang="en-US" b="1" dirty="0"/>
              <a:t>Colors (Red &amp; Blue):</a:t>
            </a:r>
            <a:r>
              <a:rPr lang="en-US" dirty="0"/>
              <a:t> Detected communities (clusters).</a:t>
            </a:r>
          </a:p>
          <a:p>
            <a:pPr algn="just"/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818AC71-7E10-E034-FF58-29590375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98EF6F9-A9AC-04AC-E74D-0FEA726C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24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0CB07-614F-6395-1178-CF0C723C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Community Detection Works: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981D8-D165-27FA-D9B2-55CB49618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092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Algorithms (like </a:t>
            </a:r>
            <a:r>
              <a:rPr lang="en-US" b="1" dirty="0"/>
              <a:t>Girvan–Newman, Louvain, Label Propagation</a:t>
            </a:r>
            <a:r>
              <a:rPr lang="en-US" dirty="0"/>
              <a:t>) partition the network.</a:t>
            </a:r>
          </a:p>
          <a:p>
            <a:pPr algn="just"/>
            <a:r>
              <a:rPr lang="en-US" dirty="0"/>
              <a:t>Members inside the same </a:t>
            </a:r>
            <a:r>
              <a:rPr lang="en-US" b="1" dirty="0"/>
              <a:t>cluster</a:t>
            </a:r>
            <a:r>
              <a:rPr lang="en-US" dirty="0"/>
              <a:t> are more densely connected to each other.</a:t>
            </a:r>
          </a:p>
          <a:p>
            <a:pPr algn="just"/>
            <a:r>
              <a:rPr lang="en-US" dirty="0"/>
              <a:t>Members in different clusters have fewer connections.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787F6-5440-7597-4C3C-7575D1B9F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E896D-05C1-CB98-8D6B-A77FCB10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098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6D38-46E0-EAE8-1937-010F300A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an Aggregated Graph</a:t>
            </a:r>
            <a:endParaRPr lang="en-IN" dirty="0"/>
          </a:p>
        </p:txBody>
      </p:sp>
      <p:pic>
        <p:nvPicPr>
          <p:cNvPr id="6" name="Content Placeholder 5" descr="A diagram of a group of individuals&#10;&#10;AI-generated content may be incorrect.">
            <a:extLst>
              <a:ext uri="{FF2B5EF4-FFF2-40B4-BE49-F238E27FC236}">
                <a16:creationId xmlns:a16="http://schemas.microsoft.com/office/drawing/2014/main" id="{6D1BA4CB-CEEA-3393-5625-FC927D157D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91" y="1825625"/>
            <a:ext cx="4743617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23FB0-1F56-B4F5-8D49-37D0FFD07D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Explanation:</a:t>
            </a:r>
          </a:p>
          <a:p>
            <a:pPr algn="just"/>
            <a:r>
              <a:rPr lang="en-US" dirty="0"/>
              <a:t>Instead of visualizing all individuals (nodes), the network is </a:t>
            </a:r>
            <a:r>
              <a:rPr lang="en-US" b="1" dirty="0"/>
              <a:t>aggregated into communities (super-nodes)</a:t>
            </a:r>
            <a:r>
              <a:rPr lang="en-US" dirty="0"/>
              <a:t>.</a:t>
            </a:r>
          </a:p>
          <a:p>
            <a:pPr algn="just"/>
            <a:r>
              <a:rPr lang="en-US" b="1" dirty="0"/>
              <a:t>Community A, B, and C</a:t>
            </a:r>
            <a:r>
              <a:rPr lang="en-US" dirty="0"/>
              <a:t> represent groups of individuals (clusters).</a:t>
            </a:r>
          </a:p>
          <a:p>
            <a:pPr algn="just"/>
            <a:r>
              <a:rPr lang="en-US" b="1" dirty="0"/>
              <a:t>Edges</a:t>
            </a:r>
            <a:r>
              <a:rPr lang="en-US" dirty="0"/>
              <a:t> represent </a:t>
            </a:r>
            <a:r>
              <a:rPr lang="en-US" b="1" dirty="0"/>
              <a:t>interactions between groups</a:t>
            </a:r>
            <a:r>
              <a:rPr lang="en-US" dirty="0"/>
              <a:t>, not individual members.</a:t>
            </a:r>
          </a:p>
          <a:p>
            <a:pPr algn="just"/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EA9BD2F-0389-5F49-AEF2-144D7544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A742C0-6D21-15E6-A873-DE3D39A4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814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0E0B-9A5C-4259-8D38-A5CEDEFD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Aggregation?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8A27E-37A6-E5B5-D442-E2AA9C1B4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Simplifies visualization</a:t>
            </a:r>
            <a:r>
              <a:rPr lang="en-IN" dirty="0"/>
              <a:t> of large networks.</a:t>
            </a:r>
          </a:p>
          <a:p>
            <a:pPr algn="just"/>
            <a:r>
              <a:rPr lang="en-IN" dirty="0"/>
              <a:t>Makes </a:t>
            </a:r>
            <a:r>
              <a:rPr lang="en-IN" b="1" dirty="0"/>
              <a:t>macro-level relationships</a:t>
            </a:r>
            <a:r>
              <a:rPr lang="en-IN" dirty="0"/>
              <a:t> between groups clear.</a:t>
            </a:r>
          </a:p>
          <a:p>
            <a:pPr algn="just"/>
            <a:r>
              <a:rPr lang="en-IN" dirty="0"/>
              <a:t>Useful in:</a:t>
            </a:r>
          </a:p>
          <a:p>
            <a:pPr lvl="1" algn="just"/>
            <a:r>
              <a:rPr lang="en-IN" b="1" dirty="0"/>
              <a:t>Marketing</a:t>
            </a:r>
            <a:r>
              <a:rPr lang="en-IN" dirty="0"/>
              <a:t> → Interaction between customer segments.</a:t>
            </a:r>
          </a:p>
          <a:p>
            <a:pPr lvl="1" algn="just"/>
            <a:r>
              <a:rPr lang="en-IN" b="1" dirty="0"/>
              <a:t>Epidemiology</a:t>
            </a:r>
            <a:r>
              <a:rPr lang="en-IN" dirty="0"/>
              <a:t> → Disease spread between communities.</a:t>
            </a:r>
          </a:p>
          <a:p>
            <a:pPr lvl="1" algn="just"/>
            <a:r>
              <a:rPr lang="en-IN" b="1" dirty="0"/>
              <a:t>Politics</a:t>
            </a:r>
            <a:r>
              <a:rPr lang="en-IN" dirty="0"/>
              <a:t> → Influence between voter groups.</a:t>
            </a:r>
          </a:p>
          <a:p>
            <a:pPr lvl="1" algn="just"/>
            <a:r>
              <a:rPr lang="en-IN" b="1" dirty="0"/>
              <a:t>Social Media Analytics</a:t>
            </a:r>
            <a:r>
              <a:rPr lang="en-IN" dirty="0"/>
              <a:t> → Content flow across online communities.</a:t>
            </a:r>
          </a:p>
          <a:p>
            <a:pPr algn="just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57E9B-3946-EFD6-A6CA-EA43DA848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3F636-78CB-BE1D-EFC9-D5B6ECD3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867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42C9-F887-B1A1-C64A-29AEA6DE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 in Network Data Representation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36544-E4CF-49AA-357C-E0270EFCA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r>
              <a:rPr lang="en-US" dirty="0"/>
              <a:t>Networks (graphs) represent </a:t>
            </a:r>
            <a:r>
              <a:rPr lang="en-US" b="1" dirty="0"/>
              <a:t>relationships among entities</a:t>
            </a:r>
            <a:r>
              <a:rPr lang="en-US" dirty="0"/>
              <a:t>.</a:t>
            </a:r>
          </a:p>
          <a:p>
            <a:r>
              <a:rPr lang="en-US" dirty="0"/>
              <a:t>Traditional representation = adjacency matrices or edge lists.</a:t>
            </a:r>
          </a:p>
          <a:p>
            <a:r>
              <a:rPr lang="en-US" dirty="0"/>
              <a:t>State-of-the-art focuses on </a:t>
            </a:r>
            <a:r>
              <a:rPr lang="en-US" b="1" dirty="0"/>
              <a:t>efficient, scalable, and meaningful representations</a:t>
            </a:r>
            <a:r>
              <a:rPr lang="en-US" dirty="0"/>
              <a:t> for modern applications (AI, ML, GNNs).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7D406-58B6-832B-695D-EF5FA784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74348-C049-96A0-04DE-DCBFFF29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879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0A80-7A4F-6092-BC77-87B10D37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 in Network Data Representation(Cont.,)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CB5A-E6CB-1A78-8777-8ABC4205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Traditional Network Representation</a:t>
            </a:r>
          </a:p>
          <a:p>
            <a:r>
              <a:rPr lang="en-US" b="1" dirty="0"/>
              <a:t>Adjacency Matrix</a:t>
            </a:r>
            <a:endParaRPr lang="en-US" dirty="0"/>
          </a:p>
          <a:p>
            <a:pPr lvl="1"/>
            <a:r>
              <a:rPr lang="en-US" dirty="0"/>
              <a:t>Matrix representation of nodes and edges.</a:t>
            </a:r>
          </a:p>
          <a:p>
            <a:pPr lvl="1"/>
            <a:r>
              <a:rPr lang="en-US" dirty="0"/>
              <a:t>Inefficient for sparse networks.</a:t>
            </a:r>
          </a:p>
          <a:p>
            <a:r>
              <a:rPr lang="en-US" b="1" dirty="0"/>
              <a:t>Adjacency List</a:t>
            </a:r>
            <a:endParaRPr lang="en-US" dirty="0"/>
          </a:p>
          <a:p>
            <a:pPr lvl="1"/>
            <a:r>
              <a:rPr lang="en-US" dirty="0"/>
              <a:t>Stores neighbors for each node.</a:t>
            </a:r>
          </a:p>
          <a:p>
            <a:pPr lvl="1"/>
            <a:r>
              <a:rPr lang="en-US" dirty="0"/>
              <a:t>More memory-efficient than matrices.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30F7F-90D0-31DE-CAC5-DB60F5E64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E20EA-788C-3AD8-4ECF-06829F14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13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7769-015F-2240-7B7C-4B2A48E7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State-of-the-Art Representations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55C2-603A-5B49-6603-8510FE30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Graph Embeddings</a:t>
            </a:r>
          </a:p>
          <a:p>
            <a:r>
              <a:rPr lang="en-IN" dirty="0"/>
              <a:t>Maps nodes, edges, or entire graphs into </a:t>
            </a:r>
            <a:r>
              <a:rPr lang="en-IN" b="1" dirty="0"/>
              <a:t>low-dimensional vector spaces</a:t>
            </a:r>
            <a:r>
              <a:rPr lang="en-IN" dirty="0"/>
              <a:t>.</a:t>
            </a:r>
          </a:p>
          <a:p>
            <a:r>
              <a:rPr lang="en-IN" dirty="0"/>
              <a:t>Preserves structural properties.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b="1" dirty="0" err="1"/>
              <a:t>DeepWalk</a:t>
            </a:r>
            <a:r>
              <a:rPr lang="en-IN" dirty="0"/>
              <a:t> (random walks + word2vec)</a:t>
            </a:r>
          </a:p>
          <a:p>
            <a:pPr lvl="1"/>
            <a:r>
              <a:rPr lang="en-IN" b="1" dirty="0"/>
              <a:t>Node2Vec</a:t>
            </a:r>
            <a:r>
              <a:rPr lang="en-IN" dirty="0"/>
              <a:t> (biased random walks)</a:t>
            </a:r>
          </a:p>
          <a:p>
            <a:pPr lvl="1"/>
            <a:r>
              <a:rPr lang="en-IN" b="1" dirty="0"/>
              <a:t>LINE</a:t>
            </a:r>
            <a:r>
              <a:rPr lang="en-IN" dirty="0"/>
              <a:t> (large-scale network embedding)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2E358-5A7C-050E-3743-6B1FA2FD6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FCC9C-B76D-8D38-1E8A-3E6CEFF1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774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3551-0603-37AF-2EF4-0B97E60A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Graphical representation of </a:t>
            </a:r>
            <a:r>
              <a:rPr lang="en-US" b="1" dirty="0" err="1"/>
              <a:t>DeepWalk</a:t>
            </a:r>
            <a:r>
              <a:rPr lang="en-US" b="1" dirty="0"/>
              <a:t> (Random Walks + word2vec)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 descr="A diagram of a graph&#10;&#10;AI-generated content may be incorrect.">
            <a:extLst>
              <a:ext uri="{FF2B5EF4-FFF2-40B4-BE49-F238E27FC236}">
                <a16:creationId xmlns:a16="http://schemas.microsoft.com/office/drawing/2014/main" id="{6CEFD78A-9CFC-AFE5-B29A-E2D724D51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" y="1825625"/>
            <a:ext cx="9324619" cy="435133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9E1C7-B0CB-3FD0-B8F5-E91EAA3EC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8CF31-A816-A47A-5707-02741F96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674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F7AD-B4D7-5DD2-3999-B1EC0403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04D86-4885-5590-F2B4-64271F45C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Left:</a:t>
            </a:r>
            <a:r>
              <a:rPr lang="en-US" b="1" dirty="0">
                <a:highlight>
                  <a:srgbClr val="FFFF00"/>
                </a:highlight>
              </a:rPr>
              <a:t>Random Walk on Graph</a:t>
            </a:r>
          </a:p>
          <a:p>
            <a:r>
              <a:rPr lang="en-US" dirty="0"/>
              <a:t>A small graph is shown where a </a:t>
            </a:r>
            <a:r>
              <a:rPr lang="en-US" b="1" dirty="0"/>
              <a:t>random walk</a:t>
            </a:r>
            <a:r>
              <a:rPr lang="en-US" dirty="0"/>
              <a:t> (highlighted in red/orange) starts at node </a:t>
            </a:r>
            <a:r>
              <a:rPr lang="en-US" b="1" dirty="0"/>
              <a:t>1</a:t>
            </a:r>
            <a:r>
              <a:rPr lang="en-US" dirty="0"/>
              <a:t> and traverses nodes </a:t>
            </a:r>
            <a:r>
              <a:rPr lang="en-US" b="1" dirty="0"/>
              <a:t>2 → 5 → 8 → 4</a:t>
            </a:r>
            <a:r>
              <a:rPr lang="en-US" dirty="0"/>
              <a:t>.</a:t>
            </a:r>
          </a:p>
          <a:p>
            <a:r>
              <a:rPr lang="en-US" dirty="0" err="1"/>
              <a:t>DeepWalk</a:t>
            </a:r>
            <a:r>
              <a:rPr lang="en-US" dirty="0"/>
              <a:t> generates many such random walks across the network.</a:t>
            </a:r>
          </a:p>
          <a:p>
            <a:r>
              <a:rPr lang="en-US" dirty="0"/>
              <a:t>These walks create sequences of nodes, similar to </a:t>
            </a:r>
            <a:r>
              <a:rPr lang="en-US" b="1" dirty="0"/>
              <a:t>sentences in natural language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Right: Node Embeddings (word2vec-like)</a:t>
            </a:r>
          </a:p>
          <a:p>
            <a:r>
              <a:rPr lang="en-US" dirty="0"/>
              <a:t>The random walk sequences are fed into </a:t>
            </a:r>
            <a:r>
              <a:rPr lang="en-US" b="1" dirty="0"/>
              <a:t>word2vec</a:t>
            </a:r>
            <a:r>
              <a:rPr lang="en-US" dirty="0"/>
              <a:t>, treating nodes as “words.”</a:t>
            </a:r>
          </a:p>
          <a:p>
            <a:r>
              <a:rPr lang="en-US" dirty="0"/>
              <a:t>Each node is embedded into a </a:t>
            </a:r>
            <a:r>
              <a:rPr lang="en-US" b="1" dirty="0"/>
              <a:t>low-dimensional vector space</a:t>
            </a:r>
            <a:r>
              <a:rPr lang="en-US" dirty="0"/>
              <a:t>.</a:t>
            </a:r>
          </a:p>
          <a:p>
            <a:r>
              <a:rPr lang="en-US" dirty="0"/>
              <a:t>Similar nodes (that co-occur often in walks) end up </a:t>
            </a:r>
            <a:r>
              <a:rPr lang="en-US" b="1" dirty="0"/>
              <a:t>closer in embedding space</a:t>
            </a:r>
            <a:r>
              <a:rPr lang="en-US" dirty="0"/>
              <a:t>.</a:t>
            </a:r>
          </a:p>
          <a:p>
            <a:r>
              <a:rPr lang="en-US" dirty="0"/>
              <a:t>Example: Nodes </a:t>
            </a:r>
            <a:r>
              <a:rPr lang="en-US" b="1" dirty="0"/>
              <a:t>5 and 8</a:t>
            </a:r>
            <a:r>
              <a:rPr lang="en-US" dirty="0"/>
              <a:t> may have similar embeddings because they frequently co-occur in walks.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44BF7-EB41-62E4-5944-51364000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A4BB6-3BF0-1AE5-B9C1-34C8EDA8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47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5257-6345-F313-1EC9-BDCDB3038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59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b="1" dirty="0" err="1">
                <a:cs typeface="Times New Roman" panose="02020603050405020304" pitchFamily="18" charset="0"/>
              </a:rPr>
              <a:t>DeepWalk</a:t>
            </a:r>
            <a:r>
              <a:rPr lang="en-US" altLang="en-US" b="1" dirty="0">
                <a:cs typeface="Times New Roman" panose="02020603050405020304" pitchFamily="18" charset="0"/>
              </a:rPr>
              <a:t> = Graph + Random Walks + word2vec</a:t>
            </a:r>
            <a:br>
              <a:rPr lang="en-US" altLang="en-US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3FAD39-0E94-2607-31C7-4C45C456F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47133"/>
            <a:ext cx="95075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Perform random walks on 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Generate node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Apply word2vec (Skip-gram/CBOW) to learn embeddings.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Preserves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local and global 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of the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dirty="0" err="1">
                <a:cs typeface="Times New Roman" panose="02020603050405020304" pitchFamily="18" charset="0"/>
              </a:rPr>
              <a:t>DeepWalk</a:t>
            </a:r>
            <a:r>
              <a:rPr lang="en-US" sz="1800" dirty="0">
                <a:cs typeface="Times New Roman" panose="02020603050405020304" pitchFamily="18" charset="0"/>
              </a:rPr>
              <a:t> is widely used for </a:t>
            </a:r>
            <a:r>
              <a:rPr lang="en-US" sz="1800" b="1" dirty="0">
                <a:cs typeface="Times New Roman" panose="02020603050405020304" pitchFamily="18" charset="0"/>
              </a:rPr>
              <a:t>community detection, link prediction, and social network analysis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A245D-9538-1F46-246F-643B1678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5012-7672-2D26-1050-D2EC69D9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447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951B-3EB6-5774-DB2F-8F73104E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Graphical representation of Node2Vec</a:t>
            </a:r>
          </a:p>
        </p:txBody>
      </p:sp>
      <p:pic>
        <p:nvPicPr>
          <p:cNvPr id="5" name="Content Placeholder 4" descr="A diagram of a hexagon with dots and lines&#10;&#10;AI-generated content may be incorrect.">
            <a:extLst>
              <a:ext uri="{FF2B5EF4-FFF2-40B4-BE49-F238E27FC236}">
                <a16:creationId xmlns:a16="http://schemas.microsoft.com/office/drawing/2014/main" id="{ACF2550A-0688-E11E-B423-0F0EDAD50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41" y="1825625"/>
            <a:ext cx="8773718" cy="435133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16FFF-FD12-B1B2-2FDA-3730E5EF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0330E-16AB-B2AD-2FE6-A7675D86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9344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84BC-EF67-7E6C-6BA3-B27430926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FEB2A-9549-72AA-B65D-7883D9D2B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Left: Biased Random Walk (BFS-like example)</a:t>
            </a:r>
          </a:p>
          <a:p>
            <a:r>
              <a:rPr lang="en-US" dirty="0"/>
              <a:t>Node2Vec extends </a:t>
            </a:r>
            <a:r>
              <a:rPr lang="en-US" dirty="0" err="1"/>
              <a:t>DeepWalk</a:t>
            </a:r>
            <a:r>
              <a:rPr lang="en-US" dirty="0"/>
              <a:t> by introducing </a:t>
            </a:r>
            <a:r>
              <a:rPr lang="en-US" b="1" dirty="0"/>
              <a:t>two parameters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 (return parameter):</a:t>
            </a:r>
            <a:r>
              <a:rPr lang="en-US" dirty="0"/>
              <a:t> Controls likelihood of revisiting a node.</a:t>
            </a:r>
          </a:p>
          <a:p>
            <a:pPr lvl="1"/>
            <a:r>
              <a:rPr lang="en-US" b="1" dirty="0"/>
              <a:t>q (in-out parameter):</a:t>
            </a:r>
            <a:r>
              <a:rPr lang="en-US" dirty="0"/>
              <a:t> Controls whether the walk is </a:t>
            </a:r>
            <a:r>
              <a:rPr lang="en-US" b="1" dirty="0"/>
              <a:t>BFS-like (local neighborhood)</a:t>
            </a:r>
            <a:r>
              <a:rPr lang="en-US" dirty="0"/>
              <a:t> or </a:t>
            </a:r>
            <a:r>
              <a:rPr lang="en-US" b="1" dirty="0"/>
              <a:t>DFS-like (exploring far nodes)</a:t>
            </a:r>
            <a:r>
              <a:rPr lang="en-US" dirty="0"/>
              <a:t>.</a:t>
            </a:r>
          </a:p>
          <a:p>
            <a:r>
              <a:rPr lang="en-US" dirty="0"/>
              <a:t>In this example, the walk is </a:t>
            </a:r>
            <a:r>
              <a:rPr lang="en-US" b="1" dirty="0"/>
              <a:t>BFS-biased</a:t>
            </a:r>
            <a:r>
              <a:rPr lang="en-US" dirty="0"/>
              <a:t>, meaning it explores closer neighbors first.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Right: Node2Vec Embeddings</a:t>
            </a:r>
          </a:p>
          <a:p>
            <a:r>
              <a:rPr lang="en-US" dirty="0"/>
              <a:t>Just like </a:t>
            </a:r>
            <a:r>
              <a:rPr lang="en-US" dirty="0" err="1"/>
              <a:t>DeepWalk</a:t>
            </a:r>
            <a:r>
              <a:rPr lang="en-US" dirty="0"/>
              <a:t>, the biased walks are fed into </a:t>
            </a:r>
            <a:r>
              <a:rPr lang="en-US" b="1" dirty="0"/>
              <a:t>word2vec</a:t>
            </a:r>
            <a:r>
              <a:rPr lang="en-US" dirty="0"/>
              <a:t>.</a:t>
            </a:r>
          </a:p>
          <a:p>
            <a:r>
              <a:rPr lang="en-US" dirty="0"/>
              <a:t>But because of the </a:t>
            </a:r>
            <a:r>
              <a:rPr lang="en-US" b="1" dirty="0"/>
              <a:t>bias (p, q)</a:t>
            </a:r>
            <a:r>
              <a:rPr lang="en-US" dirty="0"/>
              <a:t>, the embeddings capture either:</a:t>
            </a:r>
          </a:p>
          <a:p>
            <a:pPr lvl="1"/>
            <a:r>
              <a:rPr lang="en-US" b="1" dirty="0"/>
              <a:t>Homophily (BFS):</a:t>
            </a:r>
            <a:r>
              <a:rPr lang="en-US" dirty="0"/>
              <a:t> Similar nodes close in the same cluster.</a:t>
            </a:r>
          </a:p>
          <a:p>
            <a:pPr lvl="1"/>
            <a:r>
              <a:rPr lang="en-US" b="1" dirty="0"/>
              <a:t>Structural Equivalence (DFS):</a:t>
            </a:r>
            <a:r>
              <a:rPr lang="en-US" dirty="0"/>
              <a:t> Nodes with similar roles (e.g., hubs, bridges).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20BFE-6DD7-1ED0-AEEE-579657D4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94825-55E4-870E-E3D4-78B3C4B6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5817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9CAA-B579-AEAD-AB8B-7A309A53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Difference from </a:t>
            </a:r>
            <a:r>
              <a:rPr lang="en-US" b="1" dirty="0" err="1"/>
              <a:t>DeepWalk</a:t>
            </a:r>
            <a:r>
              <a:rPr lang="en-US" b="1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4401-00FE-6510-9C8E-1745C111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DeepWalk</a:t>
            </a:r>
            <a:r>
              <a:rPr lang="en-US" b="1" dirty="0"/>
              <a:t>:</a:t>
            </a:r>
            <a:r>
              <a:rPr lang="en-US" dirty="0"/>
              <a:t> Purely random walks.</a:t>
            </a:r>
          </a:p>
          <a:p>
            <a:r>
              <a:rPr lang="en-US" b="1" dirty="0"/>
              <a:t>Node2Vec:</a:t>
            </a:r>
            <a:r>
              <a:rPr lang="en-US" dirty="0"/>
              <a:t> Biased random walks (tunable).</a:t>
            </a:r>
          </a:p>
          <a:p>
            <a:r>
              <a:rPr lang="en-US" dirty="0"/>
              <a:t>This flexibility makes Node2Vec more powerful for </a:t>
            </a:r>
            <a:r>
              <a:rPr lang="en-US" b="1" dirty="0"/>
              <a:t>different types of networks</a:t>
            </a:r>
            <a:r>
              <a:rPr lang="en-US" dirty="0"/>
              <a:t>.</a:t>
            </a:r>
          </a:p>
          <a:p>
            <a:r>
              <a:rPr lang="en-US" dirty="0"/>
              <a:t>Node2Vec is widely used in </a:t>
            </a:r>
            <a:r>
              <a:rPr lang="en-US" b="1" dirty="0"/>
              <a:t>link prediction, recommender systems, fraud detection, and social network analysis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B4A9A-4F62-6BED-5DD6-A7166751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EAAE-FE94-7CED-579E-B08CFB52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21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48DC-F158-E12A-B32A-26F3E59A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 Neural Networks (GNNs)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9530-1E9D-7EF0-8B38-4E67F3B13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Deep learning models designed for graph-structured data.</a:t>
            </a:r>
          </a:p>
          <a:p>
            <a:r>
              <a:rPr lang="en-IN" dirty="0"/>
              <a:t>Iteratively update node representations using </a:t>
            </a:r>
            <a:r>
              <a:rPr lang="en-IN" dirty="0" err="1"/>
              <a:t>neighbor</a:t>
            </a:r>
            <a:r>
              <a:rPr lang="en-IN" dirty="0"/>
              <a:t> information.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b="1" dirty="0"/>
              <a:t>GCN (Graph Convolutional Network)</a:t>
            </a:r>
            <a:endParaRPr lang="en-IN" dirty="0"/>
          </a:p>
          <a:p>
            <a:pPr lvl="1"/>
            <a:r>
              <a:rPr lang="en-IN" b="1" dirty="0"/>
              <a:t>GAT (Graph Attention Network)</a:t>
            </a:r>
            <a:endParaRPr lang="en-IN" dirty="0"/>
          </a:p>
          <a:p>
            <a:pPr lvl="1"/>
            <a:r>
              <a:rPr lang="en-IN" b="1" dirty="0" err="1"/>
              <a:t>GraphSAGE</a:t>
            </a: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25BC7-603B-9398-707E-85F66412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D4FF6-5715-4A14-630E-DAA6E202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12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5CD0-0BB1-47E0-5D7E-E3D81C58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Convolutional Network (GCN)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B8A5A91A-C732-F6DD-5DAC-C860C86FC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61" y="1825625"/>
            <a:ext cx="8747077" cy="435133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9A65E-1588-FB60-0E6D-8E6187E5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797AC-E423-18C0-72B2-27F55FCD2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8971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3C8A-0A29-BA73-DF78-36CDB5A6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EDB9D-FDB3-8CFD-BFDE-140A24E144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Left: Graph Input</a:t>
            </a:r>
          </a:p>
          <a:p>
            <a:r>
              <a:rPr lang="en-US" dirty="0"/>
              <a:t>A simple </a:t>
            </a:r>
            <a:r>
              <a:rPr lang="en-US" b="1" dirty="0"/>
              <a:t>graph structure</a:t>
            </a:r>
            <a:r>
              <a:rPr lang="en-US" dirty="0"/>
              <a:t> with </a:t>
            </a:r>
            <a:r>
              <a:rPr lang="en-US" b="1" dirty="0"/>
              <a:t>nodes</a:t>
            </a:r>
            <a:r>
              <a:rPr lang="en-US" dirty="0"/>
              <a:t> (1–6) and </a:t>
            </a:r>
            <a:r>
              <a:rPr lang="en-US" b="1" dirty="0"/>
              <a:t>edges</a:t>
            </a:r>
            <a:r>
              <a:rPr lang="en-US" dirty="0"/>
              <a:t>.</a:t>
            </a:r>
          </a:p>
          <a:p>
            <a:r>
              <a:rPr lang="en-US" dirty="0"/>
              <a:t>Each node has </a:t>
            </a:r>
            <a:r>
              <a:rPr lang="en-US" b="1" dirty="0"/>
              <a:t>features</a:t>
            </a:r>
            <a:r>
              <a:rPr lang="en-US" dirty="0"/>
              <a:t> (e.g., profile info, attributes).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D24A9-A2AB-C91A-76F2-DA04178648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Right: GCN Layers (Feature Aggregation)</a:t>
            </a:r>
          </a:p>
          <a:p>
            <a:r>
              <a:rPr lang="en-US" b="1" dirty="0"/>
              <a:t>Node Features (X):</a:t>
            </a:r>
            <a:r>
              <a:rPr lang="en-US" dirty="0"/>
              <a:t> Input layer where each node has its initial attributes.</a:t>
            </a:r>
          </a:p>
          <a:p>
            <a:r>
              <a:rPr lang="en-US" b="1" dirty="0"/>
              <a:t>GCN Layer 1:</a:t>
            </a:r>
            <a:r>
              <a:rPr lang="en-US" dirty="0"/>
              <a:t> Aggregates features from neighbors.</a:t>
            </a:r>
          </a:p>
          <a:p>
            <a:r>
              <a:rPr lang="en-US" b="1" dirty="0"/>
              <a:t>GCN Layer 2:</a:t>
            </a:r>
            <a:r>
              <a:rPr lang="en-US" dirty="0"/>
              <a:t> Aggregates again, capturing more global context.</a:t>
            </a:r>
          </a:p>
          <a:p>
            <a:r>
              <a:rPr lang="en-US" b="1" dirty="0"/>
              <a:t>Output Embeddings (Z):</a:t>
            </a:r>
            <a:r>
              <a:rPr lang="en-US" dirty="0"/>
              <a:t> Final low-dimensional representation of each node.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4D9C-9A21-B433-F9DB-08D7D7E6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35868-036B-5AE8-3EB6-34FC4A0A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48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CCB7-B046-0D2C-99B0-F041E006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GCN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BF8B-4439-1525-4C2C-883C042F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Each node updates its representation by combining its own features with those of its </a:t>
            </a:r>
            <a:r>
              <a:rPr lang="en-US" b="1" dirty="0"/>
              <a:t>neighbors</a:t>
            </a:r>
            <a:r>
              <a:rPr lang="en-US" dirty="0"/>
              <a:t>.</a:t>
            </a:r>
          </a:p>
          <a:p>
            <a:r>
              <a:rPr lang="en-US" dirty="0"/>
              <a:t>This is like a </a:t>
            </a:r>
            <a:r>
              <a:rPr lang="en-US" b="1" dirty="0"/>
              <a:t>convolution</a:t>
            </a:r>
            <a:r>
              <a:rPr lang="en-US" dirty="0"/>
              <a:t>, but on graphs instead of grids (images).</a:t>
            </a:r>
          </a:p>
          <a:p>
            <a:r>
              <a:rPr lang="en-US" dirty="0"/>
              <a:t>After multiple layers, nodes learn embeddings that capture both </a:t>
            </a:r>
            <a:r>
              <a:rPr lang="en-US" b="1" dirty="0"/>
              <a:t>local neighborhood information</a:t>
            </a:r>
            <a:r>
              <a:rPr lang="en-US" dirty="0"/>
              <a:t> and </a:t>
            </a:r>
            <a:r>
              <a:rPr lang="en-US" b="1" dirty="0"/>
              <a:t>global graph structure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/>
              <a:t>Applications of GCN</a:t>
            </a:r>
          </a:p>
          <a:p>
            <a:r>
              <a:rPr lang="en-IN" b="1" dirty="0"/>
              <a:t>Node Classification:</a:t>
            </a:r>
            <a:r>
              <a:rPr lang="en-IN" dirty="0"/>
              <a:t> Predict labels (e.g., fake vs real accounts in social networks).</a:t>
            </a:r>
          </a:p>
          <a:p>
            <a:r>
              <a:rPr lang="en-IN" b="1" dirty="0"/>
              <a:t>Link Prediction:</a:t>
            </a:r>
            <a:r>
              <a:rPr lang="en-IN" dirty="0"/>
              <a:t> Predict missing edges (e.g., recommend friends on Facebook).</a:t>
            </a:r>
          </a:p>
          <a:p>
            <a:r>
              <a:rPr lang="en-IN" b="1" dirty="0"/>
              <a:t>Graph Classification:</a:t>
            </a:r>
            <a:r>
              <a:rPr lang="en-IN" dirty="0"/>
              <a:t> Identify molecular structures in bioinformatics.</a:t>
            </a:r>
          </a:p>
          <a:p>
            <a:r>
              <a:rPr lang="en-IN" b="1" dirty="0"/>
              <a:t>Recommender Systems:</a:t>
            </a:r>
            <a:r>
              <a:rPr lang="en-IN" dirty="0"/>
              <a:t> Suggest items based on user-item graphs.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In short: </a:t>
            </a:r>
            <a:r>
              <a:rPr lang="en-US" b="1" dirty="0">
                <a:highlight>
                  <a:srgbClr val="FFFF00"/>
                </a:highlight>
              </a:rPr>
              <a:t>GCNs = feature aggregation from neighbors → powerful node embeddings → downstream AI tasks.</a:t>
            </a:r>
            <a:endParaRPr lang="en-IN" dirty="0">
              <a:highlight>
                <a:srgbClr val="FFFF00"/>
              </a:highlight>
            </a:endParaRP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9DD6-49E6-FE0F-3DDA-857F2C4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2C876-4150-B0F4-DF9F-FC0EE893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238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4213-A8D9-903F-4830-568A4857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Attention Network (GAT)</a:t>
            </a:r>
          </a:p>
        </p:txBody>
      </p:sp>
      <p:pic>
        <p:nvPicPr>
          <p:cNvPr id="5" name="Content Placeholder 4" descr="A diagram of a hexagon and a hexagon with lines and dots&#10;&#10;AI-generated content may be incorrect.">
            <a:extLst>
              <a:ext uri="{FF2B5EF4-FFF2-40B4-BE49-F238E27FC236}">
                <a16:creationId xmlns:a16="http://schemas.microsoft.com/office/drawing/2014/main" id="{A2359BF4-026C-478B-F648-EF6105BE9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81" y="1825625"/>
            <a:ext cx="8787038" cy="435133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5D6B2-07ED-0781-C9F1-F20DA955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CACBE-03DC-406F-D9AE-CD1D1B8F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7171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0301-3C1A-17DC-53CC-3BD4AB20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Attention Network (GAT)(Cont.,)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8CE65-5AF3-3A25-BBBE-BB1FD9F20F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Left: Graph Input</a:t>
            </a:r>
          </a:p>
          <a:p>
            <a:r>
              <a:rPr lang="en-US" dirty="0"/>
              <a:t>A simple </a:t>
            </a:r>
            <a:r>
              <a:rPr lang="en-US" b="1" dirty="0"/>
              <a:t>graph</a:t>
            </a:r>
            <a:r>
              <a:rPr lang="en-US" dirty="0"/>
              <a:t> with nodes and edges.</a:t>
            </a:r>
          </a:p>
          <a:p>
            <a:r>
              <a:rPr lang="en-US" dirty="0"/>
              <a:t>Similar to GCN, each node has features.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BC9F0-7922-9AAF-33B8-D00B41B7D2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Right: Attention Mechanism</a:t>
            </a:r>
          </a:p>
          <a:p>
            <a:r>
              <a:rPr lang="en-US" dirty="0"/>
              <a:t>Unlike GCN (which equally aggregates neighbors), </a:t>
            </a:r>
            <a:r>
              <a:rPr lang="en-US" b="1" dirty="0"/>
              <a:t>GAT assigns weights (attention scores)</a:t>
            </a:r>
            <a:r>
              <a:rPr lang="en-US" dirty="0"/>
              <a:t> to neighbors.</a:t>
            </a:r>
          </a:p>
          <a:p>
            <a:r>
              <a:rPr lang="en-US" dirty="0"/>
              <a:t>Example: For </a:t>
            </a:r>
            <a:r>
              <a:rPr lang="en-US" b="1" dirty="0"/>
              <a:t>Node 1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Attention to Node 2 → </a:t>
            </a:r>
            <a:r>
              <a:rPr lang="en-US" b="1" dirty="0"/>
              <a:t>α(1,2) = 0.7</a:t>
            </a:r>
            <a:r>
              <a:rPr lang="en-US" dirty="0"/>
              <a:t> (stronger influence)</a:t>
            </a:r>
          </a:p>
          <a:p>
            <a:pPr lvl="1"/>
            <a:r>
              <a:rPr lang="en-US" dirty="0"/>
              <a:t>Attention to Node 3 → </a:t>
            </a:r>
            <a:r>
              <a:rPr lang="en-US" b="1" dirty="0"/>
              <a:t>α(1,3) = 0.3</a:t>
            </a:r>
            <a:r>
              <a:rPr lang="en-US" dirty="0"/>
              <a:t> (weaker influence)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EAF8F-F477-3ABD-20F0-3EF25807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4115A-9A48-00F5-8390-6EBA6C69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619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9154-4420-D3FE-964B-4D5B37F7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GAT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4E285-D2D5-30BB-3A5C-6BB4C301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computes </a:t>
            </a:r>
            <a:r>
              <a:rPr lang="en-US" b="1" dirty="0"/>
              <a:t>attention coefficients</a:t>
            </a:r>
            <a:r>
              <a:rPr lang="en-US" dirty="0"/>
              <a:t> with its neighbors.</a:t>
            </a:r>
          </a:p>
          <a:p>
            <a:r>
              <a:rPr lang="en-US" dirty="0"/>
              <a:t>Coefficients are normalized (using </a:t>
            </a:r>
            <a:r>
              <a:rPr lang="en-US" dirty="0" err="1"/>
              <a:t>softmax</a:t>
            </a:r>
            <a:r>
              <a:rPr lang="en-US" dirty="0"/>
              <a:t>).</a:t>
            </a:r>
          </a:p>
          <a:p>
            <a:r>
              <a:rPr lang="en-US" dirty="0"/>
              <a:t>Node updates its representation as a </a:t>
            </a:r>
            <a:r>
              <a:rPr lang="en-US" b="1" dirty="0"/>
              <a:t>weighted sum of neighbors’ features</a:t>
            </a:r>
            <a:r>
              <a:rPr lang="en-US" dirty="0"/>
              <a:t>.</a:t>
            </a:r>
          </a:p>
          <a:p>
            <a:r>
              <a:rPr lang="en-US" dirty="0"/>
              <a:t>This allows the network to focus on the </a:t>
            </a:r>
            <a:r>
              <a:rPr lang="en-US" b="1" dirty="0"/>
              <a:t>most relevant neighbors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24665-CFC1-4DD4-123D-3750F1F6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E4D3A-7DDC-FBA9-F890-A4910FCD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14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F46D-98C6-BFCF-45E6-D9B41040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GAT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85BA6-BF37-36E3-7F37-F47BDB217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Learns </a:t>
            </a:r>
            <a:r>
              <a:rPr lang="en-US" b="1" dirty="0"/>
              <a:t>importance of connections</a:t>
            </a:r>
            <a:r>
              <a:rPr lang="en-US" dirty="0"/>
              <a:t> instead of treating all neighbors equally.</a:t>
            </a:r>
          </a:p>
          <a:p>
            <a:r>
              <a:rPr lang="en-US" dirty="0"/>
              <a:t>Handles </a:t>
            </a:r>
            <a:r>
              <a:rPr lang="en-US" b="1" dirty="0"/>
              <a:t>heterogeneous graphs</a:t>
            </a:r>
            <a:r>
              <a:rPr lang="en-US" dirty="0"/>
              <a:t> better.</a:t>
            </a:r>
          </a:p>
          <a:p>
            <a:r>
              <a:rPr lang="en-US" dirty="0"/>
              <a:t>Improves performance in tasks like </a:t>
            </a:r>
            <a:r>
              <a:rPr lang="en-US" b="1" dirty="0"/>
              <a:t>node classification, link prediction, recommender systems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3D2EA-8FC8-C83C-103E-EAADCB18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7E512-0AEE-CAE2-C533-148AC746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3623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949E-6AF5-E9DC-79F6-9BFF09A07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State-of-the-Art Representations(Cont.,)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E377B-EAA0-4E8A-B439-11AB365B9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Knowledge Graph Representations</a:t>
            </a:r>
          </a:p>
          <a:p>
            <a:r>
              <a:rPr lang="en-US" dirty="0"/>
              <a:t>Semantic networks with </a:t>
            </a:r>
            <a:r>
              <a:rPr lang="en-US" b="1" dirty="0"/>
              <a:t>entities and relationships</a:t>
            </a:r>
            <a:r>
              <a:rPr lang="en-US" dirty="0"/>
              <a:t>.</a:t>
            </a:r>
          </a:p>
          <a:p>
            <a:r>
              <a:rPr lang="en-US" dirty="0"/>
              <a:t>Represented in </a:t>
            </a:r>
            <a:r>
              <a:rPr lang="en-US" b="1" dirty="0"/>
              <a:t>RDF, OWL, or embedding models</a:t>
            </a:r>
            <a:r>
              <a:rPr lang="en-US" dirty="0"/>
              <a:t> (e.g., TransE, </a:t>
            </a:r>
            <a:r>
              <a:rPr lang="en-US" dirty="0" err="1"/>
              <a:t>RotatE</a:t>
            </a:r>
            <a:r>
              <a:rPr lang="en-US" dirty="0"/>
              <a:t>).</a:t>
            </a:r>
          </a:p>
          <a:p>
            <a:r>
              <a:rPr lang="en-US" dirty="0"/>
              <a:t>Used in </a:t>
            </a:r>
            <a:r>
              <a:rPr lang="en-US" b="1" dirty="0"/>
              <a:t>search engines, question answering, recommender systems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/>
              <a:t>Dynamic Network Representation</a:t>
            </a:r>
          </a:p>
          <a:p>
            <a:r>
              <a:rPr lang="en-IN" dirty="0"/>
              <a:t>Captures </a:t>
            </a:r>
            <a:r>
              <a:rPr lang="en-IN" b="1" dirty="0"/>
              <a:t>temporal changes</a:t>
            </a:r>
            <a:r>
              <a:rPr lang="en-IN" dirty="0"/>
              <a:t> in networks.</a:t>
            </a:r>
          </a:p>
          <a:p>
            <a:r>
              <a:rPr lang="en-IN" dirty="0"/>
              <a:t>Example: Social media interactions over time, evolving collaboration networks.</a:t>
            </a:r>
          </a:p>
          <a:p>
            <a:r>
              <a:rPr lang="en-IN" dirty="0"/>
              <a:t>Models: </a:t>
            </a:r>
            <a:r>
              <a:rPr lang="en-IN" b="1" dirty="0"/>
              <a:t>Dynamic embeddings, Temporal GNNs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b="1" dirty="0"/>
              <a:t>Heterogeneous Network Representation</a:t>
            </a:r>
          </a:p>
          <a:p>
            <a:r>
              <a:rPr lang="en-US" dirty="0"/>
              <a:t>Networks with multiple types of nodes/edges (e.g., user–movie–rating).</a:t>
            </a:r>
          </a:p>
          <a:p>
            <a:r>
              <a:rPr lang="en-US" dirty="0"/>
              <a:t>Meta-path-based embeddings and heterogeneous GNNs.</a:t>
            </a:r>
          </a:p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A183CF-756D-DF3D-F1A6-A006A8F4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64788B-7052-73C7-9460-ADF9CB34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588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ECE0-F784-6F9F-9DF6-F7031FF2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58DE-7186-EFCB-7666-088BAA3FA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Social Network Analysis</a:t>
            </a:r>
            <a:r>
              <a:rPr lang="en-IN" dirty="0"/>
              <a:t> (influencer detection, community detection).</a:t>
            </a:r>
          </a:p>
          <a:p>
            <a:r>
              <a:rPr lang="en-IN" b="1" dirty="0"/>
              <a:t>Recommender Systems</a:t>
            </a:r>
            <a:r>
              <a:rPr lang="en-IN" dirty="0"/>
              <a:t> (Netflix, Amazon).</a:t>
            </a:r>
          </a:p>
          <a:p>
            <a:r>
              <a:rPr lang="en-IN" b="1" dirty="0"/>
              <a:t>Bioinformatics</a:t>
            </a:r>
            <a:r>
              <a:rPr lang="en-IN" dirty="0"/>
              <a:t> (protein–protein interaction networks).</a:t>
            </a:r>
          </a:p>
          <a:p>
            <a:r>
              <a:rPr lang="en-IN" b="1" dirty="0"/>
              <a:t>Cybersecurity</a:t>
            </a:r>
            <a:r>
              <a:rPr lang="en-IN" dirty="0"/>
              <a:t> (anomaly detection, fraud detection).</a:t>
            </a:r>
          </a:p>
          <a:p>
            <a:r>
              <a:rPr lang="en-IN" b="1" dirty="0"/>
              <a:t>Knowledge Graphs</a:t>
            </a:r>
            <a:r>
              <a:rPr lang="en-IN" dirty="0"/>
              <a:t> (Google Knowledge Graph, </a:t>
            </a:r>
            <a:r>
              <a:rPr lang="en-IN" dirty="0" err="1"/>
              <a:t>Wikidata</a:t>
            </a:r>
            <a:r>
              <a:rPr lang="en-IN" dirty="0"/>
              <a:t>).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6C6BF-F86D-76C2-5007-720E5436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31C3E-BEB0-A514-E5D1-2B82B472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7678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E615-801B-702F-C2D5-F16911CA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Representations &amp; Case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FDC2-68B8-DF8C-C643-5B1BE2985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Introduction</a:t>
            </a:r>
          </a:p>
          <a:p>
            <a:r>
              <a:rPr lang="en-IN" dirty="0"/>
              <a:t>Traditional graph representations (adjacency list/matrix) are limited.</a:t>
            </a:r>
          </a:p>
          <a:p>
            <a:r>
              <a:rPr lang="en-IN" b="1" dirty="0"/>
              <a:t>Advanced representations</a:t>
            </a:r>
            <a:r>
              <a:rPr lang="en-IN" dirty="0"/>
              <a:t> capture </a:t>
            </a:r>
            <a:r>
              <a:rPr lang="en-IN" b="1" dirty="0"/>
              <a:t>semantics, dynamics, and heterogeneous relationships</a:t>
            </a:r>
            <a:r>
              <a:rPr lang="en-IN" dirty="0"/>
              <a:t>.</a:t>
            </a:r>
          </a:p>
          <a:p>
            <a:r>
              <a:rPr lang="en-IN" dirty="0"/>
              <a:t>Widely applied in </a:t>
            </a:r>
            <a:r>
              <a:rPr lang="en-IN" b="1" dirty="0"/>
              <a:t>social networks, healthcare, bioinformatics, recommender systems, and cybersecurity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Advanced Network Representations</a:t>
            </a:r>
          </a:p>
          <a:p>
            <a:pPr marL="0" indent="0">
              <a:buNone/>
            </a:pPr>
            <a:r>
              <a:rPr lang="en-IN" b="1" dirty="0"/>
              <a:t>Graph Embeddings</a:t>
            </a:r>
          </a:p>
          <a:p>
            <a:r>
              <a:rPr lang="en-IN" dirty="0"/>
              <a:t>Converts nodes/edges/graphs into </a:t>
            </a:r>
            <a:r>
              <a:rPr lang="en-IN" b="1" dirty="0"/>
              <a:t>low-dimensional vectors</a:t>
            </a:r>
            <a:r>
              <a:rPr lang="en-IN" dirty="0"/>
              <a:t>.</a:t>
            </a:r>
          </a:p>
          <a:p>
            <a:r>
              <a:rPr lang="en-IN" dirty="0"/>
              <a:t>Preserves structural properties and similarities.</a:t>
            </a:r>
          </a:p>
          <a:p>
            <a:r>
              <a:rPr lang="en-IN" dirty="0"/>
              <a:t>Methods:</a:t>
            </a:r>
          </a:p>
          <a:p>
            <a:pPr lvl="1"/>
            <a:r>
              <a:rPr lang="en-IN" b="1" dirty="0" err="1"/>
              <a:t>DeepWalk</a:t>
            </a:r>
            <a:r>
              <a:rPr lang="en-IN" dirty="0"/>
              <a:t> – Random walks + word2vec.</a:t>
            </a:r>
          </a:p>
          <a:p>
            <a:pPr lvl="1"/>
            <a:r>
              <a:rPr lang="en-IN" b="1" dirty="0"/>
              <a:t>Node2Vec</a:t>
            </a:r>
            <a:r>
              <a:rPr lang="en-IN" dirty="0"/>
              <a:t> – Biased random walks (BFS/DFS balance).</a:t>
            </a:r>
          </a:p>
          <a:p>
            <a:pPr lvl="1"/>
            <a:r>
              <a:rPr lang="en-IN" b="1" dirty="0"/>
              <a:t>LINE</a:t>
            </a:r>
            <a:r>
              <a:rPr lang="en-IN" dirty="0"/>
              <a:t> – Large-scale information networks.</a:t>
            </a:r>
          </a:p>
          <a:p>
            <a:pPr lvl="1"/>
            <a:r>
              <a:rPr lang="en-IN" b="1" dirty="0"/>
              <a:t>Graph2Vec</a:t>
            </a:r>
            <a:r>
              <a:rPr lang="en-IN" dirty="0"/>
              <a:t> – Whole-graph embeddings.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3C54E-42A3-28F6-77C0-045BE955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B2327-5D45-8842-CFD2-2E3DB4CB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4902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CE78-F033-33D2-0046-92FA7E61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5D596-A380-55D0-923F-1D7183AEB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Graph Neural Networks (GNNs)</a:t>
            </a:r>
          </a:p>
          <a:p>
            <a:r>
              <a:rPr lang="en-IN" dirty="0"/>
              <a:t>Deep learning models that work directly on graph structures.</a:t>
            </a:r>
          </a:p>
          <a:p>
            <a:r>
              <a:rPr lang="en-IN" dirty="0"/>
              <a:t>Learn embeddings by </a:t>
            </a:r>
            <a:r>
              <a:rPr lang="en-IN" b="1" dirty="0"/>
              <a:t>aggregating information from </a:t>
            </a:r>
            <a:r>
              <a:rPr lang="en-IN" b="1" dirty="0" err="1"/>
              <a:t>neighbors</a:t>
            </a:r>
            <a:r>
              <a:rPr lang="en-IN" dirty="0"/>
              <a:t>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b="1" dirty="0"/>
              <a:t>GCN (Graph Convolutional Network)</a:t>
            </a:r>
            <a:r>
              <a:rPr lang="en-IN" dirty="0"/>
              <a:t> – Uniform </a:t>
            </a:r>
            <a:r>
              <a:rPr lang="en-IN" dirty="0" err="1"/>
              <a:t>neighbor</a:t>
            </a:r>
            <a:r>
              <a:rPr lang="en-IN" dirty="0"/>
              <a:t> aggregation.</a:t>
            </a:r>
          </a:p>
          <a:p>
            <a:pPr lvl="1"/>
            <a:r>
              <a:rPr lang="en-IN" b="1" dirty="0"/>
              <a:t>GAT (Graph Attention Network)</a:t>
            </a:r>
            <a:r>
              <a:rPr lang="en-IN" dirty="0"/>
              <a:t> – Attention-weighted aggregation.</a:t>
            </a:r>
          </a:p>
          <a:p>
            <a:pPr lvl="1"/>
            <a:r>
              <a:rPr lang="en-IN" b="1" dirty="0" err="1"/>
              <a:t>GraphSAGE</a:t>
            </a:r>
            <a:r>
              <a:rPr lang="en-IN" dirty="0"/>
              <a:t> – Inductive learning using sampling.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Dynamic Graph Representations</a:t>
            </a:r>
          </a:p>
          <a:p>
            <a:r>
              <a:rPr lang="en-US" dirty="0"/>
              <a:t>Real-world networks </a:t>
            </a:r>
            <a:r>
              <a:rPr lang="en-US" b="1" dirty="0"/>
              <a:t>evolve over time</a:t>
            </a:r>
            <a:r>
              <a:rPr lang="en-US" dirty="0"/>
              <a:t>.</a:t>
            </a:r>
          </a:p>
          <a:p>
            <a:r>
              <a:rPr lang="en-US" dirty="0"/>
              <a:t>Dynamic embeddings or </a:t>
            </a:r>
            <a:r>
              <a:rPr lang="en-US" b="1" dirty="0"/>
              <a:t>temporal GNNs</a:t>
            </a:r>
            <a:r>
              <a:rPr lang="en-US" dirty="0"/>
              <a:t> capture changes.</a:t>
            </a:r>
          </a:p>
          <a:p>
            <a:r>
              <a:rPr lang="en-US" dirty="0"/>
              <a:t>Example: Tracking evolving communities on Twitter during elections.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538B2-6CE1-EF1E-0521-70F245D1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AE133-7DA5-412A-D035-8332D001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243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C917-EBDE-ED29-80C9-A1DD20BC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Case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BE52D-9305-BDA5-9C3B-56EA79A1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🏥 Healthcare</a:t>
            </a:r>
          </a:p>
          <a:p>
            <a:r>
              <a:rPr lang="en-IN" dirty="0"/>
              <a:t>Ontologies (SNOMED CT, UMLS) + GNNs for patient-disease-symptom networks.</a:t>
            </a:r>
          </a:p>
          <a:p>
            <a:r>
              <a:rPr lang="en-IN" dirty="0"/>
              <a:t>Case: Predicting disease progression using patient similarity graphs.</a:t>
            </a:r>
          </a:p>
          <a:p>
            <a:pPr marL="0" indent="0">
              <a:buNone/>
            </a:pPr>
            <a:r>
              <a:rPr lang="en-IN" b="1" dirty="0"/>
              <a:t>🌐 Social Networks</a:t>
            </a:r>
          </a:p>
          <a:p>
            <a:r>
              <a:rPr lang="en-IN" dirty="0" err="1"/>
              <a:t>DeepWalk</a:t>
            </a:r>
            <a:r>
              <a:rPr lang="en-IN" dirty="0"/>
              <a:t>/Node2Vec for influencer detection.</a:t>
            </a:r>
          </a:p>
          <a:p>
            <a:r>
              <a:rPr lang="en-IN" dirty="0"/>
              <a:t>Case: Twitter influencer graphs, misinformation detection.</a:t>
            </a:r>
          </a:p>
          <a:p>
            <a:pPr marL="0" indent="0">
              <a:buNone/>
            </a:pPr>
            <a:r>
              <a:rPr lang="en-IN" b="1" dirty="0"/>
              <a:t>🎬 Recommender Systems</a:t>
            </a:r>
          </a:p>
          <a:p>
            <a:r>
              <a:rPr lang="en-IN" dirty="0" err="1"/>
              <a:t>GraphSAGE</a:t>
            </a:r>
            <a:r>
              <a:rPr lang="en-IN" dirty="0"/>
              <a:t> + heterogeneous networks for </a:t>
            </a:r>
            <a:r>
              <a:rPr lang="en-IN" b="1" dirty="0"/>
              <a:t>personalized recommendations</a:t>
            </a:r>
            <a:r>
              <a:rPr lang="en-IN" dirty="0"/>
              <a:t>.</a:t>
            </a:r>
          </a:p>
          <a:p>
            <a:r>
              <a:rPr lang="en-IN" dirty="0"/>
              <a:t>Case: Netflix recommending movies based on user–movie–genre embeddings.</a:t>
            </a:r>
          </a:p>
          <a:p>
            <a:pPr marL="0" indent="0">
              <a:buNone/>
            </a:pPr>
            <a:r>
              <a:rPr lang="en-IN" b="1" dirty="0"/>
              <a:t>🧬 Bioinformatics</a:t>
            </a:r>
          </a:p>
          <a:p>
            <a:r>
              <a:rPr lang="en-IN" dirty="0"/>
              <a:t>GCN applied to protein–protein interaction networks.</a:t>
            </a:r>
          </a:p>
          <a:p>
            <a:r>
              <a:rPr lang="en-IN" dirty="0"/>
              <a:t>Case: Discovering drug–disease associations.</a:t>
            </a:r>
          </a:p>
          <a:p>
            <a:pPr marL="0" indent="0">
              <a:buNone/>
            </a:pPr>
            <a:r>
              <a:rPr lang="en-IN" b="1" dirty="0"/>
              <a:t>🔒 Cybersecurity</a:t>
            </a:r>
          </a:p>
          <a:p>
            <a:r>
              <a:rPr lang="en-IN" dirty="0"/>
              <a:t>Dynamic graph embeddings for anomaly detection.</a:t>
            </a:r>
          </a:p>
          <a:p>
            <a:r>
              <a:rPr lang="en-IN" dirty="0"/>
              <a:t>Case: Detecting fraudulent transactions in financial networks.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174EF-5FA2-30AD-0216-04836466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C2591-468C-FFB7-DBA5-A77F0F5F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423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A71A-A87C-2BE3-8856-0D739320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66F7-29C3-CC34-50CF-835D75D8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Scalability:</a:t>
            </a:r>
            <a:r>
              <a:rPr lang="en-IN" dirty="0"/>
              <a:t> Billion-node networks.</a:t>
            </a:r>
          </a:p>
          <a:p>
            <a:r>
              <a:rPr lang="en-IN" b="1" dirty="0"/>
              <a:t>Dynamic nature:</a:t>
            </a:r>
            <a:r>
              <a:rPr lang="en-IN" dirty="0"/>
              <a:t> Evolving graphs require real-time updates.</a:t>
            </a:r>
          </a:p>
          <a:p>
            <a:r>
              <a:rPr lang="en-IN" b="1" dirty="0"/>
              <a:t>Interpretability:</a:t>
            </a:r>
            <a:r>
              <a:rPr lang="en-IN" dirty="0"/>
              <a:t> Understanding black-box embeddings.</a:t>
            </a:r>
          </a:p>
          <a:p>
            <a:r>
              <a:rPr lang="en-IN" b="1" dirty="0"/>
              <a:t>Heterogeneity:</a:t>
            </a:r>
            <a:r>
              <a:rPr lang="en-IN" dirty="0"/>
              <a:t> Multiple data types complicate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F976B-D61B-22B3-A765-AD551219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 Dr.K.Rajeshkumar, Assistant Professor, Networking and Commmunications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60F9A-BA65-A77F-AD4F-DA15DF2C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87B71-82E0-4676-A522-1E56BCBD2F93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16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5209</Words>
  <Application>Microsoft Office PowerPoint</Application>
  <PresentationFormat>Widescreen</PresentationFormat>
  <Paragraphs>638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Aptos</vt:lpstr>
      <vt:lpstr>Arial</vt:lpstr>
      <vt:lpstr>Calibri</vt:lpstr>
      <vt:lpstr>Times New Roman</vt:lpstr>
      <vt:lpstr>Office Theme</vt:lpstr>
      <vt:lpstr>Unit 2</vt:lpstr>
      <vt:lpstr>Roles of Ontology in the Semantic Web</vt:lpstr>
      <vt:lpstr>Definition of Ontology</vt:lpstr>
      <vt:lpstr>Roles of Ontology in Semantic Web</vt:lpstr>
      <vt:lpstr>Roles of Ontology in Semantic Web(Cont.,)</vt:lpstr>
      <vt:lpstr>Ontology Languages in Semantic Web</vt:lpstr>
      <vt:lpstr>Applications of Ontologies in Semantic Web</vt:lpstr>
      <vt:lpstr>Challenges in Using Ontologies</vt:lpstr>
      <vt:lpstr>Ontology-Based Knowledge Representation</vt:lpstr>
      <vt:lpstr>What is Ontology in KR?</vt:lpstr>
      <vt:lpstr>Characteristics of Ontology-Based KR</vt:lpstr>
      <vt:lpstr>Role of Ontology in Knowledge Representation</vt:lpstr>
      <vt:lpstr>Ontology Representation Languages</vt:lpstr>
      <vt:lpstr>Examples of Ontology-Based KR</vt:lpstr>
      <vt:lpstr>Advantages</vt:lpstr>
      <vt:lpstr>Explanation:</vt:lpstr>
      <vt:lpstr>Explanation of Relationships: </vt:lpstr>
      <vt:lpstr>Ontology Languages: RDF and OWL</vt:lpstr>
      <vt:lpstr>Ontology Languages: RDF and OWL(Cont.,)</vt:lpstr>
      <vt:lpstr>Ontology Languages: RDF and OWL(Cont.,)</vt:lpstr>
      <vt:lpstr>Challenges</vt:lpstr>
      <vt:lpstr>OWL (Web Ontology Language)</vt:lpstr>
      <vt:lpstr>Example:</vt:lpstr>
      <vt:lpstr>Comparison: RDF vs OWL</vt:lpstr>
      <vt:lpstr>RDF Triple Graph (Subject–Predicate–Object)</vt:lpstr>
      <vt:lpstr>RDF Schema Hierarchy (Doctor subclass of Person)</vt:lpstr>
      <vt:lpstr>OWL Reasoning Example (Doctor ≡ Human ∧ hasRole MedicalProfessional)</vt:lpstr>
      <vt:lpstr>Introduction to Resource Description Framework (RDF)</vt:lpstr>
      <vt:lpstr>PowerPoint Presentation</vt:lpstr>
      <vt:lpstr>PowerPoint Presentation</vt:lpstr>
      <vt:lpstr>PowerPoint Presentation</vt:lpstr>
      <vt:lpstr>Web Ontology Language (OWL): Features &amp; Examples</vt:lpstr>
      <vt:lpstr>Why OWL?</vt:lpstr>
      <vt:lpstr>Features of OWL</vt:lpstr>
      <vt:lpstr>Examples of OWL Statements</vt:lpstr>
      <vt:lpstr>Applications of OWL</vt:lpstr>
      <vt:lpstr>Explanation: Adult is defined as a subclass of Person with an additional restriction: The property hasAge must have a value greater than or equal to 18. In OWL: Class: Adult EquivalentTo: Person and (hasAge ≥ 18) </vt:lpstr>
      <vt:lpstr>Modeling and Aggregating Social Network Data</vt:lpstr>
      <vt:lpstr>Modeling Social Network Data</vt:lpstr>
      <vt:lpstr>Aggregating Social Network Data</vt:lpstr>
      <vt:lpstr>Key Techniques</vt:lpstr>
      <vt:lpstr>Applications</vt:lpstr>
      <vt:lpstr>Challenges</vt:lpstr>
      <vt:lpstr>Graphical representation of Community Detection (Clusters) </vt:lpstr>
      <vt:lpstr>How Community Detection Works:</vt:lpstr>
      <vt:lpstr>Graphical representation of an Aggregated Graph</vt:lpstr>
      <vt:lpstr>Why Aggregation?</vt:lpstr>
      <vt:lpstr>State-of-the-Art in Network Data Representation</vt:lpstr>
      <vt:lpstr>State-of-the-Art in Network Data Representation(Cont.,)</vt:lpstr>
      <vt:lpstr>State-of-the-Art Representations </vt:lpstr>
      <vt:lpstr>Graphical representation of DeepWalk (Random Walks + word2vec) </vt:lpstr>
      <vt:lpstr>Explanations</vt:lpstr>
      <vt:lpstr>DeepWalk = Graph + Random Walks + word2vec </vt:lpstr>
      <vt:lpstr>Graphical representation of Node2Vec</vt:lpstr>
      <vt:lpstr>Explanation</vt:lpstr>
      <vt:lpstr>Key Difference from DeepWalk:</vt:lpstr>
      <vt:lpstr>Graph Neural Networks (GNNs)</vt:lpstr>
      <vt:lpstr>Graph Convolutional Network (GCN)</vt:lpstr>
      <vt:lpstr>Explanation</vt:lpstr>
      <vt:lpstr>How GCN Works</vt:lpstr>
      <vt:lpstr>Graph Attention Network (GAT)</vt:lpstr>
      <vt:lpstr>Graph Attention Network (GAT)(Cont.,)</vt:lpstr>
      <vt:lpstr>How GAT Works</vt:lpstr>
      <vt:lpstr>Benefits of GAT</vt:lpstr>
      <vt:lpstr>State-of-the-Art Representations(Cont.,)</vt:lpstr>
      <vt:lpstr>Applications</vt:lpstr>
      <vt:lpstr>Advanced Representations &amp; Case Examples</vt:lpstr>
      <vt:lpstr>Cont.,</vt:lpstr>
      <vt:lpstr>Case Examples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</dc:creator>
  <cp:lastModifiedBy>Rajesh K</cp:lastModifiedBy>
  <cp:revision>52</cp:revision>
  <dcterms:created xsi:type="dcterms:W3CDTF">2025-09-04T16:32:25Z</dcterms:created>
  <dcterms:modified xsi:type="dcterms:W3CDTF">2025-09-04T18:52:46Z</dcterms:modified>
</cp:coreProperties>
</file>